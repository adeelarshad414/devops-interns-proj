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2.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Orders per minute</c:v>
                </c:pt>
              </c:strCache>
            </c:strRef>
          </c:tx>
          <c:spPr>
            <a:solidFill>
              <a:srgbClr val="EE4001"/>
            </a:solidFill>
            <a:ln w="38100" cap="flat">
              <a:solidFill>
                <a:srgbClr val="EE400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E4001"/>
              </a:solidFill>
              <a:ln w="9525" cap="flat">
                <a:solidFill>
                  <a:srgbClr val="EE4001"/>
                </a:solidFill>
                <a:prstDash val="solid"/>
                <a:round/>
              </a:ln>
              <a:effectLst/>
            </c:spPr>
          </c:marker>
          <c:cat>
            <c:multiLvlStrRef>
              <c:f>Sheet1!$A$2:$A$13</c:f>
              <c:multiLvlStrCache>
                <c:ptCount val="12"/>
                <c:lvl>
                  <c:pt idx="0">
                    <c:v>12:00</c:v>
                  </c:pt>
                  <c:pt idx="1">
                    <c:v>13:00</c:v>
                  </c:pt>
                  <c:pt idx="2">
                    <c:v>14:00</c:v>
                  </c:pt>
                  <c:pt idx="3">
                    <c:v>15:00</c:v>
                  </c:pt>
                  <c:pt idx="4">
                    <c:v>16:00</c:v>
                  </c:pt>
                  <c:pt idx="5">
                    <c:v>17:00</c:v>
                  </c:pt>
                  <c:pt idx="6">
                    <c:v>18:00</c:v>
                  </c:pt>
                  <c:pt idx="7">
                    <c:v>18:30</c:v>
                  </c:pt>
                  <c:pt idx="8">
                    <c:v>18:45</c:v>
                  </c:pt>
                  <c:pt idx="9">
                    <c:v>19:15</c:v>
                  </c:pt>
                  <c:pt idx="10">
                    <c:v>20:00</c:v>
                  </c:pt>
                  <c:pt idx="11">
                    <c:v>21:00</c:v>
                  </c:pt>
                </c:lvl>
              </c:multiLvlStrCache>
            </c:multiLvlStrRef>
          </c:cat>
          <c:val>
            <c:numRef>
              <c:f>Sheet1!$B$2:$B$13</c:f>
              <c:numCache>
                <c:formatCode>General</c:formatCode>
                <c:ptCount val="12"/>
                <c:pt idx="0">
                  <c:v>40</c:v>
                </c:pt>
                <c:pt idx="1">
                  <c:v>55</c:v>
                </c:pt>
                <c:pt idx="2">
                  <c:v>45</c:v>
                </c:pt>
                <c:pt idx="3">
                  <c:v>50</c:v>
                </c:pt>
                <c:pt idx="4">
                  <c:v>60</c:v>
                </c:pt>
                <c:pt idx="5">
                  <c:v>95</c:v>
                </c:pt>
                <c:pt idx="6">
                  <c:v>260</c:v>
                </c:pt>
                <c:pt idx="7">
                  <c:v>940</c:v>
                </c:pt>
                <c:pt idx="8">
                  <c:v>2150</c:v>
                </c:pt>
                <c:pt idx="9">
                  <c:v>780</c:v>
                </c:pt>
                <c:pt idx="10">
                  <c:v>220</c:v>
                </c:pt>
                <c:pt idx="11">
                  <c:v>110</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8A99BF"/>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22305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99BF"/>
                </a:solidFill>
                <a:latin typeface="Calibri"/>
              </a:defRPr>
            </a:pPr>
            <a:endParaRPr lang="en-US"/>
          </a:p>
        </c:txPr>
        <c:crossAx val="2094734554"/>
        <c:crosses val="autoZero"/>
        <c:crossBetween val="between"/>
        <c:majorUnit val="50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USD / month</c:v>
                </c:pt>
              </c:strCache>
            </c:strRef>
          </c:tx>
          <c:spPr>
            <a:solidFill>
              <a:srgbClr val="0755E9"/>
            </a:solidFill>
            <a:effectLst/>
          </c:spPr>
          <c:invertIfNegative val="0"/>
          <c:dLbls>
            <c:numFmt formatCode="#,##0" sourceLinked="0"/>
            <c:txPr>
              <a:bodyPr/>
              <a:lstStyle/>
              <a:p>
                <a:pPr>
                  <a:defRPr b="0" i="0" strike="noStrike" sz="1100" u="none">
                    <a:solidFill>
                      <a:srgbClr val="F4F6FB"/>
                    </a:solidFill>
                    <a:latin typeface="Calibri"/>
                  </a:defRPr>
                </a:pPr>
              </a:p>
            </c:txPr>
            <c:showLegendKey val="0"/>
            <c:showVal val="1"/>
            <c:showCatName val="0"/>
            <c:showSerName val="0"/>
            <c:showPercent val="0"/>
            <c:showBubbleSize val="0"/>
            <c:showLeaderLines val="0"/>
          </c:dLbls>
          <c:cat>
            <c:multiLvlStrRef>
              <c:f>Sheet1!$A$2:$A$6</c:f>
              <c:multiLvlStrCache>
                <c:ptCount val="5"/>
                <c:lvl>
                  <c:pt idx="0">
                    <c:v>Compute</c:v>
                  </c:pt>
                  <c:pt idx="1">
                    <c:v>Database</c:v>
                  </c:pt>
                  <c:pt idx="2">
                    <c:v>Storage</c:v>
                  </c:pt>
                  <c:pt idx="3">
                    <c:v>Network egress</c:v>
                  </c:pt>
                  <c:pt idx="4">
                    <c:v>Observability</c:v>
                  </c:pt>
                </c:lvl>
              </c:multiLvlStrCache>
            </c:multiLvlStrRef>
          </c:cat>
          <c:val>
            <c:numRef>
              <c:f>Sheet1!$B$2:$B$6</c:f>
              <c:numCache>
                <c:formatCode>General</c:formatCode>
                <c:ptCount val="5"/>
                <c:pt idx="0">
                  <c:v>1840</c:v>
                </c:pt>
                <c:pt idx="1">
                  <c:v>920</c:v>
                </c:pt>
                <c:pt idx="2">
                  <c:v>210</c:v>
                </c:pt>
                <c:pt idx="3">
                  <c:v>480</c:v>
                </c:pt>
                <c:pt idx="4">
                  <c:v>350</c:v>
                </c:pt>
              </c:numCache>
            </c:numRef>
          </c:val>
        </c:ser>
        <c:dLbls>
          <c:numFmt formatCode="#,##0" sourceLinked="0"/>
          <c:txPr>
            <a:bodyPr/>
            <a:lstStyle/>
            <a:p>
              <a:pPr>
                <a:defRPr b="0" i="0" strike="noStrike" sz="1100" u="none">
                  <a:solidFill>
                    <a:srgbClr val="F4F6FB"/>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8A99BF"/>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22305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8A99BF"/>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SPEAK FOR THE FIRST FIVE SECONDS. Let the date sit on screen.
No greeting, no title slide, no agenda. The room expects "hello everyone, welcome to DevOps" and they get a date on a black screen instead. That gap is the whole point - you are buying their attention before you spend any of it.
Then, quietly: "Some of you were finishing your degree when this happened."
Click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list slowly. Do not rush it. Each item should land.
"Airports - departure boards dead, check-in by hand, queues out of the terminal.
Hospitals - back to paper records.
Banks, broadcasters, emergency dispatch, payment terminals."
Then the number: roughly 8.5 million Windows machines, all of them dead on the same morning, most of them within about an hour of each other.
VERIFY BEFORE YOU PRESENT: 8.5 million is Microsoft's published estimate. Confirm it still stands, and only quote a financial figure if you can source it out loud when challenged. The story works with no number except the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IT AND THEN STOP TALKING. Count to ten in your head. Someone will break the silence.
The room will say: hack, cyberattack, ransomware, state actor. It always does. Let two or three answers out loud. Do not correct any of them yet.
Then: "Reasonable guesses. All wrong."
This is the most important twenty seconds of the session. You want them invested in an answer before you give them one - people remember conclusions they reached themselves far better than conclusions handed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payload of the cold open. Deliver the three "not" lines flatly, no drama.
"Not a hacker. Not a breach. Not really even a bug in the product."
Then: a security vendor pushed a configuration update to every customer on earth at the same time. No staged rollout. No canary group. No way to stop it once it started.
Now pause and ask: "What should they have done instead?"
Someone in the room will say "roll it out slowly" or "test it on a few machines first." When they do - and they will - say: "You just described the thing we are going to spend a week learning. Hold that thought."
That is a better definition of DevOps than any slide I could write, and it came from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 ADEEL TO COMPLETE BEFORE DELIVERY.
This slide needs ONE Pakistani outage the room personally lived through. CrowdStrike proves it happens; a local incident proves it happens HERE, to systems built by people like them.
Good candidates: a national portal collapsing on a filing deadline, a bank app failing on salary day, a telco or ISP outage, a results portal on announcement day, a ticketing system on match day.
Requirements: you must be able to state the date, roughly what broke, and roughly the scale WITHOUT being challenged successfully. If you cannot source it, cut this slide entirely - the cold open still works with CrowdStrike alone. Do not present an approximation as fact in front of interns; you will be teaching them the opposite of what this rotation is about.
I have deliberately not invented an incident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title slide - about eight minutes in.
"That is why this rotation exists. Not because DevOps is a trendy word on job descriptions, but because software that ships badly breaks things that matter."
Housekeeping in thirty seconds: two hours, one break at the hour, laptops open at minute twenty-three, interrupt whenever you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maximum. The purpose is credibility, not autobiography.
Say the Kubestronaut line plainly and then explain what it costs: all five CNCF Kubernetes certifications, passed. There are only a few thousand worldwide. This matters to a sceptical room in a way that "20 years experience" does not, because it is specific, verifiable and hard.
Then hand the authority back: "None of that helps you unless you use it. Ask me anything this week, including things you think are too basic. Especially those."
Do not read the certification list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INTERACTION. Hands up, or the chat if you are hybrid. Thirty seconds, no more.
This survived from last year's deck because it was the single best thing in it - it gets the room's voice into the air in the first ten minutes, which makes every later question easier to ask.
Read the room honestly. If most hands go up for "still processing the last rotation," acknowledge it: "Fair. Fourth rotation, week whatever, brain full. We are going to do things today rather than listen, which helps."
Do not skip this to save time. A silent room at minute ten stays silent for two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spine. Everything for the next five days happens to this system.
"Daig. Food delivery. Customers order, restaurants accept, riders deliver. Three services, one database, one payment integration."
Keep it deliberately small. They must be able to hold the whole architecture in their head by Friday, because on Friday they will be debugging it live in front of the room.
Name check: a daig is the pot you cook in when you are feeding everybody at once. That is the whole engineering problem in one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is the most important image in the deck. Do not rush past it.
"Daig's traffic all day: flat. Boring. Then this."
Point at the spike. "Forty minutes before iftar, the entire country orders dinner. Not spread out. Not staggered. The same twenty minutes."
Then the line that makes it different from every other traffic-spike example: "You cannot ask a fasting customer to wait. There is no 'we are experiencing high demand, please try again.' The deadline is set by the sun."
Ask: "Has anyone here had a food order fail at iftar?" Every hand goes up. That is your Netflix example, except it happened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INTERACTION - and keep the output. Write their answers on a whiteboard or flipchart and leave it up for the whole session.
"You have seen the system and you have seen the traffic. What breaks?"
Let them run for two or three minutes. Typical answers: database can't handle it, server crashes, payment gateway times out, riders can't be found, app is slow, orders get lost, double charges.
Every one of those maps to something this week. Point at their answers as you go through the days later - "that one is Wednesday, that one is Thursday afternoon." It makes the week feel like it was designed around them, because it was.
Do not correct anything. There are no wrong answers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LAPTOPS OPEN. This is minute 23 and it is the most important block in the session.
Put the command on screen, say "run it," and then be quiet.
What will happen, in order:
1. Everyone runs it. The container dies instantly.
2. Almost everyone runs it again. It dies again.
3. Somebody runs 'docker logs daig-orders' - or you nudge with "what did it tell you?"
4. The room converges on the missing DATABASE_URL.
5. They add -e DATABASE_URL=... and it starts.
DO NOT give the answer. Not for five minutes. The discomfort is doing the teaching. If nobody has read the logs by minute four, ask "has anyone actually read what it said before it died?" - that is enough.
Pair anyone whose Docker isn't working with someone whose is. That is also the lesson.
FALLBACK if laptops fail: you drive, but you type only what the room tells you to type. Never demo this passively.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PAYLOAD OF THE ENTIRE SESSION. Slow down and deliver these four steps deliberately.
"Forget Docker for a second. Look at what you actually just did."
Walk the four boxes. Then:
"You observed instead of guessing. You formed a hypothesis. You changed configuration, not code. You verified the fix.
That loop - at scale, with automation around it, with other people's money and other people's dinner on the line - is the job. Every single thing this week is that loop, larger."
Then the honest bit: "Notice that nobody wrote any code. A lot of this work is not writing software. It is knowing why software that already works has stopped working."
That reframe is worth more to them than any tool on the syllabus.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you are allowed to define it - about 33 minutes in, and only because they have done it already.
Deliberately do NOT give them the textbook definition first. Give them the two-line version and move on. Definitions are cheap; they have already had the expensive version.
The left/right contrast is the real content. Read the left column and ask "does any of this sound familiar from your other rotations?" Most will recognise the QA-to-release handoff.
Do not spend more than seven minutes on this slide and the next two combined.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This is the framework that has survived fifteen years, which is why it is worth the ninety seconds.
Move fast. Say the fourth one - Sharing - is the one everybody skips and the one that actually decides whether the other three stick.
Note for delivery: last year this material sat at slide 56 of 65, after the room was gone. It belongs here, early, while they are still with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mental scaffold for the whole week. Say explicitly: "If you remember one slide from today, make it this one."
Walk left to right. Then land the point about Act III:
"Most intro courses cover Act I, mention Act II, and stop. Act III is where the job actually lives, and it is the part none of you have ever seen. You have all written code. Not one of you has been woken up by code."
That last sentence usually gets a laugh and also lands.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Do not teach the tools - just establish what the act is FOR and what it costs to skip.
The CrowdStrike callback in the last row is the important one. Point at it: "Their tests passed. What they skipped was the last row - packaging and staging the rollout. That gap grounded aircraft."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The key idea to land: deployment is not a moment, it is a dial you can turn slowly.
"Releasing to 100% of users at once is a choice. It is almost never the right one. You can release to 1%, watch, then 5%, watch, then everybody. That single idea would have prevented the outage we opened with."
Secrets: mention it briefly and connect back to their crash loop. "Your container died because of a missing config value. Now imagine that value is a production database password, and imagine it is sitting in a Git repo. That is Wednesday."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This is the act they have never seen and the one the deck exists to introduce.
"Every one of you has written code. Not one of you has been woken up at 3am by code you wrote. That difference is most of what separates a graduate from an engineer."
Walk the six. Linger on postmortem: "Blameless does not mean nobody is accountable. It means we go after the system that allowed the mistake, not the person who made it. Because the person who made it is the person who understands it best, and if you punish them they will hide the next one."
That paragraph is the single most important cultural transmission in the session. Deliver it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ARITHMETIC LIVE ON THE BOARD. Do not let the slide do it for you - the value is in them watching the number appear.
"99.9% uptime. Sounds excellent. How much downtime is that per month?"
Let them guess. They guess low - minutes feel small when written as a percentage. Then: 43 minutes. Write it up.
"Tonight's incident cost 14 minutes. So one bad Thursday spent a third of the month's allowance."
Then the reframe that changes how they think forever:
"Reliability is not a virtue. It is a budget. You are allowed to spend it. What you are not allowed to do is spend it without noticing - and if you spend it all, you stop shipping features until the window resets."
This is the core of SRE and it was completely absent from last year's deck. Give it the full three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MINUTES. Actually take them, and actually come back on time - you are modelling the thing you will ask of them all week.
Say where the toilets and the coffee are. Say the time you restart. Then stop talking and let them decompress; do not use the break to answer questions from the keenest three people while everyone else waits.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properly. Drop your voice.
"18:42. Iftar is in eighteen minutes. Daig's order service starts returning 503s. The pager goes off."
Then: "Four different people pick up that pager. They look at the same screen and they ask four completely different questions. That difference is the answer to 'what is the difference between DevOps, SRE, and platform engineering' - which is the question every intro course fails to answer."
Do not advance until the room is with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THAT FIXES LAST YEAR'S WORST FAILURE. Take five full minutes.
Walk each row as a person, not a job title. Use "she" and "he", give them names if you like. Narrate what they type.
Then land it:
"Same incident. Four questions. DevOps fixes tonight. SRE decides what 'good enough' even means. Platform makes it structurally impossible to repeat. Cloud and FinOps ask what surviving cost us."
Then the line that matters most to this room: "You will do all four this week. In your career you will specialise into one of them. You do not have to pick today, and anyone who tells you a 22-year-old should already know is wrong."
Watch the room relax when you say that. Most of them are quietly panicking about choosing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These four words are the vocabulary that separates someone who has read a blog post from someone who has done the work. Every one of them was missing from last year's deck.
Say golden path clearly - it is the single most useful concept in platform engineering: "The easiest path and the correct path should be the same path. If doing it right is harder than doing it wrong, people will do it wrong, and that is your fault, not theirs."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Show a bill. Nobody shows interns a bill and it is the fastest way to make cloud feel real.
"Every architectural decision you make has a number attached. Most engineers never see the number. That is why cloud bills are what they are."
The tradeoff at the bottom is the actual lesson: you can buy your way out of the iftar spike by running peak capacity all day, and it costs roughly four times as much for capacity you use for twenty minutes.
If you can sanitise a real tkxel bill, use it instead of these figures - a real one lands harder. Mark these as illustrative if you keep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and DO NOT tool-list. Thursday is the day for tools.
The framing that matters: these are not four products, they are four questions about the same request. Say it exactly like that.
Then: "One standard now covers all four - OpenTelemetry. Learn it once and it works across every vendor. This did not exist when the people interviewing you were graduating, so knowing it is genuinely an 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and this is the slide that decides whether this room thinks you are current.
They have used AI assistants since first year. Pretending otherwise marks you as out of touch. Banning it marks you as unserious. Setting a professional standard marks you as someone worth listening to.
Deliver the rule in the orange box exactly as written, then explain it:
"I am not policing your tools. I am telling you the standard we hold each other to. If production breaks at 3am and the answer to 'why is it written this way' is 'the AI suggested it', you have no answer. You are accountable for what you ship regardless of what helped you write it."
Then the honest bit that buys you credibility: "The second point is genuinely unsolved. Nobody has a good answer for who approves an autonomous agent's production change. You may end up being the people who figure it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SIXTY SECONDS FOR ALL FIVE. Hands up for each one, then reveal all five are false.
Last year this was ten separate slides in the dead zone of the session. It is now one slide and a poll, and the content survives intact.
Ten seconds of correction each, no more:
1. CI/CD is a practice. DevOps is how the team is organised around it.
2. In mature orgs developers JOIN the on-call rota. That is the opposite of removing ops.
3. Wrong tools fix nothing if the process is wrong. Choose tools to fit your process, never the reverse.
4. Automation relocates bottlenecks. It does not delete them.
5. Netflix's constraints are not yours. Copying their answers without their problems is cargo cult engineering.
Then move on. Do not let this expand.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minutes for this block. Slow down - this is the part they will actually act on tomorrow morning.
Land the through-line at the bottom hard:
"Day 1 you fix one container by hand. Day 6, forty containers fix themselves. Everything in between is the story of how automation replaced you doing it manually - and why that is a promotion, not a threat."
Then the honest expectation-setting: "Six days does not make you a DevOps engineer. It makes you someone who has touched every layer once and knows what to go deep on. That is a genuinely valuable position to be in and I am not going to pretend it is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The framing to give them: this is the least glamorous day and the highest-leverage one.
"Nobody puts 'good at Linux' on a CV any more. Everybody notices when you are not."
The Chaos Hour design matters - three teams get three DIFFERENT planted causes, so they cannot copy each other and they have to compare notes afterwards. That comparison is where the learning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Explain WHY the order is console-first, because it looks like wasted time and it is not:
"You will build it by hand first, and it will be tedious, and you will make a mistake. Then you will do it in Terraform and it will feel like relief. If I gave you Terraform first it would feel like homework."
That sequencing is deliberate and it is the difference between interns who adopt IaC and interns who tolerate it.
The Chaos Hour here teaches state drift, which is the single most common real-world Terraform problem and almost never taught.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Two things to say honestly:
1. Idempotency is discovered, not explained. Have them run the playbook twice and notice nothing changes. Then name it. That order matters.
2. Be straight about the tools: "Ansible is here because you will meet it in systems that already exist. You will also see Chef and Puppet on job descriptions - both are legacy in 2026. Config management as a CONCEPT outlives its tools, which is why we teach the concept."
The Chaos Hour is a deliberate callback to the kickoff. Point that out to them - "this is the thing you fixed on Monday, and today you will understand why it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The morning has the best callback in the week:
"Remember CrowdStrike? You are going to break the build on purpose and watch the pipeline refuse to deploy it. That refusal is the thing they did not have."
HEAVIEST DAY - watch the clock. De-scope lever if you are behind: give them a working pipeline and have them add ONE stage rather than authoring the whole thing. Better to do half properly than all of it badly.
The afternoon Chaos Hour is the best exercise of the week. Do not cut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and lead with the reframe - most of them think security is a separate team that says no.
"Security is a test. You already accept that a failing unit test blocks a merge. This is the same thing with a different assertion."
The exercise: six deliberate vulnerabilities in Daig, gated behind a flag. Five get caught by Semgrep or CodeQL. One does not - a broken authorisation check. Parameterised SQL, nothing unsafe, nothing any tool can point at. What is MISSING is a business rule.
The line to land, and it is the whole day: "Tools find classes of bug. Humans find missing rules. That is why you still read each other's code."
Then the step that separates DevSecOps from security: after they fix something, they must write the gate that stops it regressing. A fix without a gate is gone in two sprints.
If you are running five days instead of six, this content merges into Day 4 and becomes a demo. Say so honestly rather than pretending they went hands-on.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and be scrupulously honest about scope:
"One day of Kubernetes buys you four concepts: deploy, scale, self-heal, roll back. That is it. No operators, no service mesh, no custom resources, no writing your own Helm charts.
You will not know Kubernetes on Friday evening. You will know what it is for and what to go and learn. Anyone who tells you they learned Kubernetes in a day is selling something."
Saying this protects them from walking into an interview overclaiming, which is a real kindness.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and land the stakes properly - but land the reassurance harder.
"Friday afternoon, you own a Daig deployment. I break it in front of everyone. You get ten minutes and a microphone."
Let that sit for a second. Then, immediately, the important part:
"Look at the weighting. Diagnosis is worth more than the fix. We are hiring for how you think, not what you memorised. A well-reasoned diagnosis that runs out of time scores higher than a lucky guess that happens to work.
Some of you will not fix it in ten minutes. That is a normal outcome and it is survivable. What is not survivable is restarting things at random and hoping."
Say this on MONDAY. If they only hear it on Friday morning it produces panic instead of thinking.
Publish the rubric today so they can aim at it all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BEAT. Two minutes. Slow down and mean it.
Last year these words appeared at minute eight, before anybody had done anything, and they landed as filler. Now they land at the end of a session where the room has broken a container, done error-budget arithmetic, and watched four engineers respond to the same outage. Same words, completely different weight.
"Scope aap main hai, field mein nahi.
Nobody here is going to hand you a career because you picked a trendy field. What you have got this week is five days, a system that will genuinely break, and people who will answer any question you ask.
There is more in you than you realise. Let us go and find it."
Then stop. Do not add a summary slide. Do not add a thank-you slide. End on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leave this up during Q&amp;A rather than presenting it.
Everything they need to act on tonight. Read out only the Docker line, because that is the one that breaks Monday morning if they ignore it.
Send the same information in writing on Thursday. Assume roughly one in five arrives unprepared regardless, and pair them up rather than making it a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9"/>
        </a:solidFill>
      </p:bgPr>
    </p:bg>
    <p:spTree>
      <p:nvGrpSpPr>
        <p:cNvPr id="1" name=""/>
        <p:cNvGrpSpPr/>
        <p:nvPr/>
      </p:nvGrpSpPr>
      <p:grpSpPr>
        <a:xfrm>
          <a:off x="0" y="0"/>
          <a:ext cx="0" cy="0"/>
          <a:chOff x="0" y="0"/>
          <a:chExt cx="0" cy="0"/>
        </a:xfrm>
      </p:grpSpPr>
      <p:sp>
        <p:nvSpPr>
          <p:cNvPr id="3" name="Text 0"/>
          <p:cNvSpPr/>
          <p:nvPr/>
        </p:nvSpPr>
        <p:spPr>
          <a:xfrm>
            <a:off x="594360" y="1783080"/>
            <a:ext cx="10881360" cy="1691640"/>
          </a:xfrm>
          <a:prstGeom prst="rect">
            <a:avLst/>
          </a:prstGeom>
          <a:noFill/>
          <a:ln/>
        </p:spPr>
        <p:txBody>
          <a:bodyPr wrap="square" lIns="0" tIns="0" rIns="0" bIns="0" rtlCol="0" anchor="ctr"/>
          <a:lstStyle/>
          <a:p>
            <a:pPr indent="0" marL="0">
              <a:buNone/>
            </a:pPr>
            <a:r>
              <a:rPr lang="en-US" sz="9600" b="1" dirty="0">
                <a:solidFill>
                  <a:srgbClr val="F4F6FB"/>
                </a:solidFill>
                <a:latin typeface="Calibri" pitchFamily="34" charset="0"/>
                <a:ea typeface="Calibri" pitchFamily="34" charset="-122"/>
                <a:cs typeface="Calibri" pitchFamily="34" charset="-120"/>
              </a:rPr>
              <a:t>19 JULY</a:t>
            </a:r>
            <a:endParaRPr lang="en-US" sz="9600" dirty="0"/>
          </a:p>
        </p:txBody>
      </p:sp>
      <p:sp>
        <p:nvSpPr>
          <p:cNvPr id="4" name="Text 1"/>
          <p:cNvSpPr/>
          <p:nvPr/>
        </p:nvSpPr>
        <p:spPr>
          <a:xfrm>
            <a:off x="594360" y="3337560"/>
            <a:ext cx="10881360" cy="1691640"/>
          </a:xfrm>
          <a:prstGeom prst="rect">
            <a:avLst/>
          </a:prstGeom>
          <a:noFill/>
          <a:ln/>
        </p:spPr>
        <p:txBody>
          <a:bodyPr wrap="square" lIns="0" tIns="0" rIns="0" bIns="0" rtlCol="0" anchor="ctr"/>
          <a:lstStyle/>
          <a:p>
            <a:pPr indent="0" marL="0">
              <a:buNone/>
            </a:pPr>
            <a:r>
              <a:rPr lang="en-US" sz="9600" b="1" dirty="0">
                <a:solidFill>
                  <a:srgbClr val="EE4001"/>
                </a:solidFill>
                <a:latin typeface="Calibri" pitchFamily="34" charset="0"/>
                <a:ea typeface="Calibri" pitchFamily="34" charset="-122"/>
                <a:cs typeface="Calibri" pitchFamily="34" charset="-120"/>
              </a:rPr>
              <a:t>2024</a:t>
            </a:r>
            <a:endParaRPr lang="en-US" sz="9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9"/>
        </a:solidFill>
      </p:bgPr>
    </p:bg>
    <p:spTree>
      <p:nvGrpSpPr>
        <p:cNvPr id="1" name=""/>
        <p:cNvGrpSpPr/>
        <p:nvPr/>
      </p:nvGrpSpPr>
      <p:grpSpPr>
        <a:xfrm>
          <a:off x="0" y="0"/>
          <a:ext cx="0" cy="0"/>
          <a:chOff x="0" y="0"/>
          <a:chExt cx="0" cy="0"/>
        </a:xfrm>
      </p:grpSpPr>
      <p:sp>
        <p:nvSpPr>
          <p:cNvPr id="3" name="Shape 0"/>
          <p:cNvSpPr/>
          <p:nvPr/>
        </p:nvSpPr>
        <p:spPr>
          <a:xfrm>
            <a:off x="594360" y="384048"/>
            <a:ext cx="384048" cy="384048"/>
          </a:xfrm>
          <a:prstGeom prst="ellipse">
            <a:avLst/>
          </a:prstGeom>
          <a:solidFill>
            <a:srgbClr val="0755E9"/>
          </a:solidFill>
          <a:ln/>
        </p:spPr>
      </p:sp>
      <p:sp>
        <p:nvSpPr>
          <p:cNvPr id="4" name="Text 1"/>
          <p:cNvSpPr/>
          <p:nvPr/>
        </p:nvSpPr>
        <p:spPr>
          <a:xfrm>
            <a:off x="59436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5" name="Text 2"/>
          <p:cNvSpPr/>
          <p:nvPr/>
        </p:nvSpPr>
        <p:spPr>
          <a:xfrm>
            <a:off x="1097280" y="384048"/>
            <a:ext cx="7772400" cy="384048"/>
          </a:xfrm>
          <a:prstGeom prst="rect">
            <a:avLst/>
          </a:prstGeom>
          <a:noFill/>
          <a:ln/>
        </p:spPr>
        <p:txBody>
          <a:bodyPr wrap="square" lIns="0" tIns="0" rIns="0" bIns="0" rtlCol="0" anchor="ctr"/>
          <a:lstStyle/>
          <a:p>
            <a:pPr indent="0" marL="0">
              <a:buNone/>
            </a:pPr>
            <a:r>
              <a:rPr lang="en-US" sz="1100" b="1" spc="200" kern="0" dirty="0">
                <a:solidFill>
                  <a:srgbClr val="8A99BF"/>
                </a:solidFill>
                <a:latin typeface="Calibri" pitchFamily="34" charset="0"/>
                <a:ea typeface="Calibri" pitchFamily="34" charset="-122"/>
                <a:cs typeface="Calibri" pitchFamily="34" charset="-120"/>
              </a:rPr>
              <a:t>COLD OPEN</a:t>
            </a:r>
            <a:endParaRPr lang="en-US" sz="1100" dirty="0"/>
          </a:p>
        </p:txBody>
      </p:sp>
      <p:sp>
        <p:nvSpPr>
          <p:cNvPr id="6" name="Text 3"/>
          <p:cNvSpPr/>
          <p:nvPr/>
        </p:nvSpPr>
        <p:spPr>
          <a:xfrm>
            <a:off x="594360" y="960120"/>
            <a:ext cx="10881360" cy="914400"/>
          </a:xfrm>
          <a:prstGeom prst="rect">
            <a:avLst/>
          </a:prstGeom>
          <a:noFill/>
          <a:ln/>
        </p:spPr>
        <p:txBody>
          <a:bodyPr wrap="square" lIns="0" tIns="0" rIns="0" bIns="0" rtlCol="0" anchor="t"/>
          <a:lstStyle/>
          <a:p>
            <a:pPr indent="0" marL="0">
              <a:buNone/>
            </a:pPr>
            <a:r>
              <a:rPr lang="en-US" sz="3600" b="1" dirty="0">
                <a:solidFill>
                  <a:srgbClr val="F4F6FB"/>
                </a:solidFill>
                <a:latin typeface="Calibri" pitchFamily="34" charset="0"/>
                <a:ea typeface="Calibri" pitchFamily="34" charset="-122"/>
                <a:cs typeface="Calibri" pitchFamily="34" charset="-120"/>
              </a:rPr>
              <a:t>The morning it stopped</a:t>
            </a:r>
            <a:endParaRPr lang="en-US" sz="3600" dirty="0"/>
          </a:p>
        </p:txBody>
      </p:sp>
      <p:sp>
        <p:nvSpPr>
          <p:cNvPr id="7" name="Shape 4"/>
          <p:cNvSpPr/>
          <p:nvPr/>
        </p:nvSpPr>
        <p:spPr>
          <a:xfrm>
            <a:off x="594360" y="2148840"/>
            <a:ext cx="6583680" cy="713232"/>
          </a:xfrm>
          <a:prstGeom prst="roundRect">
            <a:avLst>
              <a:gd name="adj" fmla="val 10256"/>
            </a:avLst>
          </a:prstGeom>
          <a:solidFill>
            <a:srgbClr val="17224A"/>
          </a:solidFill>
          <a:ln w="12700">
            <a:solidFill>
              <a:srgbClr val="17224A"/>
            </a:solidFill>
            <a:prstDash val="solid"/>
          </a:ln>
        </p:spPr>
      </p:sp>
      <p:sp>
        <p:nvSpPr>
          <p:cNvPr id="8" name="Text 5"/>
          <p:cNvSpPr/>
          <p:nvPr/>
        </p:nvSpPr>
        <p:spPr>
          <a:xfrm>
            <a:off x="850392" y="2148840"/>
            <a:ext cx="2286000" cy="713232"/>
          </a:xfrm>
          <a:prstGeom prst="rect">
            <a:avLst/>
          </a:prstGeom>
          <a:noFill/>
          <a:ln/>
        </p:spPr>
        <p:txBody>
          <a:bodyPr wrap="square" lIns="0" tIns="0" rIns="0" bIns="0" rtlCol="0" anchor="ctr"/>
          <a:lstStyle/>
          <a:p>
            <a:pPr indent="0" marL="0">
              <a:buNone/>
            </a:pPr>
            <a:r>
              <a:rPr lang="en-US" sz="1500" b="1" dirty="0">
                <a:solidFill>
                  <a:srgbClr val="5B8CF0"/>
                </a:solidFill>
                <a:latin typeface="Calibri" pitchFamily="34" charset="0"/>
                <a:ea typeface="Calibri" pitchFamily="34" charset="-122"/>
                <a:cs typeface="Calibri" pitchFamily="34" charset="-120"/>
              </a:rPr>
              <a:t>Airports</a:t>
            </a:r>
            <a:endParaRPr lang="en-US" sz="1500" dirty="0"/>
          </a:p>
        </p:txBody>
      </p:sp>
      <p:sp>
        <p:nvSpPr>
          <p:cNvPr id="9" name="Text 6"/>
          <p:cNvSpPr/>
          <p:nvPr/>
        </p:nvSpPr>
        <p:spPr>
          <a:xfrm>
            <a:off x="3108960" y="2148840"/>
            <a:ext cx="3931920" cy="713232"/>
          </a:xfrm>
          <a:prstGeom prst="rect">
            <a:avLst/>
          </a:prstGeom>
          <a:noFill/>
          <a:ln/>
        </p:spPr>
        <p:txBody>
          <a:bodyPr wrap="square" lIns="0" tIns="0" rIns="0" bIns="0" rtlCol="0" anchor="ctr"/>
          <a:lstStyle/>
          <a:p>
            <a:pPr indent="0" marL="0">
              <a:buNone/>
            </a:pPr>
            <a:r>
              <a:rPr lang="en-US" sz="1300" dirty="0">
                <a:solidFill>
                  <a:srgbClr val="F4F6FB"/>
                </a:solidFill>
                <a:latin typeface="Calibri" pitchFamily="34" charset="0"/>
                <a:ea typeface="Calibri" pitchFamily="34" charset="-122"/>
                <a:cs typeface="Calibri" pitchFamily="34" charset="-120"/>
              </a:rPr>
              <a:t>Departure boards dead. Check-in by hand. Fleets grounded.</a:t>
            </a:r>
            <a:endParaRPr lang="en-US" sz="1300" dirty="0"/>
          </a:p>
        </p:txBody>
      </p:sp>
      <p:sp>
        <p:nvSpPr>
          <p:cNvPr id="10" name="Shape 7"/>
          <p:cNvSpPr/>
          <p:nvPr/>
        </p:nvSpPr>
        <p:spPr>
          <a:xfrm>
            <a:off x="594360" y="2990088"/>
            <a:ext cx="6583680" cy="713232"/>
          </a:xfrm>
          <a:prstGeom prst="roundRect">
            <a:avLst>
              <a:gd name="adj" fmla="val 10256"/>
            </a:avLst>
          </a:prstGeom>
          <a:solidFill>
            <a:srgbClr val="17224A"/>
          </a:solidFill>
          <a:ln w="12700">
            <a:solidFill>
              <a:srgbClr val="17224A"/>
            </a:solidFill>
            <a:prstDash val="solid"/>
          </a:ln>
        </p:spPr>
      </p:sp>
      <p:sp>
        <p:nvSpPr>
          <p:cNvPr id="11" name="Text 8"/>
          <p:cNvSpPr/>
          <p:nvPr/>
        </p:nvSpPr>
        <p:spPr>
          <a:xfrm>
            <a:off x="850392" y="2990088"/>
            <a:ext cx="2286000" cy="713232"/>
          </a:xfrm>
          <a:prstGeom prst="rect">
            <a:avLst/>
          </a:prstGeom>
          <a:noFill/>
          <a:ln/>
        </p:spPr>
        <p:txBody>
          <a:bodyPr wrap="square" lIns="0" tIns="0" rIns="0" bIns="0" rtlCol="0" anchor="ctr"/>
          <a:lstStyle/>
          <a:p>
            <a:pPr indent="0" marL="0">
              <a:buNone/>
            </a:pPr>
            <a:r>
              <a:rPr lang="en-US" sz="1500" b="1" dirty="0">
                <a:solidFill>
                  <a:srgbClr val="5B8CF0"/>
                </a:solidFill>
                <a:latin typeface="Calibri" pitchFamily="34" charset="0"/>
                <a:ea typeface="Calibri" pitchFamily="34" charset="-122"/>
                <a:cs typeface="Calibri" pitchFamily="34" charset="-120"/>
              </a:rPr>
              <a:t>Hospitals</a:t>
            </a:r>
            <a:endParaRPr lang="en-US" sz="1500" dirty="0"/>
          </a:p>
        </p:txBody>
      </p:sp>
      <p:sp>
        <p:nvSpPr>
          <p:cNvPr id="12" name="Text 9"/>
          <p:cNvSpPr/>
          <p:nvPr/>
        </p:nvSpPr>
        <p:spPr>
          <a:xfrm>
            <a:off x="3108960" y="2990088"/>
            <a:ext cx="3931920" cy="713232"/>
          </a:xfrm>
          <a:prstGeom prst="rect">
            <a:avLst/>
          </a:prstGeom>
          <a:noFill/>
          <a:ln/>
        </p:spPr>
        <p:txBody>
          <a:bodyPr wrap="square" lIns="0" tIns="0" rIns="0" bIns="0" rtlCol="0" anchor="ctr"/>
          <a:lstStyle/>
          <a:p>
            <a:pPr indent="0" marL="0">
              <a:buNone/>
            </a:pPr>
            <a:r>
              <a:rPr lang="en-US" sz="1300" dirty="0">
                <a:solidFill>
                  <a:srgbClr val="F4F6FB"/>
                </a:solidFill>
                <a:latin typeface="Calibri" pitchFamily="34" charset="0"/>
                <a:ea typeface="Calibri" pitchFamily="34" charset="-122"/>
                <a:cs typeface="Calibri" pitchFamily="34" charset="-120"/>
              </a:rPr>
              <a:t>Back to paper records mid-shift.</a:t>
            </a:r>
            <a:endParaRPr lang="en-US" sz="1300" dirty="0"/>
          </a:p>
        </p:txBody>
      </p:sp>
      <p:sp>
        <p:nvSpPr>
          <p:cNvPr id="13" name="Shape 10"/>
          <p:cNvSpPr/>
          <p:nvPr/>
        </p:nvSpPr>
        <p:spPr>
          <a:xfrm>
            <a:off x="594360" y="3831336"/>
            <a:ext cx="6583680" cy="713232"/>
          </a:xfrm>
          <a:prstGeom prst="roundRect">
            <a:avLst>
              <a:gd name="adj" fmla="val 10256"/>
            </a:avLst>
          </a:prstGeom>
          <a:solidFill>
            <a:srgbClr val="17224A"/>
          </a:solidFill>
          <a:ln w="12700">
            <a:solidFill>
              <a:srgbClr val="17224A"/>
            </a:solidFill>
            <a:prstDash val="solid"/>
          </a:ln>
        </p:spPr>
      </p:sp>
      <p:sp>
        <p:nvSpPr>
          <p:cNvPr id="14" name="Text 11"/>
          <p:cNvSpPr/>
          <p:nvPr/>
        </p:nvSpPr>
        <p:spPr>
          <a:xfrm>
            <a:off x="850392" y="3831336"/>
            <a:ext cx="2286000" cy="713232"/>
          </a:xfrm>
          <a:prstGeom prst="rect">
            <a:avLst/>
          </a:prstGeom>
          <a:noFill/>
          <a:ln/>
        </p:spPr>
        <p:txBody>
          <a:bodyPr wrap="square" lIns="0" tIns="0" rIns="0" bIns="0" rtlCol="0" anchor="ctr"/>
          <a:lstStyle/>
          <a:p>
            <a:pPr indent="0" marL="0">
              <a:buNone/>
            </a:pPr>
            <a:r>
              <a:rPr lang="en-US" sz="1500" b="1" dirty="0">
                <a:solidFill>
                  <a:srgbClr val="5B8CF0"/>
                </a:solidFill>
                <a:latin typeface="Calibri" pitchFamily="34" charset="0"/>
                <a:ea typeface="Calibri" pitchFamily="34" charset="-122"/>
                <a:cs typeface="Calibri" pitchFamily="34" charset="-120"/>
              </a:rPr>
              <a:t>Banks</a:t>
            </a:r>
            <a:endParaRPr lang="en-US" sz="1500" dirty="0"/>
          </a:p>
        </p:txBody>
      </p:sp>
      <p:sp>
        <p:nvSpPr>
          <p:cNvPr id="15" name="Text 12"/>
          <p:cNvSpPr/>
          <p:nvPr/>
        </p:nvSpPr>
        <p:spPr>
          <a:xfrm>
            <a:off x="3108960" y="3831336"/>
            <a:ext cx="3931920" cy="713232"/>
          </a:xfrm>
          <a:prstGeom prst="rect">
            <a:avLst/>
          </a:prstGeom>
          <a:noFill/>
          <a:ln/>
        </p:spPr>
        <p:txBody>
          <a:bodyPr wrap="square" lIns="0" tIns="0" rIns="0" bIns="0" rtlCol="0" anchor="ctr"/>
          <a:lstStyle/>
          <a:p>
            <a:pPr indent="0" marL="0">
              <a:buNone/>
            </a:pPr>
            <a:r>
              <a:rPr lang="en-US" sz="1300" dirty="0">
                <a:solidFill>
                  <a:srgbClr val="F4F6FB"/>
                </a:solidFill>
                <a:latin typeface="Calibri" pitchFamily="34" charset="0"/>
                <a:ea typeface="Calibri" pitchFamily="34" charset="-122"/>
                <a:cs typeface="Calibri" pitchFamily="34" charset="-120"/>
              </a:rPr>
              <a:t>Payment terminals offline. Branches closed.</a:t>
            </a:r>
            <a:endParaRPr lang="en-US" sz="1300" dirty="0"/>
          </a:p>
        </p:txBody>
      </p:sp>
      <p:sp>
        <p:nvSpPr>
          <p:cNvPr id="16" name="Shape 13"/>
          <p:cNvSpPr/>
          <p:nvPr/>
        </p:nvSpPr>
        <p:spPr>
          <a:xfrm>
            <a:off x="594360" y="4672584"/>
            <a:ext cx="6583680" cy="713232"/>
          </a:xfrm>
          <a:prstGeom prst="roundRect">
            <a:avLst>
              <a:gd name="adj" fmla="val 10256"/>
            </a:avLst>
          </a:prstGeom>
          <a:solidFill>
            <a:srgbClr val="17224A"/>
          </a:solidFill>
          <a:ln w="12700">
            <a:solidFill>
              <a:srgbClr val="17224A"/>
            </a:solidFill>
            <a:prstDash val="solid"/>
          </a:ln>
        </p:spPr>
      </p:sp>
      <p:sp>
        <p:nvSpPr>
          <p:cNvPr id="17" name="Text 14"/>
          <p:cNvSpPr/>
          <p:nvPr/>
        </p:nvSpPr>
        <p:spPr>
          <a:xfrm>
            <a:off x="850392" y="4672584"/>
            <a:ext cx="2286000" cy="713232"/>
          </a:xfrm>
          <a:prstGeom prst="rect">
            <a:avLst/>
          </a:prstGeom>
          <a:noFill/>
          <a:ln/>
        </p:spPr>
        <p:txBody>
          <a:bodyPr wrap="square" lIns="0" tIns="0" rIns="0" bIns="0" rtlCol="0" anchor="ctr"/>
          <a:lstStyle/>
          <a:p>
            <a:pPr indent="0" marL="0">
              <a:buNone/>
            </a:pPr>
            <a:r>
              <a:rPr lang="en-US" sz="1500" b="1" dirty="0">
                <a:solidFill>
                  <a:srgbClr val="5B8CF0"/>
                </a:solidFill>
                <a:latin typeface="Calibri" pitchFamily="34" charset="0"/>
                <a:ea typeface="Calibri" pitchFamily="34" charset="-122"/>
                <a:cs typeface="Calibri" pitchFamily="34" charset="-120"/>
              </a:rPr>
              <a:t>Broadcast + emergency</a:t>
            </a:r>
            <a:endParaRPr lang="en-US" sz="1500" dirty="0"/>
          </a:p>
        </p:txBody>
      </p:sp>
      <p:sp>
        <p:nvSpPr>
          <p:cNvPr id="18" name="Text 15"/>
          <p:cNvSpPr/>
          <p:nvPr/>
        </p:nvSpPr>
        <p:spPr>
          <a:xfrm>
            <a:off x="3108960" y="4672584"/>
            <a:ext cx="3931920" cy="713232"/>
          </a:xfrm>
          <a:prstGeom prst="rect">
            <a:avLst/>
          </a:prstGeom>
          <a:noFill/>
          <a:ln/>
        </p:spPr>
        <p:txBody>
          <a:bodyPr wrap="square" lIns="0" tIns="0" rIns="0" bIns="0" rtlCol="0" anchor="ctr"/>
          <a:lstStyle/>
          <a:p>
            <a:pPr indent="0" marL="0">
              <a:buNone/>
            </a:pPr>
            <a:r>
              <a:rPr lang="en-US" sz="1300" dirty="0">
                <a:solidFill>
                  <a:srgbClr val="F4F6FB"/>
                </a:solidFill>
                <a:latin typeface="Calibri" pitchFamily="34" charset="0"/>
                <a:ea typeface="Calibri" pitchFamily="34" charset="-122"/>
                <a:cs typeface="Calibri" pitchFamily="34" charset="-120"/>
              </a:rPr>
              <a:t>Studios dark. Dispatch systems down.</a:t>
            </a:r>
            <a:endParaRPr lang="en-US" sz="1300" dirty="0"/>
          </a:p>
        </p:txBody>
      </p:sp>
      <p:sp>
        <p:nvSpPr>
          <p:cNvPr id="19" name="Text 16"/>
          <p:cNvSpPr/>
          <p:nvPr/>
        </p:nvSpPr>
        <p:spPr>
          <a:xfrm>
            <a:off x="7772400" y="2377440"/>
            <a:ext cx="3794760" cy="1097280"/>
          </a:xfrm>
          <a:prstGeom prst="rect">
            <a:avLst/>
          </a:prstGeom>
          <a:noFill/>
          <a:ln/>
        </p:spPr>
        <p:txBody>
          <a:bodyPr wrap="square" lIns="0" tIns="0" rIns="0" bIns="0" rtlCol="0" anchor="ctr"/>
          <a:lstStyle/>
          <a:p>
            <a:pPr algn="ctr" indent="0" marL="0">
              <a:buNone/>
            </a:pPr>
            <a:r>
              <a:rPr lang="en-US" sz="6600" b="1" dirty="0">
                <a:solidFill>
                  <a:srgbClr val="EE4001"/>
                </a:solidFill>
                <a:latin typeface="Calibri" pitchFamily="34" charset="0"/>
                <a:ea typeface="Calibri" pitchFamily="34" charset="-122"/>
                <a:cs typeface="Calibri" pitchFamily="34" charset="-120"/>
              </a:rPr>
              <a:t>~8.5M</a:t>
            </a:r>
            <a:endParaRPr lang="en-US" sz="6600" dirty="0"/>
          </a:p>
        </p:txBody>
      </p:sp>
      <p:sp>
        <p:nvSpPr>
          <p:cNvPr id="20" name="Text 17"/>
          <p:cNvSpPr/>
          <p:nvPr/>
        </p:nvSpPr>
        <p:spPr>
          <a:xfrm>
            <a:off x="7772400" y="3520440"/>
            <a:ext cx="3794760" cy="822960"/>
          </a:xfrm>
          <a:prstGeom prst="rect">
            <a:avLst/>
          </a:prstGeom>
          <a:noFill/>
          <a:ln/>
        </p:spPr>
        <p:txBody>
          <a:bodyPr wrap="square" lIns="0" tIns="0" rIns="0" bIns="0" rtlCol="0" anchor="ctr"/>
          <a:lstStyle/>
          <a:p>
            <a:pPr algn="ctr" indent="0" marL="0">
              <a:buNone/>
            </a:pPr>
            <a:r>
              <a:rPr lang="en-US" sz="1400" dirty="0">
                <a:solidFill>
                  <a:srgbClr val="8A99BF"/>
                </a:solidFill>
                <a:latin typeface="Calibri" pitchFamily="34" charset="0"/>
                <a:ea typeface="Calibri" pitchFamily="34" charset="-122"/>
                <a:cs typeface="Calibri" pitchFamily="34" charset="-120"/>
              </a:rPr>
              <a:t>Windows machines dead</a:t>
            </a:r>
            <a:endParaRPr lang="en-US" sz="1400" dirty="0"/>
          </a:p>
          <a:p>
            <a:pPr algn="ctr" indent="0" marL="0">
              <a:buNone/>
            </a:pPr>
            <a:r>
              <a:rPr lang="en-US" sz="1400" dirty="0">
                <a:solidFill>
                  <a:srgbClr val="8A99BF"/>
                </a:solidFill>
                <a:latin typeface="Calibri" pitchFamily="34" charset="0"/>
                <a:ea typeface="Calibri" pitchFamily="34" charset="-122"/>
                <a:cs typeface="Calibri" pitchFamily="34" charset="-120"/>
              </a:rPr>
              <a:t>the same morning</a:t>
            </a:r>
            <a:endParaRPr lang="en-US" sz="1400" dirty="0"/>
          </a:p>
        </p:txBody>
      </p:sp>
      <p:sp>
        <p:nvSpPr>
          <p:cNvPr id="21" name="Text 18"/>
          <p:cNvSpPr/>
          <p:nvPr/>
        </p:nvSpPr>
        <p:spPr>
          <a:xfrm>
            <a:off x="7772400" y="4297680"/>
            <a:ext cx="3794760" cy="274320"/>
          </a:xfrm>
          <a:prstGeom prst="rect">
            <a:avLst/>
          </a:prstGeom>
          <a:noFill/>
          <a:ln/>
        </p:spPr>
        <p:txBody>
          <a:bodyPr wrap="square" lIns="0" tIns="0" rIns="0" bIns="0" rtlCol="0" anchor="ctr"/>
          <a:lstStyle/>
          <a:p>
            <a:pPr algn="ctr" indent="0" marL="0">
              <a:buNone/>
            </a:pPr>
            <a:r>
              <a:rPr lang="en-US" sz="1100" i="1" dirty="0">
                <a:solidFill>
                  <a:srgbClr val="5A6890"/>
                </a:solidFill>
                <a:latin typeface="Calibri" pitchFamily="34" charset="0"/>
                <a:ea typeface="Calibri" pitchFamily="34" charset="-122"/>
                <a:cs typeface="Calibri" pitchFamily="34" charset="-120"/>
              </a:rPr>
              <a:t>Microsoft estimate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9"/>
        </a:solidFill>
      </p:bgPr>
    </p:bg>
    <p:spTree>
      <p:nvGrpSpPr>
        <p:cNvPr id="1" name=""/>
        <p:cNvGrpSpPr/>
        <p:nvPr/>
      </p:nvGrpSpPr>
      <p:grpSpPr>
        <a:xfrm>
          <a:off x="0" y="0"/>
          <a:ext cx="0" cy="0"/>
          <a:chOff x="0" y="0"/>
          <a:chExt cx="0" cy="0"/>
        </a:xfrm>
      </p:grpSpPr>
      <p:sp>
        <p:nvSpPr>
          <p:cNvPr id="3" name="Shape 0"/>
          <p:cNvSpPr/>
          <p:nvPr/>
        </p:nvSpPr>
        <p:spPr>
          <a:xfrm>
            <a:off x="594360" y="384048"/>
            <a:ext cx="384048" cy="384048"/>
          </a:xfrm>
          <a:prstGeom prst="ellipse">
            <a:avLst/>
          </a:prstGeom>
          <a:solidFill>
            <a:srgbClr val="0755E9"/>
          </a:solidFill>
          <a:ln/>
        </p:spPr>
      </p:sp>
      <p:sp>
        <p:nvSpPr>
          <p:cNvPr id="4" name="Text 1"/>
          <p:cNvSpPr/>
          <p:nvPr/>
        </p:nvSpPr>
        <p:spPr>
          <a:xfrm>
            <a:off x="59436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5" name="Text 2"/>
          <p:cNvSpPr/>
          <p:nvPr/>
        </p:nvSpPr>
        <p:spPr>
          <a:xfrm>
            <a:off x="1097280" y="384048"/>
            <a:ext cx="7772400" cy="384048"/>
          </a:xfrm>
          <a:prstGeom prst="rect">
            <a:avLst/>
          </a:prstGeom>
          <a:noFill/>
          <a:ln/>
        </p:spPr>
        <p:txBody>
          <a:bodyPr wrap="square" lIns="0" tIns="0" rIns="0" bIns="0" rtlCol="0" anchor="ctr"/>
          <a:lstStyle/>
          <a:p>
            <a:pPr indent="0" marL="0">
              <a:buNone/>
            </a:pPr>
            <a:r>
              <a:rPr lang="en-US" sz="1100" b="1" spc="200" kern="0" dirty="0">
                <a:solidFill>
                  <a:srgbClr val="8A99BF"/>
                </a:solidFill>
                <a:latin typeface="Calibri" pitchFamily="34" charset="0"/>
                <a:ea typeface="Calibri" pitchFamily="34" charset="-122"/>
                <a:cs typeface="Calibri" pitchFamily="34" charset="-120"/>
              </a:rPr>
              <a:t>COLD OPEN</a:t>
            </a:r>
            <a:endParaRPr lang="en-US" sz="1100" dirty="0"/>
          </a:p>
        </p:txBody>
      </p:sp>
      <p:sp>
        <p:nvSpPr>
          <p:cNvPr id="6" name="Text 3"/>
          <p:cNvSpPr/>
          <p:nvPr/>
        </p:nvSpPr>
        <p:spPr>
          <a:xfrm>
            <a:off x="594360" y="2286000"/>
            <a:ext cx="10881360" cy="1097280"/>
          </a:xfrm>
          <a:prstGeom prst="rect">
            <a:avLst/>
          </a:prstGeom>
          <a:noFill/>
          <a:ln/>
        </p:spPr>
        <p:txBody>
          <a:bodyPr wrap="square" lIns="0" tIns="0" rIns="0" bIns="0" rtlCol="0" anchor="ctr"/>
          <a:lstStyle/>
          <a:p>
            <a:pPr indent="0" marL="0">
              <a:buNone/>
            </a:pPr>
            <a:r>
              <a:rPr lang="en-US" sz="5400" b="1" dirty="0">
                <a:solidFill>
                  <a:srgbClr val="F4F6FB"/>
                </a:solidFill>
                <a:latin typeface="Calibri" pitchFamily="34" charset="0"/>
                <a:ea typeface="Calibri" pitchFamily="34" charset="-122"/>
                <a:cs typeface="Calibri" pitchFamily="34" charset="-120"/>
              </a:rPr>
              <a:t>So what happened?</a:t>
            </a:r>
            <a:endParaRPr lang="en-US" sz="5400" dirty="0"/>
          </a:p>
        </p:txBody>
      </p:sp>
      <p:sp>
        <p:nvSpPr>
          <p:cNvPr id="7" name="Text 4"/>
          <p:cNvSpPr/>
          <p:nvPr/>
        </p:nvSpPr>
        <p:spPr>
          <a:xfrm>
            <a:off x="594360" y="3474720"/>
            <a:ext cx="10881360" cy="548640"/>
          </a:xfrm>
          <a:prstGeom prst="rect">
            <a:avLst/>
          </a:prstGeom>
          <a:noFill/>
          <a:ln/>
        </p:spPr>
        <p:txBody>
          <a:bodyPr wrap="square" lIns="0" tIns="0" rIns="0" bIns="0" rtlCol="0" anchor="ctr"/>
          <a:lstStyle/>
          <a:p>
            <a:pPr indent="0" marL="0">
              <a:buNone/>
            </a:pPr>
            <a:r>
              <a:rPr lang="en-US" sz="2200" dirty="0">
                <a:solidFill>
                  <a:srgbClr val="5B8CF0"/>
                </a:solidFill>
                <a:latin typeface="Calibri" pitchFamily="34" charset="0"/>
                <a:ea typeface="Calibri" pitchFamily="34" charset="-122"/>
                <a:cs typeface="Calibri" pitchFamily="34" charset="-120"/>
              </a:rPr>
              <a:t>Shout it out.</a:t>
            </a:r>
            <a:endParaRPr lang="en-US" sz="2200" dirty="0"/>
          </a:p>
        </p:txBody>
      </p:sp>
      <p:sp>
        <p:nvSpPr>
          <p:cNvPr id="8" name="Text 5"/>
          <p:cNvSpPr/>
          <p:nvPr/>
        </p:nvSpPr>
        <p:spPr>
          <a:xfrm>
            <a:off x="594360" y="5852160"/>
            <a:ext cx="10881360" cy="365760"/>
          </a:xfrm>
          <a:prstGeom prst="rect">
            <a:avLst/>
          </a:prstGeom>
          <a:noFill/>
          <a:ln/>
        </p:spPr>
        <p:txBody>
          <a:bodyPr wrap="square" lIns="0" tIns="0" rIns="0" bIns="0" rtlCol="0" anchor="ctr"/>
          <a:lstStyle/>
          <a:p>
            <a:pPr indent="0" marL="0">
              <a:buNone/>
            </a:pPr>
            <a:r>
              <a:rPr lang="en-US" sz="1200" i="1" dirty="0">
                <a:solidFill>
                  <a:srgbClr val="5A6890"/>
                </a:solidFill>
                <a:latin typeface="Calibri" pitchFamily="34" charset="0"/>
                <a:ea typeface="Calibri" pitchFamily="34" charset="-122"/>
                <a:cs typeface="Calibri" pitchFamily="34" charset="-120"/>
              </a:rPr>
              <a:t>[ Do not click until three people have guessed ]</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9"/>
        </a:solidFill>
      </p:bgPr>
    </p:bg>
    <p:spTree>
      <p:nvGrpSpPr>
        <p:cNvPr id="1" name=""/>
        <p:cNvGrpSpPr/>
        <p:nvPr/>
      </p:nvGrpSpPr>
      <p:grpSpPr>
        <a:xfrm>
          <a:off x="0" y="0"/>
          <a:ext cx="0" cy="0"/>
          <a:chOff x="0" y="0"/>
          <a:chExt cx="0" cy="0"/>
        </a:xfrm>
      </p:grpSpPr>
      <p:sp>
        <p:nvSpPr>
          <p:cNvPr id="3" name="Shape 0"/>
          <p:cNvSpPr/>
          <p:nvPr/>
        </p:nvSpPr>
        <p:spPr>
          <a:xfrm>
            <a:off x="594360" y="384048"/>
            <a:ext cx="384048" cy="384048"/>
          </a:xfrm>
          <a:prstGeom prst="ellipse">
            <a:avLst/>
          </a:prstGeom>
          <a:solidFill>
            <a:srgbClr val="0755E9"/>
          </a:solidFill>
          <a:ln/>
        </p:spPr>
      </p:sp>
      <p:sp>
        <p:nvSpPr>
          <p:cNvPr id="4" name="Text 1"/>
          <p:cNvSpPr/>
          <p:nvPr/>
        </p:nvSpPr>
        <p:spPr>
          <a:xfrm>
            <a:off x="59436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5" name="Text 2"/>
          <p:cNvSpPr/>
          <p:nvPr/>
        </p:nvSpPr>
        <p:spPr>
          <a:xfrm>
            <a:off x="1097280" y="384048"/>
            <a:ext cx="7772400" cy="384048"/>
          </a:xfrm>
          <a:prstGeom prst="rect">
            <a:avLst/>
          </a:prstGeom>
          <a:noFill/>
          <a:ln/>
        </p:spPr>
        <p:txBody>
          <a:bodyPr wrap="square" lIns="0" tIns="0" rIns="0" bIns="0" rtlCol="0" anchor="ctr"/>
          <a:lstStyle/>
          <a:p>
            <a:pPr indent="0" marL="0">
              <a:buNone/>
            </a:pPr>
            <a:r>
              <a:rPr lang="en-US" sz="1100" b="1" spc="200" kern="0" dirty="0">
                <a:solidFill>
                  <a:srgbClr val="8A99BF"/>
                </a:solidFill>
                <a:latin typeface="Calibri" pitchFamily="34" charset="0"/>
                <a:ea typeface="Calibri" pitchFamily="34" charset="-122"/>
                <a:cs typeface="Calibri" pitchFamily="34" charset="-120"/>
              </a:rPr>
              <a:t>COLD OPEN</a:t>
            </a:r>
            <a:endParaRPr lang="en-US" sz="1100" dirty="0"/>
          </a:p>
        </p:txBody>
      </p:sp>
      <p:sp>
        <p:nvSpPr>
          <p:cNvPr id="6" name="Text 3"/>
          <p:cNvSpPr/>
          <p:nvPr/>
        </p:nvSpPr>
        <p:spPr>
          <a:xfrm>
            <a:off x="594360" y="960120"/>
            <a:ext cx="10881360" cy="914400"/>
          </a:xfrm>
          <a:prstGeom prst="rect">
            <a:avLst/>
          </a:prstGeom>
          <a:noFill/>
          <a:ln/>
        </p:spPr>
        <p:txBody>
          <a:bodyPr wrap="square" lIns="0" tIns="0" rIns="0" bIns="0" rtlCol="0" anchor="t"/>
          <a:lstStyle/>
          <a:p>
            <a:pPr indent="0" marL="0">
              <a:buNone/>
            </a:pPr>
            <a:r>
              <a:rPr lang="en-US" sz="3600" b="1" dirty="0">
                <a:solidFill>
                  <a:srgbClr val="F4F6FB"/>
                </a:solidFill>
                <a:latin typeface="Calibri" pitchFamily="34" charset="0"/>
                <a:ea typeface="Calibri" pitchFamily="34" charset="-122"/>
                <a:cs typeface="Calibri" pitchFamily="34" charset="-120"/>
              </a:rPr>
              <a:t>Not a hacker</a:t>
            </a:r>
            <a:endParaRPr lang="en-US" sz="3600" dirty="0"/>
          </a:p>
        </p:txBody>
      </p:sp>
      <p:sp>
        <p:nvSpPr>
          <p:cNvPr id="7" name="Text 4"/>
          <p:cNvSpPr/>
          <p:nvPr/>
        </p:nvSpPr>
        <p:spPr>
          <a:xfrm>
            <a:off x="594360" y="1965960"/>
            <a:ext cx="5669280" cy="411480"/>
          </a:xfrm>
          <a:prstGeom prst="rect">
            <a:avLst/>
          </a:prstGeom>
          <a:noFill/>
          <a:ln/>
        </p:spPr>
        <p:txBody>
          <a:bodyPr wrap="square" lIns="0" tIns="0" rIns="0" bIns="0" rtlCol="0" anchor="ctr"/>
          <a:lstStyle/>
          <a:p>
            <a:pPr indent="0" marL="0">
              <a:buNone/>
            </a:pPr>
            <a:r>
              <a:rPr lang="en-US" sz="1800" dirty="0">
                <a:solidFill>
                  <a:srgbClr val="8A99BF"/>
                </a:solidFill>
                <a:latin typeface="Calibri" pitchFamily="34" charset="0"/>
                <a:ea typeface="Calibri" pitchFamily="34" charset="-122"/>
                <a:cs typeface="Calibri" pitchFamily="34" charset="-120"/>
              </a:rPr>
              <a:t>Not a breach.</a:t>
            </a:r>
            <a:endParaRPr lang="en-US" sz="1800" dirty="0"/>
          </a:p>
        </p:txBody>
      </p:sp>
      <p:sp>
        <p:nvSpPr>
          <p:cNvPr id="8" name="Text 5"/>
          <p:cNvSpPr/>
          <p:nvPr/>
        </p:nvSpPr>
        <p:spPr>
          <a:xfrm>
            <a:off x="594360" y="2423160"/>
            <a:ext cx="5669280" cy="411480"/>
          </a:xfrm>
          <a:prstGeom prst="rect">
            <a:avLst/>
          </a:prstGeom>
          <a:noFill/>
          <a:ln/>
        </p:spPr>
        <p:txBody>
          <a:bodyPr wrap="square" lIns="0" tIns="0" rIns="0" bIns="0" rtlCol="0" anchor="ctr"/>
          <a:lstStyle/>
          <a:p>
            <a:pPr indent="0" marL="0">
              <a:buNone/>
            </a:pPr>
            <a:r>
              <a:rPr lang="en-US" sz="1800" dirty="0">
                <a:solidFill>
                  <a:srgbClr val="8A99BF"/>
                </a:solidFill>
                <a:latin typeface="Calibri" pitchFamily="34" charset="0"/>
                <a:ea typeface="Calibri" pitchFamily="34" charset="-122"/>
                <a:cs typeface="Calibri" pitchFamily="34" charset="-120"/>
              </a:rPr>
              <a:t>Not a state actor.</a:t>
            </a:r>
            <a:endParaRPr lang="en-US" sz="1800" dirty="0"/>
          </a:p>
        </p:txBody>
      </p:sp>
      <p:sp>
        <p:nvSpPr>
          <p:cNvPr id="9" name="Text 6"/>
          <p:cNvSpPr/>
          <p:nvPr/>
        </p:nvSpPr>
        <p:spPr>
          <a:xfrm>
            <a:off x="594360" y="2880360"/>
            <a:ext cx="5669280" cy="411480"/>
          </a:xfrm>
          <a:prstGeom prst="rect">
            <a:avLst/>
          </a:prstGeom>
          <a:noFill/>
          <a:ln/>
        </p:spPr>
        <p:txBody>
          <a:bodyPr wrap="square" lIns="0" tIns="0" rIns="0" bIns="0" rtlCol="0" anchor="ctr"/>
          <a:lstStyle/>
          <a:p>
            <a:pPr indent="0" marL="0">
              <a:buNone/>
            </a:pPr>
            <a:r>
              <a:rPr lang="en-US" sz="1800" dirty="0">
                <a:solidFill>
                  <a:srgbClr val="8A99BF"/>
                </a:solidFill>
                <a:latin typeface="Calibri" pitchFamily="34" charset="0"/>
                <a:ea typeface="Calibri" pitchFamily="34" charset="-122"/>
                <a:cs typeface="Calibri" pitchFamily="34" charset="-120"/>
              </a:rPr>
              <a:t>Not really even a bug in the product.</a:t>
            </a:r>
            <a:endParaRPr lang="en-US" sz="1800" dirty="0"/>
          </a:p>
        </p:txBody>
      </p:sp>
      <p:sp>
        <p:nvSpPr>
          <p:cNvPr id="10" name="Shape 7"/>
          <p:cNvSpPr/>
          <p:nvPr/>
        </p:nvSpPr>
        <p:spPr>
          <a:xfrm>
            <a:off x="594360" y="3566160"/>
            <a:ext cx="10881360" cy="1965960"/>
          </a:xfrm>
          <a:prstGeom prst="roundRect">
            <a:avLst>
              <a:gd name="adj" fmla="val 3721"/>
            </a:avLst>
          </a:prstGeom>
          <a:solidFill>
            <a:srgbClr val="17224A"/>
          </a:solidFill>
          <a:ln w="12700">
            <a:solidFill>
              <a:srgbClr val="17224A"/>
            </a:solidFill>
            <a:prstDash val="solid"/>
          </a:ln>
        </p:spPr>
      </p:sp>
      <p:sp>
        <p:nvSpPr>
          <p:cNvPr id="11" name="Text 8"/>
          <p:cNvSpPr/>
          <p:nvPr/>
        </p:nvSpPr>
        <p:spPr>
          <a:xfrm>
            <a:off x="960120" y="3794760"/>
            <a:ext cx="10149840" cy="457200"/>
          </a:xfrm>
          <a:prstGeom prst="rect">
            <a:avLst/>
          </a:prstGeom>
          <a:noFill/>
          <a:ln/>
        </p:spPr>
        <p:txBody>
          <a:bodyPr wrap="square" lIns="0" tIns="0" rIns="0" bIns="0" rtlCol="0" anchor="ctr"/>
          <a:lstStyle/>
          <a:p>
            <a:pPr indent="0" marL="0">
              <a:buNone/>
            </a:pPr>
            <a:r>
              <a:rPr lang="en-US" sz="2100" b="1" dirty="0">
                <a:solidFill>
                  <a:srgbClr val="F4F6FB"/>
                </a:solidFill>
                <a:latin typeface="Calibri" pitchFamily="34" charset="0"/>
                <a:ea typeface="Calibri" pitchFamily="34" charset="-122"/>
                <a:cs typeface="Calibri" pitchFamily="34" charset="-120"/>
              </a:rPr>
              <a:t>A configuration update, pushed to every customer at once.</a:t>
            </a:r>
            <a:endParaRPr lang="en-US" sz="2100" dirty="0"/>
          </a:p>
        </p:txBody>
      </p:sp>
      <p:sp>
        <p:nvSpPr>
          <p:cNvPr id="12" name="Shape 9"/>
          <p:cNvSpPr/>
          <p:nvPr/>
        </p:nvSpPr>
        <p:spPr>
          <a:xfrm>
            <a:off x="978408" y="4526280"/>
            <a:ext cx="182880" cy="182880"/>
          </a:xfrm>
          <a:prstGeom prst="ellipse">
            <a:avLst/>
          </a:prstGeom>
          <a:solidFill>
            <a:srgbClr val="EE4001"/>
          </a:solidFill>
          <a:ln/>
        </p:spPr>
      </p:sp>
      <p:sp>
        <p:nvSpPr>
          <p:cNvPr id="13" name="Text 10"/>
          <p:cNvSpPr/>
          <p:nvPr/>
        </p:nvSpPr>
        <p:spPr>
          <a:xfrm>
            <a:off x="1252728" y="4434840"/>
            <a:ext cx="3017520" cy="384048"/>
          </a:xfrm>
          <a:prstGeom prst="rect">
            <a:avLst/>
          </a:prstGeom>
          <a:noFill/>
          <a:ln/>
        </p:spPr>
        <p:txBody>
          <a:bodyPr wrap="square" lIns="0" tIns="0" rIns="0" bIns="0" rtlCol="0" anchor="ctr"/>
          <a:lstStyle/>
          <a:p>
            <a:pPr indent="0" marL="0">
              <a:buNone/>
            </a:pPr>
            <a:r>
              <a:rPr lang="en-US" sz="1400" dirty="0">
                <a:solidFill>
                  <a:srgbClr val="F4F6FB"/>
                </a:solidFill>
                <a:latin typeface="Calibri" pitchFamily="34" charset="0"/>
                <a:ea typeface="Calibri" pitchFamily="34" charset="-122"/>
                <a:cs typeface="Calibri" pitchFamily="34" charset="-120"/>
              </a:rPr>
              <a:t>No staged rollout.</a:t>
            </a:r>
            <a:endParaRPr lang="en-US" sz="1400" dirty="0"/>
          </a:p>
        </p:txBody>
      </p:sp>
      <p:sp>
        <p:nvSpPr>
          <p:cNvPr id="14" name="Shape 11"/>
          <p:cNvSpPr/>
          <p:nvPr/>
        </p:nvSpPr>
        <p:spPr>
          <a:xfrm>
            <a:off x="4361688" y="4526280"/>
            <a:ext cx="182880" cy="182880"/>
          </a:xfrm>
          <a:prstGeom prst="ellipse">
            <a:avLst/>
          </a:prstGeom>
          <a:solidFill>
            <a:srgbClr val="EE4001"/>
          </a:solidFill>
          <a:ln/>
        </p:spPr>
      </p:sp>
      <p:sp>
        <p:nvSpPr>
          <p:cNvPr id="15" name="Text 12"/>
          <p:cNvSpPr/>
          <p:nvPr/>
        </p:nvSpPr>
        <p:spPr>
          <a:xfrm>
            <a:off x="4636008" y="4434840"/>
            <a:ext cx="3017520" cy="384048"/>
          </a:xfrm>
          <a:prstGeom prst="rect">
            <a:avLst/>
          </a:prstGeom>
          <a:noFill/>
          <a:ln/>
        </p:spPr>
        <p:txBody>
          <a:bodyPr wrap="square" lIns="0" tIns="0" rIns="0" bIns="0" rtlCol="0" anchor="ctr"/>
          <a:lstStyle/>
          <a:p>
            <a:pPr indent="0" marL="0">
              <a:buNone/>
            </a:pPr>
            <a:r>
              <a:rPr lang="en-US" sz="1400" dirty="0">
                <a:solidFill>
                  <a:srgbClr val="F4F6FB"/>
                </a:solidFill>
                <a:latin typeface="Calibri" pitchFamily="34" charset="0"/>
                <a:ea typeface="Calibri" pitchFamily="34" charset="-122"/>
                <a:cs typeface="Calibri" pitchFamily="34" charset="-120"/>
              </a:rPr>
              <a:t>No canary group.</a:t>
            </a:r>
            <a:endParaRPr lang="en-US" sz="1400" dirty="0"/>
          </a:p>
        </p:txBody>
      </p:sp>
      <p:sp>
        <p:nvSpPr>
          <p:cNvPr id="16" name="Shape 13"/>
          <p:cNvSpPr/>
          <p:nvPr/>
        </p:nvSpPr>
        <p:spPr>
          <a:xfrm>
            <a:off x="7744968" y="4526280"/>
            <a:ext cx="182880" cy="182880"/>
          </a:xfrm>
          <a:prstGeom prst="ellipse">
            <a:avLst/>
          </a:prstGeom>
          <a:solidFill>
            <a:srgbClr val="EE4001"/>
          </a:solidFill>
          <a:ln/>
        </p:spPr>
      </p:sp>
      <p:sp>
        <p:nvSpPr>
          <p:cNvPr id="17" name="Text 14"/>
          <p:cNvSpPr/>
          <p:nvPr/>
        </p:nvSpPr>
        <p:spPr>
          <a:xfrm>
            <a:off x="8019288" y="4434840"/>
            <a:ext cx="3017520" cy="384048"/>
          </a:xfrm>
          <a:prstGeom prst="rect">
            <a:avLst/>
          </a:prstGeom>
          <a:noFill/>
          <a:ln/>
        </p:spPr>
        <p:txBody>
          <a:bodyPr wrap="square" lIns="0" tIns="0" rIns="0" bIns="0" rtlCol="0" anchor="ctr"/>
          <a:lstStyle/>
          <a:p>
            <a:pPr indent="0" marL="0">
              <a:buNone/>
            </a:pPr>
            <a:r>
              <a:rPr lang="en-US" sz="1400" dirty="0">
                <a:solidFill>
                  <a:srgbClr val="F4F6FB"/>
                </a:solidFill>
                <a:latin typeface="Calibri" pitchFamily="34" charset="0"/>
                <a:ea typeface="Calibri" pitchFamily="34" charset="-122"/>
                <a:cs typeface="Calibri" pitchFamily="34" charset="-120"/>
              </a:rPr>
              <a:t>No way to stop it once it started.</a:t>
            </a:r>
            <a:endParaRPr lang="en-US" sz="1400" dirty="0"/>
          </a:p>
        </p:txBody>
      </p:sp>
      <p:sp>
        <p:nvSpPr>
          <p:cNvPr id="18" name="Text 15"/>
          <p:cNvSpPr/>
          <p:nvPr/>
        </p:nvSpPr>
        <p:spPr>
          <a:xfrm>
            <a:off x="594360" y="5760720"/>
            <a:ext cx="10881360" cy="457200"/>
          </a:xfrm>
          <a:prstGeom prst="rect">
            <a:avLst/>
          </a:prstGeom>
          <a:noFill/>
          <a:ln/>
        </p:spPr>
        <p:txBody>
          <a:bodyPr wrap="square" lIns="0" tIns="0" rIns="0" bIns="0" rtlCol="0" anchor="ctr"/>
          <a:lstStyle/>
          <a:p>
            <a:pPr indent="0" marL="0">
              <a:buNone/>
            </a:pPr>
            <a:r>
              <a:rPr lang="en-US" sz="2200" b="1" dirty="0">
                <a:solidFill>
                  <a:srgbClr val="EE4001"/>
                </a:solidFill>
                <a:latin typeface="Calibri" pitchFamily="34" charset="0"/>
                <a:ea typeface="Calibri" pitchFamily="34" charset="-122"/>
                <a:cs typeface="Calibri" pitchFamily="34" charset="-120"/>
              </a:rPr>
              <a:t>It was not a coding failure. It was a shipping failure.</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9"/>
        </a:solidFill>
      </p:bgPr>
    </p:bg>
    <p:spTree>
      <p:nvGrpSpPr>
        <p:cNvPr id="1" name=""/>
        <p:cNvGrpSpPr/>
        <p:nvPr/>
      </p:nvGrpSpPr>
      <p:grpSpPr>
        <a:xfrm>
          <a:off x="0" y="0"/>
          <a:ext cx="0" cy="0"/>
          <a:chOff x="0" y="0"/>
          <a:chExt cx="0" cy="0"/>
        </a:xfrm>
      </p:grpSpPr>
      <p:sp>
        <p:nvSpPr>
          <p:cNvPr id="3" name="Shape 0"/>
          <p:cNvSpPr/>
          <p:nvPr/>
        </p:nvSpPr>
        <p:spPr>
          <a:xfrm>
            <a:off x="594360" y="384048"/>
            <a:ext cx="384048" cy="384048"/>
          </a:xfrm>
          <a:prstGeom prst="ellipse">
            <a:avLst/>
          </a:prstGeom>
          <a:solidFill>
            <a:srgbClr val="0755E9"/>
          </a:solidFill>
          <a:ln/>
        </p:spPr>
      </p:sp>
      <p:sp>
        <p:nvSpPr>
          <p:cNvPr id="4" name="Text 1"/>
          <p:cNvSpPr/>
          <p:nvPr/>
        </p:nvSpPr>
        <p:spPr>
          <a:xfrm>
            <a:off x="59436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5" name="Text 2"/>
          <p:cNvSpPr/>
          <p:nvPr/>
        </p:nvSpPr>
        <p:spPr>
          <a:xfrm>
            <a:off x="1097280" y="384048"/>
            <a:ext cx="7772400" cy="384048"/>
          </a:xfrm>
          <a:prstGeom prst="rect">
            <a:avLst/>
          </a:prstGeom>
          <a:noFill/>
          <a:ln/>
        </p:spPr>
        <p:txBody>
          <a:bodyPr wrap="square" lIns="0" tIns="0" rIns="0" bIns="0" rtlCol="0" anchor="ctr"/>
          <a:lstStyle/>
          <a:p>
            <a:pPr indent="0" marL="0">
              <a:buNone/>
            </a:pPr>
            <a:r>
              <a:rPr lang="en-US" sz="1100" b="1" spc="200" kern="0" dirty="0">
                <a:solidFill>
                  <a:srgbClr val="8A99BF"/>
                </a:solidFill>
                <a:latin typeface="Calibri" pitchFamily="34" charset="0"/>
                <a:ea typeface="Calibri" pitchFamily="34" charset="-122"/>
                <a:cs typeface="Calibri" pitchFamily="34" charset="-120"/>
              </a:rPr>
              <a:t>COLD OPEN</a:t>
            </a:r>
            <a:endParaRPr lang="en-US" sz="1100" dirty="0"/>
          </a:p>
        </p:txBody>
      </p:sp>
      <p:sp>
        <p:nvSpPr>
          <p:cNvPr id="6" name="Text 3"/>
          <p:cNvSpPr/>
          <p:nvPr/>
        </p:nvSpPr>
        <p:spPr>
          <a:xfrm>
            <a:off x="594360" y="960120"/>
            <a:ext cx="10881360" cy="914400"/>
          </a:xfrm>
          <a:prstGeom prst="rect">
            <a:avLst/>
          </a:prstGeom>
          <a:noFill/>
          <a:ln/>
        </p:spPr>
        <p:txBody>
          <a:bodyPr wrap="square" lIns="0" tIns="0" rIns="0" bIns="0" rtlCol="0" anchor="t"/>
          <a:lstStyle/>
          <a:p>
            <a:pPr indent="0" marL="0">
              <a:buNone/>
            </a:pPr>
            <a:r>
              <a:rPr lang="en-US" sz="3600" b="1" dirty="0">
                <a:solidFill>
                  <a:srgbClr val="F4F6FB"/>
                </a:solidFill>
                <a:latin typeface="Calibri" pitchFamily="34" charset="0"/>
                <a:ea typeface="Calibri" pitchFamily="34" charset="-122"/>
                <a:cs typeface="Calibri" pitchFamily="34" charset="-120"/>
              </a:rPr>
              <a:t>And closer to home</a:t>
            </a:r>
            <a:endParaRPr lang="en-US" sz="3600" dirty="0"/>
          </a:p>
        </p:txBody>
      </p:sp>
      <p:sp>
        <p:nvSpPr>
          <p:cNvPr id="7" name="Shape 4"/>
          <p:cNvSpPr/>
          <p:nvPr/>
        </p:nvSpPr>
        <p:spPr>
          <a:xfrm>
            <a:off x="594360" y="2103120"/>
            <a:ext cx="10881360" cy="3017520"/>
          </a:xfrm>
          <a:prstGeom prst="roundRect">
            <a:avLst>
              <a:gd name="adj" fmla="val 2424"/>
            </a:avLst>
          </a:prstGeom>
          <a:solidFill>
            <a:srgbClr val="17224A"/>
          </a:solidFill>
          <a:ln w="12700">
            <a:solidFill>
              <a:srgbClr val="17224A"/>
            </a:solidFill>
            <a:prstDash val="solid"/>
          </a:ln>
        </p:spPr>
      </p:sp>
      <p:sp>
        <p:nvSpPr>
          <p:cNvPr id="8" name="Text 5"/>
          <p:cNvSpPr/>
          <p:nvPr/>
        </p:nvSpPr>
        <p:spPr>
          <a:xfrm>
            <a:off x="1051560" y="2468880"/>
            <a:ext cx="10058400" cy="457200"/>
          </a:xfrm>
          <a:prstGeom prst="rect">
            <a:avLst/>
          </a:prstGeom>
          <a:noFill/>
          <a:ln/>
        </p:spPr>
        <p:txBody>
          <a:bodyPr wrap="square" lIns="0" tIns="0" rIns="0" bIns="0" rtlCol="0" anchor="ctr"/>
          <a:lstStyle/>
          <a:p>
            <a:pPr indent="0" marL="0">
              <a:buNone/>
            </a:pPr>
            <a:r>
              <a:rPr lang="en-US" sz="1600" b="1" spc="200" kern="0" dirty="0">
                <a:solidFill>
                  <a:srgbClr val="EE4001"/>
                </a:solidFill>
                <a:latin typeface="Calibri" pitchFamily="34" charset="0"/>
                <a:ea typeface="Calibri" pitchFamily="34" charset="-122"/>
                <a:cs typeface="Calibri" pitchFamily="34" charset="-120"/>
              </a:rPr>
              <a:t>TODO - LOCAL INCIDENT</a:t>
            </a:r>
            <a:endParaRPr lang="en-US" sz="1600" dirty="0"/>
          </a:p>
        </p:txBody>
      </p:sp>
      <p:sp>
        <p:nvSpPr>
          <p:cNvPr id="9" name="Text 6"/>
          <p:cNvSpPr/>
          <p:nvPr/>
        </p:nvSpPr>
        <p:spPr>
          <a:xfrm>
            <a:off x="1051560" y="3017520"/>
            <a:ext cx="10058400" cy="1463040"/>
          </a:xfrm>
          <a:prstGeom prst="rect">
            <a:avLst/>
          </a:prstGeom>
          <a:noFill/>
          <a:ln/>
        </p:spPr>
        <p:txBody>
          <a:bodyPr wrap="square" lIns="0" tIns="0" rIns="0" bIns="0" rtlCol="0" anchor="ctr"/>
          <a:lstStyle/>
          <a:p>
            <a:pPr indent="0" marL="0">
              <a:buNone/>
            </a:pPr>
            <a:r>
              <a:rPr lang="en-US" sz="1600" dirty="0">
                <a:solidFill>
                  <a:srgbClr val="F4F6FB"/>
                </a:solidFill>
                <a:latin typeface="Calibri" pitchFamily="34" charset="0"/>
                <a:ea typeface="Calibri" pitchFamily="34" charset="-122"/>
                <a:cs typeface="Calibri" pitchFamily="34" charset="-120"/>
              </a:rPr>
              <a:t>One Pakistani outage this room lived through.</a:t>
            </a:r>
            <a:endParaRPr lang="en-US" sz="1600" dirty="0"/>
          </a:p>
          <a:p>
            <a:pPr indent="0" marL="0">
              <a:buNone/>
            </a:pPr>
            <a:endParaRPr lang="en-US" sz="1600" dirty="0"/>
          </a:p>
          <a:p>
            <a:pPr indent="0" marL="0">
              <a:buNone/>
            </a:pPr>
            <a:r>
              <a:rPr lang="en-US" sz="1600" dirty="0">
                <a:solidFill>
                  <a:srgbClr val="F4F6FB"/>
                </a:solidFill>
                <a:latin typeface="Calibri" pitchFamily="34" charset="0"/>
                <a:ea typeface="Calibri" pitchFamily="34" charset="-122"/>
                <a:cs typeface="Calibri" pitchFamily="34" charset="-120"/>
              </a:rPr>
              <a:t>CrowdStrike proves it happens. A local incident proves it happens here, to systems built by people like them - which is the version that changes behaviour.</a:t>
            </a:r>
            <a:endParaRPr lang="en-US" sz="1600" dirty="0"/>
          </a:p>
        </p:txBody>
      </p:sp>
      <p:sp>
        <p:nvSpPr>
          <p:cNvPr id="10" name="Text 7"/>
          <p:cNvSpPr/>
          <p:nvPr/>
        </p:nvSpPr>
        <p:spPr>
          <a:xfrm>
            <a:off x="594360" y="5394960"/>
            <a:ext cx="10881360" cy="365760"/>
          </a:xfrm>
          <a:prstGeom prst="rect">
            <a:avLst/>
          </a:prstGeom>
          <a:noFill/>
          <a:ln/>
        </p:spPr>
        <p:txBody>
          <a:bodyPr wrap="square" lIns="0" tIns="0" rIns="0" bIns="0" rtlCol="0" anchor="ctr"/>
          <a:lstStyle/>
          <a:p>
            <a:pPr indent="0" marL="0">
              <a:buNone/>
            </a:pPr>
            <a:r>
              <a:rPr lang="en-US" sz="1300" i="1" dirty="0">
                <a:solidFill>
                  <a:srgbClr val="8A99BF"/>
                </a:solidFill>
                <a:latin typeface="Calibri" pitchFamily="34" charset="0"/>
                <a:ea typeface="Calibri" pitchFamily="34" charset="-122"/>
                <a:cs typeface="Calibri" pitchFamily="34" charset="-120"/>
              </a:rPr>
              <a:t>Only present a figure you can defend out loud. If you cannot source it, cut this slide.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9"/>
        </a:solidFill>
      </p:bgPr>
    </p:bg>
    <p:spTree>
      <p:nvGrpSpPr>
        <p:cNvPr id="1" name=""/>
        <p:cNvGrpSpPr/>
        <p:nvPr/>
      </p:nvGrpSpPr>
      <p:grpSpPr>
        <a:xfrm>
          <a:off x="0" y="0"/>
          <a:ext cx="0" cy="0"/>
          <a:chOff x="0" y="0"/>
          <a:chExt cx="0" cy="0"/>
        </a:xfrm>
      </p:grpSpPr>
      <p:sp>
        <p:nvSpPr>
          <p:cNvPr id="3" name="Shape 0"/>
          <p:cNvSpPr/>
          <p:nvPr/>
        </p:nvSpPr>
        <p:spPr>
          <a:xfrm>
            <a:off x="0" y="0"/>
            <a:ext cx="12161520" cy="6858000"/>
          </a:xfrm>
          <a:prstGeom prst="rect">
            <a:avLst/>
          </a:prstGeom>
          <a:solidFill>
            <a:srgbClr val="0A1229"/>
          </a:solidFill>
          <a:ln/>
        </p:spPr>
      </p:sp>
      <p:sp>
        <p:nvSpPr>
          <p:cNvPr id="4" name="Shape 1"/>
          <p:cNvSpPr/>
          <p:nvPr/>
        </p:nvSpPr>
        <p:spPr>
          <a:xfrm>
            <a:off x="8778240" y="-1463040"/>
            <a:ext cx="5669280" cy="5669280"/>
          </a:xfrm>
          <a:prstGeom prst="ellipse">
            <a:avLst/>
          </a:prstGeom>
          <a:solidFill>
            <a:srgbClr val="0755E9"/>
          </a:solidFill>
          <a:ln/>
        </p:spPr>
      </p:sp>
      <p:sp>
        <p:nvSpPr>
          <p:cNvPr id="5" name="Shape 2"/>
          <p:cNvSpPr/>
          <p:nvPr/>
        </p:nvSpPr>
        <p:spPr>
          <a:xfrm>
            <a:off x="10424160" y="4114800"/>
            <a:ext cx="2377440" cy="2377440"/>
          </a:xfrm>
          <a:prstGeom prst="ellipse">
            <a:avLst/>
          </a:prstGeom>
          <a:solidFill>
            <a:srgbClr val="EE4001"/>
          </a:solidFill>
          <a:ln/>
        </p:spPr>
      </p:sp>
      <p:sp>
        <p:nvSpPr>
          <p:cNvPr id="6" name="Text 3"/>
          <p:cNvSpPr/>
          <p:nvPr/>
        </p:nvSpPr>
        <p:spPr>
          <a:xfrm>
            <a:off x="594360" y="1965960"/>
            <a:ext cx="7863840" cy="1737360"/>
          </a:xfrm>
          <a:prstGeom prst="rect">
            <a:avLst/>
          </a:prstGeom>
          <a:noFill/>
          <a:ln/>
        </p:spPr>
        <p:txBody>
          <a:bodyPr wrap="square" lIns="0" tIns="0" rIns="0" bIns="0" rtlCol="0" anchor="ctr"/>
          <a:lstStyle/>
          <a:p>
            <a:pPr indent="0" marL="0">
              <a:lnSpc>
                <a:spcPts val="4600"/>
              </a:lnSpc>
              <a:buNone/>
            </a:pPr>
            <a:r>
              <a:rPr lang="en-US" sz="4200" b="1" dirty="0">
                <a:solidFill>
                  <a:srgbClr val="F4F6FB"/>
                </a:solidFill>
                <a:latin typeface="Calibri" pitchFamily="34" charset="0"/>
                <a:ea typeface="Calibri" pitchFamily="34" charset="-122"/>
                <a:cs typeface="Calibri" pitchFamily="34" charset="-120"/>
              </a:rPr>
              <a:t>DevOps, Cloud, SRE</a:t>
            </a:r>
            <a:endParaRPr lang="en-US" sz="4200" dirty="0"/>
          </a:p>
          <a:p>
            <a:pPr indent="0" marL="0">
              <a:lnSpc>
                <a:spcPts val="4600"/>
              </a:lnSpc>
              <a:buNone/>
            </a:pPr>
            <a:r>
              <a:rPr lang="en-US" sz="4200" b="1" dirty="0">
                <a:solidFill>
                  <a:srgbClr val="F4F6FB"/>
                </a:solidFill>
                <a:latin typeface="Calibri" pitchFamily="34" charset="0"/>
                <a:ea typeface="Calibri" pitchFamily="34" charset="-122"/>
                <a:cs typeface="Calibri" pitchFamily="34" charset="-120"/>
              </a:rPr>
              <a:t>&amp; Platform Engineering</a:t>
            </a:r>
            <a:endParaRPr lang="en-US" sz="4200" dirty="0"/>
          </a:p>
        </p:txBody>
      </p:sp>
      <p:sp>
        <p:nvSpPr>
          <p:cNvPr id="7" name="Text 4"/>
          <p:cNvSpPr/>
          <p:nvPr/>
        </p:nvSpPr>
        <p:spPr>
          <a:xfrm>
            <a:off x="594360" y="3886200"/>
            <a:ext cx="7863840" cy="457200"/>
          </a:xfrm>
          <a:prstGeom prst="rect">
            <a:avLst/>
          </a:prstGeom>
          <a:noFill/>
          <a:ln/>
        </p:spPr>
        <p:txBody>
          <a:bodyPr wrap="square" lIns="0" tIns="0" rIns="0" bIns="0" rtlCol="0" anchor="ctr"/>
          <a:lstStyle/>
          <a:p>
            <a:pPr indent="0" marL="0">
              <a:buNone/>
            </a:pPr>
            <a:r>
              <a:rPr lang="en-US" sz="2000" dirty="0">
                <a:solidFill>
                  <a:srgbClr val="5B8CF0"/>
                </a:solidFill>
                <a:latin typeface="Calibri" pitchFamily="34" charset="0"/>
                <a:ea typeface="Calibri" pitchFamily="34" charset="-122"/>
                <a:cs typeface="Calibri" pitchFamily="34" charset="-120"/>
              </a:rPr>
              <a:t>Intern Rotation 2026  |  tkxel</a:t>
            </a:r>
            <a:endParaRPr lang="en-US" sz="2000" dirty="0"/>
          </a:p>
        </p:txBody>
      </p:sp>
      <p:sp>
        <p:nvSpPr>
          <p:cNvPr id="8" name="Text 5"/>
          <p:cNvSpPr/>
          <p:nvPr/>
        </p:nvSpPr>
        <p:spPr>
          <a:xfrm>
            <a:off x="594360" y="4480560"/>
            <a:ext cx="7863840" cy="457200"/>
          </a:xfrm>
          <a:prstGeom prst="rect">
            <a:avLst/>
          </a:prstGeom>
          <a:noFill/>
          <a:ln/>
        </p:spPr>
        <p:txBody>
          <a:bodyPr wrap="square" lIns="0" tIns="0" rIns="0" bIns="0" rtlCol="0" anchor="ctr"/>
          <a:lstStyle/>
          <a:p>
            <a:pPr indent="0" marL="0">
              <a:buNone/>
            </a:pPr>
            <a:r>
              <a:rPr lang="en-US" sz="1500" dirty="0">
                <a:solidFill>
                  <a:srgbClr val="8A99BF"/>
                </a:solidFill>
                <a:latin typeface="Calibri" pitchFamily="34" charset="0"/>
                <a:ea typeface="Calibri" pitchFamily="34" charset="-122"/>
                <a:cs typeface="Calibri" pitchFamily="34" charset="-120"/>
              </a:rPr>
              <a:t>Two hours today. Six days of keyboards after that.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B"/>
        </a:solidFill>
      </p:bgPr>
    </p:bg>
    <p:spTree>
      <p:nvGrpSpPr>
        <p:cNvPr id="1" name=""/>
        <p:cNvGrpSpPr/>
        <p:nvPr/>
      </p:nvGrpSpPr>
      <p:grpSpPr>
        <a:xfrm>
          <a:off x="0" y="0"/>
          <a:ext cx="0" cy="0"/>
          <a:chOff x="0" y="0"/>
          <a:chExt cx="0" cy="0"/>
        </a:xfrm>
      </p:grpSpPr>
      <p:sp>
        <p:nvSpPr>
          <p:cNvPr id="3" name="Shape 0"/>
          <p:cNvSpPr/>
          <p:nvPr/>
        </p:nvSpPr>
        <p:spPr>
          <a:xfrm>
            <a:off x="594360" y="384048"/>
            <a:ext cx="384048" cy="384048"/>
          </a:xfrm>
          <a:prstGeom prst="ellipse">
            <a:avLst/>
          </a:prstGeom>
          <a:solidFill>
            <a:srgbClr val="0755E9"/>
          </a:solidFill>
          <a:ln/>
        </p:spPr>
      </p:sp>
      <p:sp>
        <p:nvSpPr>
          <p:cNvPr id="4" name="Text 1"/>
          <p:cNvSpPr/>
          <p:nvPr/>
        </p:nvSpPr>
        <p:spPr>
          <a:xfrm>
            <a:off x="59436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5" name="Text 2"/>
          <p:cNvSpPr/>
          <p:nvPr/>
        </p:nvSpPr>
        <p:spPr>
          <a:xfrm>
            <a:off x="1097280" y="384048"/>
            <a:ext cx="7772400" cy="384048"/>
          </a:xfrm>
          <a:prstGeom prst="rect">
            <a:avLst/>
          </a:prstGeom>
          <a:noFill/>
          <a:ln/>
        </p:spPr>
        <p:txBody>
          <a:bodyPr wrap="square" lIns="0" tIns="0" rIns="0" bIns="0" rtlCol="0" anchor="ctr"/>
          <a:lstStyle/>
          <a:p>
            <a:pPr indent="0" marL="0">
              <a:buNone/>
            </a:pPr>
            <a:r>
              <a:rPr lang="en-US" sz="1100" b="1" spc="200" kern="0" dirty="0">
                <a:solidFill>
                  <a:srgbClr val="5A6890"/>
                </a:solidFill>
                <a:latin typeface="Calibri" pitchFamily="34" charset="0"/>
                <a:ea typeface="Calibri" pitchFamily="34" charset="-122"/>
                <a:cs typeface="Calibri" pitchFamily="34" charset="-120"/>
              </a:rPr>
              <a:t>WHO IS TALKING</a:t>
            </a:r>
            <a:endParaRPr lang="en-US" sz="1100" dirty="0"/>
          </a:p>
        </p:txBody>
      </p:sp>
      <p:sp>
        <p:nvSpPr>
          <p:cNvPr id="6" name="Text 3"/>
          <p:cNvSpPr/>
          <p:nvPr/>
        </p:nvSpPr>
        <p:spPr>
          <a:xfrm>
            <a:off x="594360" y="960120"/>
            <a:ext cx="10881360" cy="914400"/>
          </a:xfrm>
          <a:prstGeom prst="rect">
            <a:avLst/>
          </a:prstGeom>
          <a:noFill/>
          <a:ln/>
        </p:spPr>
        <p:txBody>
          <a:bodyPr wrap="square" lIns="0" tIns="0" rIns="0" bIns="0" rtlCol="0" anchor="t"/>
          <a:lstStyle/>
          <a:p>
            <a:pPr indent="0" marL="0">
              <a:buNone/>
            </a:pPr>
            <a:r>
              <a:rPr lang="en-US" sz="3600" b="1" dirty="0">
                <a:solidFill>
                  <a:srgbClr val="0A1229"/>
                </a:solidFill>
                <a:latin typeface="Calibri" pitchFamily="34" charset="0"/>
                <a:ea typeface="Calibri" pitchFamily="34" charset="-122"/>
                <a:cs typeface="Calibri" pitchFamily="34" charset="-120"/>
              </a:rPr>
              <a:t>Adeel Arshad</a:t>
            </a:r>
            <a:endParaRPr lang="en-US" sz="3600" dirty="0"/>
          </a:p>
        </p:txBody>
      </p:sp>
      <p:sp>
        <p:nvSpPr>
          <p:cNvPr id="7" name="Text 4"/>
          <p:cNvSpPr/>
          <p:nvPr/>
        </p:nvSpPr>
        <p:spPr>
          <a:xfrm>
            <a:off x="594360" y="1783080"/>
            <a:ext cx="6858000" cy="411480"/>
          </a:xfrm>
          <a:prstGeom prst="rect">
            <a:avLst/>
          </a:prstGeom>
          <a:noFill/>
          <a:ln/>
        </p:spPr>
        <p:txBody>
          <a:bodyPr wrap="square" lIns="0" tIns="0" rIns="0" bIns="0" rtlCol="0" anchor="ctr"/>
          <a:lstStyle/>
          <a:p>
            <a:pPr indent="0" marL="0">
              <a:buNone/>
            </a:pPr>
            <a:r>
              <a:rPr lang="en-US" sz="1900" dirty="0">
                <a:solidFill>
                  <a:srgbClr val="0755E9"/>
                </a:solidFill>
                <a:latin typeface="Calibri" pitchFamily="34" charset="0"/>
                <a:ea typeface="Calibri" pitchFamily="34" charset="-122"/>
                <a:cs typeface="Calibri" pitchFamily="34" charset="-120"/>
              </a:rPr>
              <a:t>Head of DevOps &amp; Cloud, tkxel</a:t>
            </a:r>
            <a:endParaRPr lang="en-US" sz="1900" dirty="0"/>
          </a:p>
        </p:txBody>
      </p:sp>
      <p:sp>
        <p:nvSpPr>
          <p:cNvPr id="8" name="Shape 5"/>
          <p:cNvSpPr/>
          <p:nvPr/>
        </p:nvSpPr>
        <p:spPr>
          <a:xfrm>
            <a:off x="594360" y="2514600"/>
            <a:ext cx="3383280" cy="1783080"/>
          </a:xfrm>
          <a:prstGeom prst="roundRect">
            <a:avLst>
              <a:gd name="adj" fmla="val 4103"/>
            </a:avLst>
          </a:prstGeom>
          <a:solidFill>
            <a:srgbClr val="E4E9F5"/>
          </a:solidFill>
          <a:ln w="12700">
            <a:solidFill>
              <a:srgbClr val="E4E9F5"/>
            </a:solidFill>
            <a:prstDash val="solid"/>
          </a:ln>
        </p:spPr>
      </p:sp>
      <p:sp>
        <p:nvSpPr>
          <p:cNvPr id="9" name="Text 6"/>
          <p:cNvSpPr/>
          <p:nvPr/>
        </p:nvSpPr>
        <p:spPr>
          <a:xfrm>
            <a:off x="868680" y="2697480"/>
            <a:ext cx="2834640" cy="594360"/>
          </a:xfrm>
          <a:prstGeom prst="rect">
            <a:avLst/>
          </a:prstGeom>
          <a:noFill/>
          <a:ln/>
        </p:spPr>
        <p:txBody>
          <a:bodyPr wrap="square" lIns="0" tIns="0" rIns="0" bIns="0" rtlCol="0" anchor="ctr"/>
          <a:lstStyle/>
          <a:p>
            <a:pPr indent="0" marL="0">
              <a:buNone/>
            </a:pPr>
            <a:r>
              <a:rPr lang="en-US" sz="3000" b="1" dirty="0">
                <a:solidFill>
                  <a:srgbClr val="EE4001"/>
                </a:solidFill>
                <a:latin typeface="Calibri" pitchFamily="34" charset="0"/>
                <a:ea typeface="Calibri" pitchFamily="34" charset="-122"/>
                <a:cs typeface="Calibri" pitchFamily="34" charset="-120"/>
              </a:rPr>
              <a:t>20+</a:t>
            </a:r>
            <a:endParaRPr lang="en-US" sz="3000" dirty="0"/>
          </a:p>
        </p:txBody>
      </p:sp>
      <p:sp>
        <p:nvSpPr>
          <p:cNvPr id="10" name="Text 7"/>
          <p:cNvSpPr/>
          <p:nvPr/>
        </p:nvSpPr>
        <p:spPr>
          <a:xfrm>
            <a:off x="868680" y="3337560"/>
            <a:ext cx="2834640" cy="822960"/>
          </a:xfrm>
          <a:prstGeom prst="rect">
            <a:avLst/>
          </a:prstGeom>
          <a:noFill/>
          <a:ln/>
        </p:spPr>
        <p:txBody>
          <a:bodyPr wrap="square" lIns="0" tIns="0" rIns="0" bIns="0" rtlCol="0" anchor="ctr"/>
          <a:lstStyle/>
          <a:p>
            <a:pPr indent="0" marL="0">
              <a:buNone/>
            </a:pPr>
            <a:r>
              <a:rPr lang="en-US" sz="1200" dirty="0">
                <a:solidFill>
                  <a:srgbClr val="0A1229"/>
                </a:solidFill>
                <a:latin typeface="Calibri" pitchFamily="34" charset="0"/>
                <a:ea typeface="Calibri" pitchFamily="34" charset="-122"/>
                <a:cs typeface="Calibri" pitchFamily="34" charset="-120"/>
              </a:rPr>
              <a:t>years across full-stack, DevOps, SRE,</a:t>
            </a:r>
            <a:endParaRPr lang="en-US" sz="1200" dirty="0"/>
          </a:p>
          <a:p>
            <a:pPr indent="0" marL="0">
              <a:buNone/>
            </a:pPr>
            <a:r>
              <a:rPr lang="en-US" sz="1200" dirty="0">
                <a:solidFill>
                  <a:srgbClr val="0A1229"/>
                </a:solidFill>
                <a:latin typeface="Calibri" pitchFamily="34" charset="0"/>
                <a:ea typeface="Calibri" pitchFamily="34" charset="-122"/>
                <a:cs typeface="Calibri" pitchFamily="34" charset="-120"/>
              </a:rPr>
              <a:t>cloud architecture, and CTO/CEO roles</a:t>
            </a:r>
            <a:endParaRPr lang="en-US" sz="1200" dirty="0"/>
          </a:p>
        </p:txBody>
      </p:sp>
      <p:sp>
        <p:nvSpPr>
          <p:cNvPr id="11" name="Shape 8"/>
          <p:cNvSpPr/>
          <p:nvPr/>
        </p:nvSpPr>
        <p:spPr>
          <a:xfrm>
            <a:off x="4251960" y="2514600"/>
            <a:ext cx="3383280" cy="1783080"/>
          </a:xfrm>
          <a:prstGeom prst="roundRect">
            <a:avLst>
              <a:gd name="adj" fmla="val 4103"/>
            </a:avLst>
          </a:prstGeom>
          <a:solidFill>
            <a:srgbClr val="E4E9F5"/>
          </a:solidFill>
          <a:ln w="12700">
            <a:solidFill>
              <a:srgbClr val="E4E9F5"/>
            </a:solidFill>
            <a:prstDash val="solid"/>
          </a:ln>
        </p:spPr>
      </p:sp>
      <p:sp>
        <p:nvSpPr>
          <p:cNvPr id="12" name="Text 9"/>
          <p:cNvSpPr/>
          <p:nvPr/>
        </p:nvSpPr>
        <p:spPr>
          <a:xfrm>
            <a:off x="4526280" y="2697480"/>
            <a:ext cx="2834640" cy="594360"/>
          </a:xfrm>
          <a:prstGeom prst="rect">
            <a:avLst/>
          </a:prstGeom>
          <a:noFill/>
          <a:ln/>
        </p:spPr>
        <p:txBody>
          <a:bodyPr wrap="square" lIns="0" tIns="0" rIns="0" bIns="0" rtlCol="0" anchor="ctr"/>
          <a:lstStyle/>
          <a:p>
            <a:pPr indent="0" marL="0">
              <a:buNone/>
            </a:pPr>
            <a:r>
              <a:rPr lang="en-US" sz="3000" b="1" dirty="0">
                <a:solidFill>
                  <a:srgbClr val="EE4001"/>
                </a:solidFill>
                <a:latin typeface="Calibri" pitchFamily="34" charset="0"/>
                <a:ea typeface="Calibri" pitchFamily="34" charset="-122"/>
                <a:cs typeface="Calibri" pitchFamily="34" charset="-120"/>
              </a:rPr>
              <a:t>CNCF</a:t>
            </a:r>
            <a:endParaRPr lang="en-US" sz="3000" dirty="0"/>
          </a:p>
        </p:txBody>
      </p:sp>
      <p:sp>
        <p:nvSpPr>
          <p:cNvPr id="13" name="Text 10"/>
          <p:cNvSpPr/>
          <p:nvPr/>
        </p:nvSpPr>
        <p:spPr>
          <a:xfrm>
            <a:off x="4526280" y="3337560"/>
            <a:ext cx="2834640" cy="822960"/>
          </a:xfrm>
          <a:prstGeom prst="rect">
            <a:avLst/>
          </a:prstGeom>
          <a:noFill/>
          <a:ln/>
        </p:spPr>
        <p:txBody>
          <a:bodyPr wrap="square" lIns="0" tIns="0" rIns="0" bIns="0" rtlCol="0" anchor="ctr"/>
          <a:lstStyle/>
          <a:p>
            <a:pPr indent="0" marL="0">
              <a:buNone/>
            </a:pPr>
            <a:r>
              <a:rPr lang="en-US" sz="1200" dirty="0">
                <a:solidFill>
                  <a:srgbClr val="0A1229"/>
                </a:solidFill>
                <a:latin typeface="Calibri" pitchFamily="34" charset="0"/>
                <a:ea typeface="Calibri" pitchFamily="34" charset="-122"/>
                <a:cs typeface="Calibri" pitchFamily="34" charset="-120"/>
              </a:rPr>
              <a:t>Kubestronaut - all five Kubernetes</a:t>
            </a:r>
            <a:endParaRPr lang="en-US" sz="1200" dirty="0"/>
          </a:p>
          <a:p>
            <a:pPr indent="0" marL="0">
              <a:buNone/>
            </a:pPr>
            <a:r>
              <a:rPr lang="en-US" sz="1200" dirty="0">
                <a:solidFill>
                  <a:srgbClr val="0A1229"/>
                </a:solidFill>
                <a:latin typeface="Calibri" pitchFamily="34" charset="0"/>
                <a:ea typeface="Calibri" pitchFamily="34" charset="-122"/>
                <a:cs typeface="Calibri" pitchFamily="34" charset="-120"/>
              </a:rPr>
              <a:t>certifications. A few thousand worldwide.</a:t>
            </a:r>
            <a:endParaRPr lang="en-US" sz="1200" dirty="0"/>
          </a:p>
        </p:txBody>
      </p:sp>
      <p:sp>
        <p:nvSpPr>
          <p:cNvPr id="14" name="Shape 11"/>
          <p:cNvSpPr/>
          <p:nvPr/>
        </p:nvSpPr>
        <p:spPr>
          <a:xfrm>
            <a:off x="7909560" y="2514600"/>
            <a:ext cx="3383280" cy="1783080"/>
          </a:xfrm>
          <a:prstGeom prst="roundRect">
            <a:avLst>
              <a:gd name="adj" fmla="val 4103"/>
            </a:avLst>
          </a:prstGeom>
          <a:solidFill>
            <a:srgbClr val="E4E9F5"/>
          </a:solidFill>
          <a:ln w="12700">
            <a:solidFill>
              <a:srgbClr val="E4E9F5"/>
            </a:solidFill>
            <a:prstDash val="solid"/>
          </a:ln>
        </p:spPr>
      </p:sp>
      <p:sp>
        <p:nvSpPr>
          <p:cNvPr id="15" name="Text 12"/>
          <p:cNvSpPr/>
          <p:nvPr/>
        </p:nvSpPr>
        <p:spPr>
          <a:xfrm>
            <a:off x="8183880" y="2697480"/>
            <a:ext cx="2834640" cy="594360"/>
          </a:xfrm>
          <a:prstGeom prst="rect">
            <a:avLst/>
          </a:prstGeom>
          <a:noFill/>
          <a:ln/>
        </p:spPr>
        <p:txBody>
          <a:bodyPr wrap="square" lIns="0" tIns="0" rIns="0" bIns="0" rtlCol="0" anchor="ctr"/>
          <a:lstStyle/>
          <a:p>
            <a:pPr indent="0" marL="0">
              <a:buNone/>
            </a:pPr>
            <a:r>
              <a:rPr lang="en-US" sz="3000" b="1" dirty="0">
                <a:solidFill>
                  <a:srgbClr val="EE4001"/>
                </a:solidFill>
                <a:latin typeface="Calibri" pitchFamily="34" charset="0"/>
                <a:ea typeface="Calibri" pitchFamily="34" charset="-122"/>
                <a:cs typeface="Calibri" pitchFamily="34" charset="-120"/>
              </a:rPr>
              <a:t>30</a:t>
            </a:r>
            <a:endParaRPr lang="en-US" sz="3000" dirty="0"/>
          </a:p>
        </p:txBody>
      </p:sp>
      <p:sp>
        <p:nvSpPr>
          <p:cNvPr id="16" name="Text 13"/>
          <p:cNvSpPr/>
          <p:nvPr/>
        </p:nvSpPr>
        <p:spPr>
          <a:xfrm>
            <a:off x="8183880" y="3337560"/>
            <a:ext cx="2834640" cy="822960"/>
          </a:xfrm>
          <a:prstGeom prst="rect">
            <a:avLst/>
          </a:prstGeom>
          <a:noFill/>
          <a:ln/>
        </p:spPr>
        <p:txBody>
          <a:bodyPr wrap="square" lIns="0" tIns="0" rIns="0" bIns="0" rtlCol="0" anchor="ctr"/>
          <a:lstStyle/>
          <a:p>
            <a:pPr indent="0" marL="0">
              <a:buNone/>
            </a:pPr>
            <a:r>
              <a:rPr lang="en-US" sz="1200" dirty="0">
                <a:solidFill>
                  <a:srgbClr val="0A1229"/>
                </a:solidFill>
                <a:latin typeface="Calibri" pitchFamily="34" charset="0"/>
                <a:ea typeface="Calibri" pitchFamily="34" charset="-122"/>
                <a:cs typeface="Calibri" pitchFamily="34" charset="-120"/>
              </a:rPr>
              <a:t>engineers in the DevOps practice I lead,</a:t>
            </a:r>
            <a:endParaRPr lang="en-US" sz="1200" dirty="0"/>
          </a:p>
          <a:p>
            <a:pPr indent="0" marL="0">
              <a:buNone/>
            </a:pPr>
            <a:r>
              <a:rPr lang="en-US" sz="1200" dirty="0">
                <a:solidFill>
                  <a:srgbClr val="0A1229"/>
                </a:solidFill>
                <a:latin typeface="Calibri" pitchFamily="34" charset="0"/>
                <a:ea typeface="Calibri" pitchFamily="34" charset="-122"/>
                <a:cs typeface="Calibri" pitchFamily="34" charset="-120"/>
              </a:rPr>
              <a:t>from associate to architect</a:t>
            </a:r>
            <a:endParaRPr lang="en-US" sz="1200" dirty="0"/>
          </a:p>
        </p:txBody>
      </p:sp>
      <p:sp>
        <p:nvSpPr>
          <p:cNvPr id="17" name="Text 14"/>
          <p:cNvSpPr/>
          <p:nvPr/>
        </p:nvSpPr>
        <p:spPr>
          <a:xfrm>
            <a:off x="594360" y="4617720"/>
            <a:ext cx="10881360" cy="365760"/>
          </a:xfrm>
          <a:prstGeom prst="rect">
            <a:avLst/>
          </a:prstGeom>
          <a:noFill/>
          <a:ln/>
        </p:spPr>
        <p:txBody>
          <a:bodyPr wrap="square" lIns="0" tIns="0" rIns="0" bIns="0" rtlCol="0" anchor="ctr"/>
          <a:lstStyle/>
          <a:p>
            <a:pPr indent="0" marL="0">
              <a:buNone/>
            </a:pPr>
            <a:r>
              <a:rPr lang="en-US" sz="1400" dirty="0">
                <a:solidFill>
                  <a:srgbClr val="5A6890"/>
                </a:solidFill>
                <a:latin typeface="Calibri" pitchFamily="34" charset="0"/>
                <a:ea typeface="Calibri" pitchFamily="34" charset="-122"/>
                <a:cs typeface="Calibri" pitchFamily="34" charset="-120"/>
              </a:rPr>
              <a:t>I also build open-source cloud tooling - observability, cost intelligence, security posture. Ask me about any of it.</a:t>
            </a:r>
            <a:endParaRPr lang="en-US" sz="1400" dirty="0"/>
          </a:p>
        </p:txBody>
      </p:sp>
      <p:sp>
        <p:nvSpPr>
          <p:cNvPr id="18" name="Shape 15"/>
          <p:cNvSpPr/>
          <p:nvPr/>
        </p:nvSpPr>
        <p:spPr>
          <a:xfrm>
            <a:off x="594360" y="5212080"/>
            <a:ext cx="10881360" cy="914400"/>
          </a:xfrm>
          <a:prstGeom prst="roundRect">
            <a:avLst>
              <a:gd name="adj" fmla="val 8000"/>
            </a:avLst>
          </a:prstGeom>
          <a:solidFill>
            <a:srgbClr val="E4E9F5"/>
          </a:solidFill>
          <a:ln w="12700">
            <a:solidFill>
              <a:srgbClr val="E4E9F5"/>
            </a:solidFill>
            <a:prstDash val="solid"/>
          </a:ln>
        </p:spPr>
      </p:sp>
      <p:sp>
        <p:nvSpPr>
          <p:cNvPr id="19" name="Text 16"/>
          <p:cNvSpPr/>
          <p:nvPr/>
        </p:nvSpPr>
        <p:spPr>
          <a:xfrm>
            <a:off x="914400" y="5212080"/>
            <a:ext cx="10241280" cy="914400"/>
          </a:xfrm>
          <a:prstGeom prst="rect">
            <a:avLst/>
          </a:prstGeom>
          <a:noFill/>
          <a:ln/>
        </p:spPr>
        <p:txBody>
          <a:bodyPr wrap="square" lIns="0" tIns="0" rIns="0" bIns="0" rtlCol="0" anchor="ctr"/>
          <a:lstStyle/>
          <a:p>
            <a:pPr indent="0" marL="0">
              <a:buNone/>
            </a:pPr>
            <a:r>
              <a:rPr lang="en-US" sz="1600" b="1" dirty="0">
                <a:solidFill>
                  <a:srgbClr val="0A1229"/>
                </a:solidFill>
                <a:latin typeface="Calibri" pitchFamily="34" charset="0"/>
                <a:ea typeface="Calibri" pitchFamily="34" charset="-122"/>
                <a:cs typeface="Calibri" pitchFamily="34" charset="-120"/>
              </a:rPr>
              <a:t>Ask me anything this week - including the questions you think are too basic. Especially those.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B"/>
        </a:solidFill>
      </p:bgPr>
    </p:bg>
    <p:spTree>
      <p:nvGrpSpPr>
        <p:cNvPr id="1" name=""/>
        <p:cNvGrpSpPr/>
        <p:nvPr/>
      </p:nvGrpSpPr>
      <p:grpSpPr>
        <a:xfrm>
          <a:off x="0" y="0"/>
          <a:ext cx="0" cy="0"/>
          <a:chOff x="0" y="0"/>
          <a:chExt cx="0" cy="0"/>
        </a:xfrm>
      </p:grpSpPr>
      <p:sp>
        <p:nvSpPr>
          <p:cNvPr id="3" name="Shape 0"/>
          <p:cNvSpPr/>
          <p:nvPr/>
        </p:nvSpPr>
        <p:spPr>
          <a:xfrm>
            <a:off x="594360" y="384048"/>
            <a:ext cx="384048" cy="384048"/>
          </a:xfrm>
          <a:prstGeom prst="ellipse">
            <a:avLst/>
          </a:prstGeom>
          <a:solidFill>
            <a:srgbClr val="0755E9"/>
          </a:solidFill>
          <a:ln/>
        </p:spPr>
      </p:sp>
      <p:sp>
        <p:nvSpPr>
          <p:cNvPr id="4" name="Text 1"/>
          <p:cNvSpPr/>
          <p:nvPr/>
        </p:nvSpPr>
        <p:spPr>
          <a:xfrm>
            <a:off x="59436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5" name="Text 2"/>
          <p:cNvSpPr/>
          <p:nvPr/>
        </p:nvSpPr>
        <p:spPr>
          <a:xfrm>
            <a:off x="1097280" y="384048"/>
            <a:ext cx="7772400" cy="384048"/>
          </a:xfrm>
          <a:prstGeom prst="rect">
            <a:avLst/>
          </a:prstGeom>
          <a:noFill/>
          <a:ln/>
        </p:spPr>
        <p:txBody>
          <a:bodyPr wrap="square" lIns="0" tIns="0" rIns="0" bIns="0" rtlCol="0" anchor="ctr"/>
          <a:lstStyle/>
          <a:p>
            <a:pPr indent="0" marL="0">
              <a:buNone/>
            </a:pPr>
            <a:r>
              <a:rPr lang="en-US" sz="1100" b="1" spc="200" kern="0" dirty="0">
                <a:solidFill>
                  <a:srgbClr val="5A6890"/>
                </a:solidFill>
                <a:latin typeface="Calibri" pitchFamily="34" charset="0"/>
                <a:ea typeface="Calibri" pitchFamily="34" charset="-122"/>
                <a:cs typeface="Calibri" pitchFamily="34" charset="-120"/>
              </a:rPr>
              <a:t>WHO IS TALKING</a:t>
            </a:r>
            <a:endParaRPr lang="en-US" sz="1100" dirty="0"/>
          </a:p>
        </p:txBody>
      </p:sp>
      <p:sp>
        <p:nvSpPr>
          <p:cNvPr id="6" name="Text 3"/>
          <p:cNvSpPr/>
          <p:nvPr/>
        </p:nvSpPr>
        <p:spPr>
          <a:xfrm>
            <a:off x="594360" y="960120"/>
            <a:ext cx="10881360" cy="914400"/>
          </a:xfrm>
          <a:prstGeom prst="rect">
            <a:avLst/>
          </a:prstGeom>
          <a:noFill/>
          <a:ln/>
        </p:spPr>
        <p:txBody>
          <a:bodyPr wrap="square" lIns="0" tIns="0" rIns="0" bIns="0" rtlCol="0" anchor="t"/>
          <a:lstStyle/>
          <a:p>
            <a:pPr indent="0" marL="0">
              <a:buNone/>
            </a:pPr>
            <a:r>
              <a:rPr lang="en-US" sz="3600" b="1" dirty="0">
                <a:solidFill>
                  <a:srgbClr val="0A1229"/>
                </a:solidFill>
                <a:latin typeface="Calibri" pitchFamily="34" charset="0"/>
                <a:ea typeface="Calibri" pitchFamily="34" charset="-122"/>
                <a:cs typeface="Calibri" pitchFamily="34" charset="-120"/>
              </a:rPr>
              <a:t>Before we start - where are you at?</a:t>
            </a:r>
            <a:endParaRPr lang="en-US" sz="3600" dirty="0"/>
          </a:p>
        </p:txBody>
      </p:sp>
      <p:sp>
        <p:nvSpPr>
          <p:cNvPr id="7" name="Text 4"/>
          <p:cNvSpPr/>
          <p:nvPr/>
        </p:nvSpPr>
        <p:spPr>
          <a:xfrm>
            <a:off x="594360" y="1828800"/>
            <a:ext cx="10881360" cy="365760"/>
          </a:xfrm>
          <a:prstGeom prst="rect">
            <a:avLst/>
          </a:prstGeom>
          <a:noFill/>
          <a:ln/>
        </p:spPr>
        <p:txBody>
          <a:bodyPr wrap="square" lIns="0" tIns="0" rIns="0" bIns="0" rtlCol="0" anchor="ctr"/>
          <a:lstStyle/>
          <a:p>
            <a:pPr indent="0" marL="0">
              <a:buNone/>
            </a:pPr>
            <a:r>
              <a:rPr lang="en-US" sz="1600" dirty="0">
                <a:solidFill>
                  <a:srgbClr val="5A6890"/>
                </a:solidFill>
                <a:latin typeface="Calibri" pitchFamily="34" charset="0"/>
                <a:ea typeface="Calibri" pitchFamily="34" charset="-122"/>
                <a:cs typeface="Calibri" pitchFamily="34" charset="-120"/>
              </a:rPr>
              <a:t>Hands up. Be honest, nobody is marking this.</a:t>
            </a:r>
            <a:endParaRPr lang="en-US" sz="1600" dirty="0"/>
          </a:p>
        </p:txBody>
      </p:sp>
      <p:sp>
        <p:nvSpPr>
          <p:cNvPr id="8" name="Shape 5"/>
          <p:cNvSpPr/>
          <p:nvPr/>
        </p:nvSpPr>
        <p:spPr>
          <a:xfrm>
            <a:off x="594360" y="2423160"/>
            <a:ext cx="5257800" cy="777240"/>
          </a:xfrm>
          <a:prstGeom prst="roundRect">
            <a:avLst>
              <a:gd name="adj" fmla="val 9412"/>
            </a:avLst>
          </a:prstGeom>
          <a:solidFill>
            <a:srgbClr val="E4E9F5"/>
          </a:solidFill>
          <a:ln w="12700">
            <a:solidFill>
              <a:srgbClr val="E4E9F5"/>
            </a:solidFill>
            <a:prstDash val="solid"/>
          </a:ln>
        </p:spPr>
      </p:sp>
      <p:sp>
        <p:nvSpPr>
          <p:cNvPr id="9" name="Shape 6"/>
          <p:cNvSpPr/>
          <p:nvPr/>
        </p:nvSpPr>
        <p:spPr>
          <a:xfrm>
            <a:off x="850392" y="2679192"/>
            <a:ext cx="256032" cy="256032"/>
          </a:xfrm>
          <a:prstGeom prst="ellipse">
            <a:avLst/>
          </a:prstGeom>
          <a:solidFill>
            <a:srgbClr val="0755E9"/>
          </a:solidFill>
          <a:ln/>
        </p:spPr>
      </p:sp>
      <p:sp>
        <p:nvSpPr>
          <p:cNvPr id="10" name="Text 7"/>
          <p:cNvSpPr/>
          <p:nvPr/>
        </p:nvSpPr>
        <p:spPr>
          <a:xfrm>
            <a:off x="1252728" y="2423160"/>
            <a:ext cx="4480560" cy="777240"/>
          </a:xfrm>
          <a:prstGeom prst="rect">
            <a:avLst/>
          </a:prstGeom>
          <a:noFill/>
          <a:ln/>
        </p:spPr>
        <p:txBody>
          <a:bodyPr wrap="square" lIns="0" tIns="0" rIns="0" bIns="0" rtlCol="0" anchor="ctr"/>
          <a:lstStyle/>
          <a:p>
            <a:pPr indent="0" marL="0">
              <a:buNone/>
            </a:pPr>
            <a:r>
              <a:rPr lang="en-US" sz="1400" dirty="0">
                <a:solidFill>
                  <a:srgbClr val="0A1229"/>
                </a:solidFill>
                <a:latin typeface="Calibri" pitchFamily="34" charset="0"/>
                <a:ea typeface="Calibri" pitchFamily="34" charset="-122"/>
                <a:cs typeface="Calibri" pitchFamily="34" charset="-120"/>
              </a:rPr>
              <a:t>Excited - I want to automate something</a:t>
            </a:r>
            <a:endParaRPr lang="en-US" sz="1400" dirty="0"/>
          </a:p>
        </p:txBody>
      </p:sp>
      <p:sp>
        <p:nvSpPr>
          <p:cNvPr id="11" name="Shape 8"/>
          <p:cNvSpPr/>
          <p:nvPr/>
        </p:nvSpPr>
        <p:spPr>
          <a:xfrm>
            <a:off x="6172200" y="2423160"/>
            <a:ext cx="5257800" cy="777240"/>
          </a:xfrm>
          <a:prstGeom prst="roundRect">
            <a:avLst>
              <a:gd name="adj" fmla="val 9412"/>
            </a:avLst>
          </a:prstGeom>
          <a:solidFill>
            <a:srgbClr val="E4E9F5"/>
          </a:solidFill>
          <a:ln w="12700">
            <a:solidFill>
              <a:srgbClr val="E4E9F5"/>
            </a:solidFill>
            <a:prstDash val="solid"/>
          </a:ln>
        </p:spPr>
      </p:sp>
      <p:sp>
        <p:nvSpPr>
          <p:cNvPr id="12" name="Shape 9"/>
          <p:cNvSpPr/>
          <p:nvPr/>
        </p:nvSpPr>
        <p:spPr>
          <a:xfrm>
            <a:off x="6428232" y="2679192"/>
            <a:ext cx="256032" cy="256032"/>
          </a:xfrm>
          <a:prstGeom prst="ellipse">
            <a:avLst/>
          </a:prstGeom>
          <a:solidFill>
            <a:srgbClr val="0755E9"/>
          </a:solidFill>
          <a:ln/>
        </p:spPr>
      </p:sp>
      <p:sp>
        <p:nvSpPr>
          <p:cNvPr id="13" name="Text 10"/>
          <p:cNvSpPr/>
          <p:nvPr/>
        </p:nvSpPr>
        <p:spPr>
          <a:xfrm>
            <a:off x="6830568" y="2423160"/>
            <a:ext cx="4480560" cy="777240"/>
          </a:xfrm>
          <a:prstGeom prst="rect">
            <a:avLst/>
          </a:prstGeom>
          <a:noFill/>
          <a:ln/>
        </p:spPr>
        <p:txBody>
          <a:bodyPr wrap="square" lIns="0" tIns="0" rIns="0" bIns="0" rtlCol="0" anchor="ctr"/>
          <a:lstStyle/>
          <a:p>
            <a:pPr indent="0" marL="0">
              <a:buNone/>
            </a:pPr>
            <a:r>
              <a:rPr lang="en-US" sz="1400" dirty="0">
                <a:solidFill>
                  <a:srgbClr val="0A1229"/>
                </a:solidFill>
                <a:latin typeface="Calibri" pitchFamily="34" charset="0"/>
                <a:ea typeface="Calibri" pitchFamily="34" charset="-122"/>
                <a:cs typeface="Calibri" pitchFamily="34" charset="-120"/>
              </a:rPr>
              <a:t>Still processing the last rotation</a:t>
            </a:r>
            <a:endParaRPr lang="en-US" sz="1400" dirty="0"/>
          </a:p>
        </p:txBody>
      </p:sp>
      <p:sp>
        <p:nvSpPr>
          <p:cNvPr id="14" name="Shape 11"/>
          <p:cNvSpPr/>
          <p:nvPr/>
        </p:nvSpPr>
        <p:spPr>
          <a:xfrm>
            <a:off x="594360" y="3383280"/>
            <a:ext cx="5257800" cy="777240"/>
          </a:xfrm>
          <a:prstGeom prst="roundRect">
            <a:avLst>
              <a:gd name="adj" fmla="val 9412"/>
            </a:avLst>
          </a:prstGeom>
          <a:solidFill>
            <a:srgbClr val="E4E9F5"/>
          </a:solidFill>
          <a:ln w="12700">
            <a:solidFill>
              <a:srgbClr val="E4E9F5"/>
            </a:solidFill>
            <a:prstDash val="solid"/>
          </a:ln>
        </p:spPr>
      </p:sp>
      <p:sp>
        <p:nvSpPr>
          <p:cNvPr id="15" name="Shape 12"/>
          <p:cNvSpPr/>
          <p:nvPr/>
        </p:nvSpPr>
        <p:spPr>
          <a:xfrm>
            <a:off x="850392" y="3639312"/>
            <a:ext cx="256032" cy="256032"/>
          </a:xfrm>
          <a:prstGeom prst="ellipse">
            <a:avLst/>
          </a:prstGeom>
          <a:solidFill>
            <a:srgbClr val="0755E9"/>
          </a:solidFill>
          <a:ln/>
        </p:spPr>
      </p:sp>
      <p:sp>
        <p:nvSpPr>
          <p:cNvPr id="16" name="Text 13"/>
          <p:cNvSpPr/>
          <p:nvPr/>
        </p:nvSpPr>
        <p:spPr>
          <a:xfrm>
            <a:off x="1252728" y="3383280"/>
            <a:ext cx="4480560" cy="777240"/>
          </a:xfrm>
          <a:prstGeom prst="rect">
            <a:avLst/>
          </a:prstGeom>
          <a:noFill/>
          <a:ln/>
        </p:spPr>
        <p:txBody>
          <a:bodyPr wrap="square" lIns="0" tIns="0" rIns="0" bIns="0" rtlCol="0" anchor="ctr"/>
          <a:lstStyle/>
          <a:p>
            <a:pPr indent="0" marL="0">
              <a:buNone/>
            </a:pPr>
            <a:r>
              <a:rPr lang="en-US" sz="1400" dirty="0">
                <a:solidFill>
                  <a:srgbClr val="0A1229"/>
                </a:solidFill>
                <a:latin typeface="Calibri" pitchFamily="34" charset="0"/>
                <a:ea typeface="Calibri" pitchFamily="34" charset="-122"/>
                <a:cs typeface="Calibri" pitchFamily="34" charset="-120"/>
              </a:rPr>
              <a:t>Nervous but curious</a:t>
            </a:r>
            <a:endParaRPr lang="en-US" sz="1400" dirty="0"/>
          </a:p>
        </p:txBody>
      </p:sp>
      <p:sp>
        <p:nvSpPr>
          <p:cNvPr id="17" name="Shape 14"/>
          <p:cNvSpPr/>
          <p:nvPr/>
        </p:nvSpPr>
        <p:spPr>
          <a:xfrm>
            <a:off x="6172200" y="3383280"/>
            <a:ext cx="5257800" cy="777240"/>
          </a:xfrm>
          <a:prstGeom prst="roundRect">
            <a:avLst>
              <a:gd name="adj" fmla="val 9412"/>
            </a:avLst>
          </a:prstGeom>
          <a:solidFill>
            <a:srgbClr val="E4E9F5"/>
          </a:solidFill>
          <a:ln w="12700">
            <a:solidFill>
              <a:srgbClr val="E4E9F5"/>
            </a:solidFill>
            <a:prstDash val="solid"/>
          </a:ln>
        </p:spPr>
      </p:sp>
      <p:sp>
        <p:nvSpPr>
          <p:cNvPr id="18" name="Shape 15"/>
          <p:cNvSpPr/>
          <p:nvPr/>
        </p:nvSpPr>
        <p:spPr>
          <a:xfrm>
            <a:off x="6428232" y="3639312"/>
            <a:ext cx="256032" cy="256032"/>
          </a:xfrm>
          <a:prstGeom prst="ellipse">
            <a:avLst/>
          </a:prstGeom>
          <a:solidFill>
            <a:srgbClr val="0755E9"/>
          </a:solidFill>
          <a:ln/>
        </p:spPr>
      </p:sp>
      <p:sp>
        <p:nvSpPr>
          <p:cNvPr id="19" name="Text 16"/>
          <p:cNvSpPr/>
          <p:nvPr/>
        </p:nvSpPr>
        <p:spPr>
          <a:xfrm>
            <a:off x="6830568" y="3383280"/>
            <a:ext cx="4480560" cy="777240"/>
          </a:xfrm>
          <a:prstGeom prst="rect">
            <a:avLst/>
          </a:prstGeom>
          <a:noFill/>
          <a:ln/>
        </p:spPr>
        <p:txBody>
          <a:bodyPr wrap="square" lIns="0" tIns="0" rIns="0" bIns="0" rtlCol="0" anchor="ctr"/>
          <a:lstStyle/>
          <a:p>
            <a:pPr indent="0" marL="0">
              <a:buNone/>
            </a:pPr>
            <a:r>
              <a:rPr lang="en-US" sz="1400" dirty="0">
                <a:solidFill>
                  <a:srgbClr val="0A1229"/>
                </a:solidFill>
                <a:latin typeface="Calibri" pitchFamily="34" charset="0"/>
                <a:ea typeface="Calibri" pitchFamily="34" charset="-122"/>
                <a:cs typeface="Calibri" pitchFamily="34" charset="-120"/>
              </a:rPr>
              <a:t>Here for the tools and the tech</a:t>
            </a:r>
            <a:endParaRPr lang="en-US" sz="1400" dirty="0"/>
          </a:p>
        </p:txBody>
      </p:sp>
      <p:sp>
        <p:nvSpPr>
          <p:cNvPr id="20" name="Shape 17"/>
          <p:cNvSpPr/>
          <p:nvPr/>
        </p:nvSpPr>
        <p:spPr>
          <a:xfrm>
            <a:off x="594360" y="4343400"/>
            <a:ext cx="5257800" cy="777240"/>
          </a:xfrm>
          <a:prstGeom prst="roundRect">
            <a:avLst>
              <a:gd name="adj" fmla="val 9412"/>
            </a:avLst>
          </a:prstGeom>
          <a:solidFill>
            <a:srgbClr val="E4E9F5"/>
          </a:solidFill>
          <a:ln w="12700">
            <a:solidFill>
              <a:srgbClr val="E4E9F5"/>
            </a:solidFill>
            <a:prstDash val="solid"/>
          </a:ln>
        </p:spPr>
      </p:sp>
      <p:sp>
        <p:nvSpPr>
          <p:cNvPr id="21" name="Shape 18"/>
          <p:cNvSpPr/>
          <p:nvPr/>
        </p:nvSpPr>
        <p:spPr>
          <a:xfrm>
            <a:off x="850392" y="4599432"/>
            <a:ext cx="256032" cy="256032"/>
          </a:xfrm>
          <a:prstGeom prst="ellipse">
            <a:avLst/>
          </a:prstGeom>
          <a:solidFill>
            <a:srgbClr val="0755E9"/>
          </a:solidFill>
          <a:ln/>
        </p:spPr>
      </p:sp>
      <p:sp>
        <p:nvSpPr>
          <p:cNvPr id="22" name="Text 19"/>
          <p:cNvSpPr/>
          <p:nvPr/>
        </p:nvSpPr>
        <p:spPr>
          <a:xfrm>
            <a:off x="1252728" y="4343400"/>
            <a:ext cx="4480560" cy="777240"/>
          </a:xfrm>
          <a:prstGeom prst="rect">
            <a:avLst/>
          </a:prstGeom>
          <a:noFill/>
          <a:ln/>
        </p:spPr>
        <p:txBody>
          <a:bodyPr wrap="square" lIns="0" tIns="0" rIns="0" bIns="0" rtlCol="0" anchor="ctr"/>
          <a:lstStyle/>
          <a:p>
            <a:pPr indent="0" marL="0">
              <a:buNone/>
            </a:pPr>
            <a:r>
              <a:rPr lang="en-US" sz="1400" dirty="0">
                <a:solidFill>
                  <a:srgbClr val="0A1229"/>
                </a:solidFill>
                <a:latin typeface="Calibri" pitchFamily="34" charset="0"/>
                <a:ea typeface="Calibri" pitchFamily="34" charset="-122"/>
                <a:cs typeface="Calibri" pitchFamily="34" charset="-120"/>
              </a:rPr>
              <a:t>I want to see how it all connects</a:t>
            </a:r>
            <a:endParaRPr lang="en-US" sz="1400" dirty="0"/>
          </a:p>
        </p:txBody>
      </p:sp>
      <p:sp>
        <p:nvSpPr>
          <p:cNvPr id="23" name="Shape 20"/>
          <p:cNvSpPr/>
          <p:nvPr/>
        </p:nvSpPr>
        <p:spPr>
          <a:xfrm>
            <a:off x="6172200" y="4343400"/>
            <a:ext cx="5257800" cy="777240"/>
          </a:xfrm>
          <a:prstGeom prst="roundRect">
            <a:avLst>
              <a:gd name="adj" fmla="val 9412"/>
            </a:avLst>
          </a:prstGeom>
          <a:solidFill>
            <a:srgbClr val="E4E9F5"/>
          </a:solidFill>
          <a:ln w="12700">
            <a:solidFill>
              <a:srgbClr val="E4E9F5"/>
            </a:solidFill>
            <a:prstDash val="solid"/>
          </a:ln>
        </p:spPr>
      </p:sp>
      <p:sp>
        <p:nvSpPr>
          <p:cNvPr id="24" name="Shape 21"/>
          <p:cNvSpPr/>
          <p:nvPr/>
        </p:nvSpPr>
        <p:spPr>
          <a:xfrm>
            <a:off x="6428232" y="4599432"/>
            <a:ext cx="256032" cy="256032"/>
          </a:xfrm>
          <a:prstGeom prst="ellipse">
            <a:avLst/>
          </a:prstGeom>
          <a:solidFill>
            <a:srgbClr val="0755E9"/>
          </a:solidFill>
          <a:ln/>
        </p:spPr>
      </p:sp>
      <p:sp>
        <p:nvSpPr>
          <p:cNvPr id="25" name="Text 22"/>
          <p:cNvSpPr/>
          <p:nvPr/>
        </p:nvSpPr>
        <p:spPr>
          <a:xfrm>
            <a:off x="6830568" y="4343400"/>
            <a:ext cx="4480560" cy="777240"/>
          </a:xfrm>
          <a:prstGeom prst="rect">
            <a:avLst/>
          </a:prstGeom>
          <a:noFill/>
          <a:ln/>
        </p:spPr>
        <p:txBody>
          <a:bodyPr wrap="square" lIns="0" tIns="0" rIns="0" bIns="0" rtlCol="0" anchor="ctr"/>
          <a:lstStyle/>
          <a:p>
            <a:pPr indent="0" marL="0">
              <a:buNone/>
            </a:pPr>
            <a:r>
              <a:rPr lang="en-US" sz="1400" dirty="0">
                <a:solidFill>
                  <a:srgbClr val="0A1229"/>
                </a:solidFill>
                <a:latin typeface="Calibri" pitchFamily="34" charset="0"/>
                <a:ea typeface="Calibri" pitchFamily="34" charset="-122"/>
                <a:cs typeface="Calibri" pitchFamily="34" charset="-120"/>
              </a:rPr>
              <a:t>No idea what DevOps actually is</a:t>
            </a:r>
            <a:endParaRPr lang="en-US" sz="1400" dirty="0"/>
          </a:p>
        </p:txBody>
      </p:sp>
      <p:sp>
        <p:nvSpPr>
          <p:cNvPr id="26" name="Text 23"/>
          <p:cNvSpPr/>
          <p:nvPr/>
        </p:nvSpPr>
        <p:spPr>
          <a:xfrm>
            <a:off x="594360" y="5577840"/>
            <a:ext cx="10881360" cy="365760"/>
          </a:xfrm>
          <a:prstGeom prst="rect">
            <a:avLst/>
          </a:prstGeom>
          <a:noFill/>
          <a:ln/>
        </p:spPr>
        <p:txBody>
          <a:bodyPr wrap="square" lIns="0" tIns="0" rIns="0" bIns="0" rtlCol="0" anchor="ctr"/>
          <a:lstStyle/>
          <a:p>
            <a:pPr indent="0" marL="0">
              <a:buNone/>
            </a:pPr>
            <a:r>
              <a:rPr lang="en-US" sz="1400" i="1" dirty="0">
                <a:solidFill>
                  <a:srgbClr val="5A6890"/>
                </a:solidFill>
                <a:latin typeface="Calibri" pitchFamily="34" charset="0"/>
                <a:ea typeface="Calibri" pitchFamily="34" charset="-122"/>
                <a:cs typeface="Calibri" pitchFamily="34" charset="-120"/>
              </a:rPr>
              <a:t>The last one is the correct answer, by the way. Everyone else is guessing too.</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B"/>
        </a:solidFill>
      </p:bgPr>
    </p:bg>
    <p:spTree>
      <p:nvGrpSpPr>
        <p:cNvPr id="1" name=""/>
        <p:cNvGrpSpPr/>
        <p:nvPr/>
      </p:nvGrpSpPr>
      <p:grpSpPr>
        <a:xfrm>
          <a:off x="0" y="0"/>
          <a:ext cx="0" cy="0"/>
          <a:chOff x="0" y="0"/>
          <a:chExt cx="0" cy="0"/>
        </a:xfrm>
      </p:grpSpPr>
      <p:sp>
        <p:nvSpPr>
          <p:cNvPr id="3" name="Shape 0"/>
          <p:cNvSpPr/>
          <p:nvPr/>
        </p:nvSpPr>
        <p:spPr>
          <a:xfrm>
            <a:off x="594360" y="384048"/>
            <a:ext cx="384048" cy="384048"/>
          </a:xfrm>
          <a:prstGeom prst="ellipse">
            <a:avLst/>
          </a:prstGeom>
          <a:solidFill>
            <a:srgbClr val="0755E9"/>
          </a:solidFill>
          <a:ln/>
        </p:spPr>
      </p:sp>
      <p:sp>
        <p:nvSpPr>
          <p:cNvPr id="4" name="Text 1"/>
          <p:cNvSpPr/>
          <p:nvPr/>
        </p:nvSpPr>
        <p:spPr>
          <a:xfrm>
            <a:off x="59436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5" name="Text 2"/>
          <p:cNvSpPr/>
          <p:nvPr/>
        </p:nvSpPr>
        <p:spPr>
          <a:xfrm>
            <a:off x="1097280" y="384048"/>
            <a:ext cx="7772400" cy="384048"/>
          </a:xfrm>
          <a:prstGeom prst="rect">
            <a:avLst/>
          </a:prstGeom>
          <a:noFill/>
          <a:ln/>
        </p:spPr>
        <p:txBody>
          <a:bodyPr wrap="square" lIns="0" tIns="0" rIns="0" bIns="0" rtlCol="0" anchor="ctr"/>
          <a:lstStyle/>
          <a:p>
            <a:pPr indent="0" marL="0">
              <a:buNone/>
            </a:pPr>
            <a:r>
              <a:rPr lang="en-US" sz="1100" b="1" spc="200" kern="0" dirty="0">
                <a:solidFill>
                  <a:srgbClr val="5A6890"/>
                </a:solidFill>
                <a:latin typeface="Calibri" pitchFamily="34" charset="0"/>
                <a:ea typeface="Calibri" pitchFamily="34" charset="-122"/>
                <a:cs typeface="Calibri" pitchFamily="34" charset="-120"/>
              </a:rPr>
              <a:t>THE SYSTEM</a:t>
            </a:r>
            <a:endParaRPr lang="en-US" sz="1100" dirty="0"/>
          </a:p>
        </p:txBody>
      </p:sp>
      <p:sp>
        <p:nvSpPr>
          <p:cNvPr id="6" name="Text 3"/>
          <p:cNvSpPr/>
          <p:nvPr/>
        </p:nvSpPr>
        <p:spPr>
          <a:xfrm>
            <a:off x="594360" y="960120"/>
            <a:ext cx="10881360" cy="914400"/>
          </a:xfrm>
          <a:prstGeom prst="rect">
            <a:avLst/>
          </a:prstGeom>
          <a:noFill/>
          <a:ln/>
        </p:spPr>
        <p:txBody>
          <a:bodyPr wrap="square" lIns="0" tIns="0" rIns="0" bIns="0" rtlCol="0" anchor="t"/>
          <a:lstStyle/>
          <a:p>
            <a:pPr indent="0" marL="0">
              <a:buNone/>
            </a:pPr>
            <a:r>
              <a:rPr lang="en-US" sz="3600" b="1" dirty="0">
                <a:solidFill>
                  <a:srgbClr val="0A1229"/>
                </a:solidFill>
                <a:latin typeface="Calibri" pitchFamily="34" charset="0"/>
                <a:ea typeface="Calibri" pitchFamily="34" charset="-122"/>
                <a:cs typeface="Calibri" pitchFamily="34" charset="-120"/>
              </a:rPr>
              <a:t>Meet Daig</a:t>
            </a:r>
            <a:endParaRPr lang="en-US" sz="3600" dirty="0"/>
          </a:p>
        </p:txBody>
      </p:sp>
      <p:sp>
        <p:nvSpPr>
          <p:cNvPr id="7" name="Text 4"/>
          <p:cNvSpPr/>
          <p:nvPr/>
        </p:nvSpPr>
        <p:spPr>
          <a:xfrm>
            <a:off x="594360" y="1783080"/>
            <a:ext cx="10881360" cy="457200"/>
          </a:xfrm>
          <a:prstGeom prst="rect">
            <a:avLst/>
          </a:prstGeom>
          <a:noFill/>
          <a:ln/>
        </p:spPr>
        <p:txBody>
          <a:bodyPr wrap="square" lIns="0" tIns="0" rIns="0" bIns="0" rtlCol="0" anchor="ctr"/>
          <a:lstStyle/>
          <a:p>
            <a:pPr indent="0" marL="0">
              <a:buNone/>
            </a:pPr>
            <a:r>
              <a:rPr lang="en-US" sz="1600" dirty="0">
                <a:solidFill>
                  <a:srgbClr val="5A6890"/>
                </a:solidFill>
                <a:latin typeface="Calibri" pitchFamily="34" charset="0"/>
                <a:ea typeface="Calibri" pitchFamily="34" charset="-122"/>
                <a:cs typeface="Calibri" pitchFamily="34" charset="-120"/>
              </a:rPr>
              <a:t>Food delivery. Three services, one database, one payment integration. This is the system you will break and fix all week.</a:t>
            </a:r>
            <a:endParaRPr lang="en-US" sz="1600" dirty="0"/>
          </a:p>
        </p:txBody>
      </p:sp>
      <p:sp>
        <p:nvSpPr>
          <p:cNvPr id="8" name="Shape 5"/>
          <p:cNvSpPr/>
          <p:nvPr/>
        </p:nvSpPr>
        <p:spPr>
          <a:xfrm>
            <a:off x="594360" y="2514600"/>
            <a:ext cx="3383280" cy="1554480"/>
          </a:xfrm>
          <a:prstGeom prst="roundRect">
            <a:avLst>
              <a:gd name="adj" fmla="val 4706"/>
            </a:avLst>
          </a:prstGeom>
          <a:solidFill>
            <a:srgbClr val="FFFFFF"/>
          </a:solidFill>
          <a:ln w="22225">
            <a:solidFill>
              <a:srgbClr val="0755E9"/>
            </a:solidFill>
            <a:prstDash val="solid"/>
          </a:ln>
        </p:spPr>
      </p:sp>
      <p:sp>
        <p:nvSpPr>
          <p:cNvPr id="9" name="Text 6"/>
          <p:cNvSpPr/>
          <p:nvPr/>
        </p:nvSpPr>
        <p:spPr>
          <a:xfrm>
            <a:off x="868680" y="2697480"/>
            <a:ext cx="2834640" cy="411480"/>
          </a:xfrm>
          <a:prstGeom prst="rect">
            <a:avLst/>
          </a:prstGeom>
          <a:noFill/>
          <a:ln/>
        </p:spPr>
        <p:txBody>
          <a:bodyPr wrap="square" lIns="0" tIns="0" rIns="0" bIns="0" rtlCol="0" anchor="ctr"/>
          <a:lstStyle/>
          <a:p>
            <a:pPr indent="0" marL="0">
              <a:buNone/>
            </a:pPr>
            <a:r>
              <a:rPr lang="en-US" sz="2000" b="1" dirty="0">
                <a:solidFill>
                  <a:srgbClr val="0755E9"/>
                </a:solidFill>
                <a:latin typeface="Calibri" pitchFamily="34" charset="0"/>
                <a:ea typeface="Calibri" pitchFamily="34" charset="-122"/>
                <a:cs typeface="Calibri" pitchFamily="34" charset="-120"/>
              </a:rPr>
              <a:t>Orders</a:t>
            </a:r>
            <a:endParaRPr lang="en-US" sz="2000" dirty="0"/>
          </a:p>
        </p:txBody>
      </p:sp>
      <p:sp>
        <p:nvSpPr>
          <p:cNvPr id="10" name="Text 7"/>
          <p:cNvSpPr/>
          <p:nvPr/>
        </p:nvSpPr>
        <p:spPr>
          <a:xfrm>
            <a:off x="868680" y="3154680"/>
            <a:ext cx="2834640" cy="777240"/>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Takes the order.</a:t>
            </a:r>
            <a:endParaRPr lang="en-US" sz="1300" dirty="0"/>
          </a:p>
          <a:p>
            <a:pPr indent="0" marL="0">
              <a:buNone/>
            </a:pPr>
            <a:r>
              <a:rPr lang="en-US" sz="1300" dirty="0">
                <a:solidFill>
                  <a:srgbClr val="0A1229"/>
                </a:solidFill>
                <a:latin typeface="Calibri" pitchFamily="34" charset="0"/>
                <a:ea typeface="Calibri" pitchFamily="34" charset="-122"/>
                <a:cs typeface="Calibri" pitchFamily="34" charset="-120"/>
              </a:rPr>
              <a:t>Holds the cart.</a:t>
            </a:r>
            <a:endParaRPr lang="en-US" sz="1300" dirty="0"/>
          </a:p>
        </p:txBody>
      </p:sp>
      <p:sp>
        <p:nvSpPr>
          <p:cNvPr id="11" name="Shape 8"/>
          <p:cNvSpPr/>
          <p:nvPr/>
        </p:nvSpPr>
        <p:spPr>
          <a:xfrm>
            <a:off x="4251960" y="2514600"/>
            <a:ext cx="3383280" cy="1554480"/>
          </a:xfrm>
          <a:prstGeom prst="roundRect">
            <a:avLst>
              <a:gd name="adj" fmla="val 4706"/>
            </a:avLst>
          </a:prstGeom>
          <a:solidFill>
            <a:srgbClr val="FFFFFF"/>
          </a:solidFill>
          <a:ln w="22225">
            <a:solidFill>
              <a:srgbClr val="0755E9"/>
            </a:solidFill>
            <a:prstDash val="solid"/>
          </a:ln>
        </p:spPr>
      </p:sp>
      <p:sp>
        <p:nvSpPr>
          <p:cNvPr id="12" name="Text 9"/>
          <p:cNvSpPr/>
          <p:nvPr/>
        </p:nvSpPr>
        <p:spPr>
          <a:xfrm>
            <a:off x="4526280" y="2697480"/>
            <a:ext cx="2834640" cy="411480"/>
          </a:xfrm>
          <a:prstGeom prst="rect">
            <a:avLst/>
          </a:prstGeom>
          <a:noFill/>
          <a:ln/>
        </p:spPr>
        <p:txBody>
          <a:bodyPr wrap="square" lIns="0" tIns="0" rIns="0" bIns="0" rtlCol="0" anchor="ctr"/>
          <a:lstStyle/>
          <a:p>
            <a:pPr indent="0" marL="0">
              <a:buNone/>
            </a:pPr>
            <a:r>
              <a:rPr lang="en-US" sz="2000" b="1" dirty="0">
                <a:solidFill>
                  <a:srgbClr val="0755E9"/>
                </a:solidFill>
                <a:latin typeface="Calibri" pitchFamily="34" charset="0"/>
                <a:ea typeface="Calibri" pitchFamily="34" charset="-122"/>
                <a:cs typeface="Calibri" pitchFamily="34" charset="-120"/>
              </a:rPr>
              <a:t>Kitchen</a:t>
            </a:r>
            <a:endParaRPr lang="en-US" sz="2000" dirty="0"/>
          </a:p>
        </p:txBody>
      </p:sp>
      <p:sp>
        <p:nvSpPr>
          <p:cNvPr id="13" name="Text 10"/>
          <p:cNvSpPr/>
          <p:nvPr/>
        </p:nvSpPr>
        <p:spPr>
          <a:xfrm>
            <a:off x="4526280" y="3154680"/>
            <a:ext cx="2834640" cy="777240"/>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Tells the restaurant.</a:t>
            </a:r>
            <a:endParaRPr lang="en-US" sz="1300" dirty="0"/>
          </a:p>
          <a:p>
            <a:pPr indent="0" marL="0">
              <a:buNone/>
            </a:pPr>
            <a:r>
              <a:rPr lang="en-US" sz="1300" dirty="0">
                <a:solidFill>
                  <a:srgbClr val="0A1229"/>
                </a:solidFill>
                <a:latin typeface="Calibri" pitchFamily="34" charset="0"/>
                <a:ea typeface="Calibri" pitchFamily="34" charset="-122"/>
                <a:cs typeface="Calibri" pitchFamily="34" charset="-120"/>
              </a:rPr>
              <a:t>Tracks accept / reject.</a:t>
            </a:r>
            <a:endParaRPr lang="en-US" sz="1300" dirty="0"/>
          </a:p>
        </p:txBody>
      </p:sp>
      <p:sp>
        <p:nvSpPr>
          <p:cNvPr id="14" name="Shape 11"/>
          <p:cNvSpPr/>
          <p:nvPr/>
        </p:nvSpPr>
        <p:spPr>
          <a:xfrm>
            <a:off x="7909560" y="2514600"/>
            <a:ext cx="3383280" cy="1554480"/>
          </a:xfrm>
          <a:prstGeom prst="roundRect">
            <a:avLst>
              <a:gd name="adj" fmla="val 4706"/>
            </a:avLst>
          </a:prstGeom>
          <a:solidFill>
            <a:srgbClr val="FFFFFF"/>
          </a:solidFill>
          <a:ln w="22225">
            <a:solidFill>
              <a:srgbClr val="0755E9"/>
            </a:solidFill>
            <a:prstDash val="solid"/>
          </a:ln>
        </p:spPr>
      </p:sp>
      <p:sp>
        <p:nvSpPr>
          <p:cNvPr id="15" name="Text 12"/>
          <p:cNvSpPr/>
          <p:nvPr/>
        </p:nvSpPr>
        <p:spPr>
          <a:xfrm>
            <a:off x="8183880" y="2697480"/>
            <a:ext cx="2834640" cy="411480"/>
          </a:xfrm>
          <a:prstGeom prst="rect">
            <a:avLst/>
          </a:prstGeom>
          <a:noFill/>
          <a:ln/>
        </p:spPr>
        <p:txBody>
          <a:bodyPr wrap="square" lIns="0" tIns="0" rIns="0" bIns="0" rtlCol="0" anchor="ctr"/>
          <a:lstStyle/>
          <a:p>
            <a:pPr indent="0" marL="0">
              <a:buNone/>
            </a:pPr>
            <a:r>
              <a:rPr lang="en-US" sz="2000" b="1" dirty="0">
                <a:solidFill>
                  <a:srgbClr val="0755E9"/>
                </a:solidFill>
                <a:latin typeface="Calibri" pitchFamily="34" charset="0"/>
                <a:ea typeface="Calibri" pitchFamily="34" charset="-122"/>
                <a:cs typeface="Calibri" pitchFamily="34" charset="-120"/>
              </a:rPr>
              <a:t>Dispatch</a:t>
            </a:r>
            <a:endParaRPr lang="en-US" sz="2000" dirty="0"/>
          </a:p>
        </p:txBody>
      </p:sp>
      <p:sp>
        <p:nvSpPr>
          <p:cNvPr id="16" name="Text 13"/>
          <p:cNvSpPr/>
          <p:nvPr/>
        </p:nvSpPr>
        <p:spPr>
          <a:xfrm>
            <a:off x="8183880" y="3154680"/>
            <a:ext cx="2834640" cy="777240"/>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Finds a rider.</a:t>
            </a:r>
            <a:endParaRPr lang="en-US" sz="1300" dirty="0"/>
          </a:p>
          <a:p>
            <a:pPr indent="0" marL="0">
              <a:buNone/>
            </a:pPr>
            <a:r>
              <a:rPr lang="en-US" sz="1300" dirty="0">
                <a:solidFill>
                  <a:srgbClr val="0A1229"/>
                </a:solidFill>
                <a:latin typeface="Calibri" pitchFamily="34" charset="0"/>
                <a:ea typeface="Calibri" pitchFamily="34" charset="-122"/>
                <a:cs typeface="Calibri" pitchFamily="34" charset="-120"/>
              </a:rPr>
              <a:t>Tracks the delivery.</a:t>
            </a:r>
            <a:endParaRPr lang="en-US" sz="1300" dirty="0"/>
          </a:p>
        </p:txBody>
      </p:sp>
      <p:sp>
        <p:nvSpPr>
          <p:cNvPr id="17" name="Shape 14"/>
          <p:cNvSpPr/>
          <p:nvPr/>
        </p:nvSpPr>
        <p:spPr>
          <a:xfrm>
            <a:off x="3977640" y="3246120"/>
            <a:ext cx="274320" cy="45720"/>
          </a:xfrm>
          <a:prstGeom prst="rect">
            <a:avLst/>
          </a:prstGeom>
          <a:solidFill>
            <a:srgbClr val="5A6890"/>
          </a:solidFill>
          <a:ln/>
        </p:spPr>
      </p:sp>
      <p:sp>
        <p:nvSpPr>
          <p:cNvPr id="18" name="Shape 15"/>
          <p:cNvSpPr/>
          <p:nvPr/>
        </p:nvSpPr>
        <p:spPr>
          <a:xfrm>
            <a:off x="7635240" y="3246120"/>
            <a:ext cx="274320" cy="45720"/>
          </a:xfrm>
          <a:prstGeom prst="rect">
            <a:avLst/>
          </a:prstGeom>
          <a:solidFill>
            <a:srgbClr val="5A6890"/>
          </a:solidFill>
          <a:ln/>
        </p:spPr>
      </p:sp>
      <p:sp>
        <p:nvSpPr>
          <p:cNvPr id="19" name="Shape 16"/>
          <p:cNvSpPr/>
          <p:nvPr/>
        </p:nvSpPr>
        <p:spPr>
          <a:xfrm>
            <a:off x="594360" y="4434840"/>
            <a:ext cx="5257800" cy="1188720"/>
          </a:xfrm>
          <a:prstGeom prst="roundRect">
            <a:avLst>
              <a:gd name="adj" fmla="val 6154"/>
            </a:avLst>
          </a:prstGeom>
          <a:solidFill>
            <a:srgbClr val="E4E9F5"/>
          </a:solidFill>
          <a:ln w="12700">
            <a:solidFill>
              <a:srgbClr val="E4E9F5"/>
            </a:solidFill>
            <a:prstDash val="solid"/>
          </a:ln>
        </p:spPr>
      </p:sp>
      <p:sp>
        <p:nvSpPr>
          <p:cNvPr id="20" name="Text 17"/>
          <p:cNvSpPr/>
          <p:nvPr/>
        </p:nvSpPr>
        <p:spPr>
          <a:xfrm>
            <a:off x="914400" y="4434840"/>
            <a:ext cx="4663440" cy="1188720"/>
          </a:xfrm>
          <a:prstGeom prst="rect">
            <a:avLst/>
          </a:prstGeom>
          <a:noFill/>
          <a:ln/>
        </p:spPr>
        <p:txBody>
          <a:bodyPr wrap="square" lIns="0" tIns="0" rIns="0" bIns="0" rtlCol="0" anchor="ctr"/>
          <a:lstStyle/>
          <a:p>
            <a:pPr indent="0" marL="0">
              <a:buNone/>
            </a:pPr>
            <a:r>
              <a:rPr lang="en-US" sz="1700" b="1" dirty="0">
                <a:solidFill>
                  <a:srgbClr val="0A1229"/>
                </a:solidFill>
                <a:latin typeface="Calibri" pitchFamily="34" charset="0"/>
                <a:ea typeface="Calibri" pitchFamily="34" charset="-122"/>
                <a:cs typeface="Calibri" pitchFamily="34" charset="-120"/>
              </a:rPr>
              <a:t>One PostgreSQL database</a:t>
            </a:r>
            <a:endParaRPr lang="en-US" sz="1700" dirty="0"/>
          </a:p>
        </p:txBody>
      </p:sp>
      <p:sp>
        <p:nvSpPr>
          <p:cNvPr id="21" name="Shape 18"/>
          <p:cNvSpPr/>
          <p:nvPr/>
        </p:nvSpPr>
        <p:spPr>
          <a:xfrm>
            <a:off x="6217920" y="4434840"/>
            <a:ext cx="5257800" cy="1188720"/>
          </a:xfrm>
          <a:prstGeom prst="roundRect">
            <a:avLst>
              <a:gd name="adj" fmla="val 6154"/>
            </a:avLst>
          </a:prstGeom>
          <a:solidFill>
            <a:srgbClr val="E4E9F5"/>
          </a:solidFill>
          <a:ln w="12700">
            <a:solidFill>
              <a:srgbClr val="E4E9F5"/>
            </a:solidFill>
            <a:prstDash val="solid"/>
          </a:ln>
        </p:spPr>
      </p:sp>
      <p:sp>
        <p:nvSpPr>
          <p:cNvPr id="22" name="Text 19"/>
          <p:cNvSpPr/>
          <p:nvPr/>
        </p:nvSpPr>
        <p:spPr>
          <a:xfrm>
            <a:off x="6537960" y="4434840"/>
            <a:ext cx="4663440" cy="1188720"/>
          </a:xfrm>
          <a:prstGeom prst="rect">
            <a:avLst/>
          </a:prstGeom>
          <a:noFill/>
          <a:ln/>
        </p:spPr>
        <p:txBody>
          <a:bodyPr wrap="square" lIns="0" tIns="0" rIns="0" bIns="0" rtlCol="0" anchor="ctr"/>
          <a:lstStyle/>
          <a:p>
            <a:pPr indent="0" marL="0">
              <a:buNone/>
            </a:pPr>
            <a:r>
              <a:rPr lang="en-US" sz="1700" b="1" dirty="0">
                <a:solidFill>
                  <a:srgbClr val="0A1229"/>
                </a:solidFill>
                <a:latin typeface="Calibri" pitchFamily="34" charset="0"/>
                <a:ea typeface="Calibri" pitchFamily="34" charset="-122"/>
                <a:cs typeface="Calibri" pitchFamily="34" charset="-120"/>
              </a:rPr>
              <a:t>One payment provider you do not control</a:t>
            </a:r>
            <a:endParaRPr lang="en-US" sz="1700" dirty="0"/>
          </a:p>
        </p:txBody>
      </p:sp>
      <p:sp>
        <p:nvSpPr>
          <p:cNvPr id="23" name="Text 20"/>
          <p:cNvSpPr/>
          <p:nvPr/>
        </p:nvSpPr>
        <p:spPr>
          <a:xfrm>
            <a:off x="594360" y="5852160"/>
            <a:ext cx="10881360" cy="365760"/>
          </a:xfrm>
          <a:prstGeom prst="rect">
            <a:avLst/>
          </a:prstGeom>
          <a:noFill/>
          <a:ln/>
        </p:spPr>
        <p:txBody>
          <a:bodyPr wrap="square" lIns="0" tIns="0" rIns="0" bIns="0" rtlCol="0" anchor="ctr"/>
          <a:lstStyle/>
          <a:p>
            <a:pPr indent="0" marL="0">
              <a:buNone/>
            </a:pPr>
            <a:r>
              <a:rPr lang="en-US" sz="1300" i="1" dirty="0">
                <a:solidFill>
                  <a:srgbClr val="5A6890"/>
                </a:solidFill>
                <a:latin typeface="Calibri" pitchFamily="34" charset="0"/>
                <a:ea typeface="Calibri" pitchFamily="34" charset="-122"/>
                <a:cs typeface="Calibri" pitchFamily="34" charset="-120"/>
              </a:rPr>
              <a:t>A daig is the pot you cook in when you are feeding everybody at once. That is the entire engineering problem in one word.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9"/>
        </a:solidFill>
      </p:bgPr>
    </p:bg>
    <p:spTree>
      <p:nvGrpSpPr>
        <p:cNvPr id="1" name=""/>
        <p:cNvGrpSpPr/>
        <p:nvPr/>
      </p:nvGrpSpPr>
      <p:grpSpPr>
        <a:xfrm>
          <a:off x="0" y="0"/>
          <a:ext cx="0" cy="0"/>
          <a:chOff x="0" y="0"/>
          <a:chExt cx="0" cy="0"/>
        </a:xfrm>
      </p:grpSpPr>
      <p:sp>
        <p:nvSpPr>
          <p:cNvPr id="3" name="Shape 0"/>
          <p:cNvSpPr/>
          <p:nvPr/>
        </p:nvSpPr>
        <p:spPr>
          <a:xfrm>
            <a:off x="594360" y="384048"/>
            <a:ext cx="384048" cy="384048"/>
          </a:xfrm>
          <a:prstGeom prst="ellipse">
            <a:avLst/>
          </a:prstGeom>
          <a:solidFill>
            <a:srgbClr val="0755E9"/>
          </a:solidFill>
          <a:ln/>
        </p:spPr>
      </p:sp>
      <p:sp>
        <p:nvSpPr>
          <p:cNvPr id="4" name="Text 1"/>
          <p:cNvSpPr/>
          <p:nvPr/>
        </p:nvSpPr>
        <p:spPr>
          <a:xfrm>
            <a:off x="59436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5" name="Text 2"/>
          <p:cNvSpPr/>
          <p:nvPr/>
        </p:nvSpPr>
        <p:spPr>
          <a:xfrm>
            <a:off x="1097280" y="384048"/>
            <a:ext cx="7772400" cy="384048"/>
          </a:xfrm>
          <a:prstGeom prst="rect">
            <a:avLst/>
          </a:prstGeom>
          <a:noFill/>
          <a:ln/>
        </p:spPr>
        <p:txBody>
          <a:bodyPr wrap="square" lIns="0" tIns="0" rIns="0" bIns="0" rtlCol="0" anchor="ctr"/>
          <a:lstStyle/>
          <a:p>
            <a:pPr indent="0" marL="0">
              <a:buNone/>
            </a:pPr>
            <a:r>
              <a:rPr lang="en-US" sz="1100" b="1" spc="200" kern="0" dirty="0">
                <a:solidFill>
                  <a:srgbClr val="8A99BF"/>
                </a:solidFill>
                <a:latin typeface="Calibri" pitchFamily="34" charset="0"/>
                <a:ea typeface="Calibri" pitchFamily="34" charset="-122"/>
                <a:cs typeface="Calibri" pitchFamily="34" charset="-120"/>
              </a:rPr>
              <a:t>THE SYSTEM</a:t>
            </a:r>
            <a:endParaRPr lang="en-US" sz="1100" dirty="0"/>
          </a:p>
        </p:txBody>
      </p:sp>
      <p:sp>
        <p:nvSpPr>
          <p:cNvPr id="6" name="Text 3"/>
          <p:cNvSpPr/>
          <p:nvPr/>
        </p:nvSpPr>
        <p:spPr>
          <a:xfrm>
            <a:off x="594360" y="960120"/>
            <a:ext cx="10881360" cy="914400"/>
          </a:xfrm>
          <a:prstGeom prst="rect">
            <a:avLst/>
          </a:prstGeom>
          <a:noFill/>
          <a:ln/>
        </p:spPr>
        <p:txBody>
          <a:bodyPr wrap="square" lIns="0" tIns="0" rIns="0" bIns="0" rtlCol="0" anchor="t"/>
          <a:lstStyle/>
          <a:p>
            <a:pPr indent="0" marL="0">
              <a:buNone/>
            </a:pPr>
            <a:r>
              <a:rPr lang="en-US" sz="3600" b="1" dirty="0">
                <a:solidFill>
                  <a:srgbClr val="F4F6FB"/>
                </a:solidFill>
                <a:latin typeface="Calibri" pitchFamily="34" charset="0"/>
                <a:ea typeface="Calibri" pitchFamily="34" charset="-122"/>
                <a:cs typeface="Calibri" pitchFamily="34" charset="-120"/>
              </a:rPr>
              <a:t>Daig has one bad twenty minutes a day</a:t>
            </a:r>
            <a:endParaRPr lang="en-US" sz="3600" dirty="0"/>
          </a:p>
        </p:txBody>
      </p:sp>
      <p:graphicFrame>
        <p:nvGraphicFramePr>
          <p:cNvPr id="7" name="Chart 0" descr=""/>
          <p:cNvGraphicFramePr/>
          <p:nvPr/>
        </p:nvGraphicFramePr>
        <p:xfrm>
          <a:off x="594360" y="2011680"/>
          <a:ext cx="6949440" cy="365760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7772400" y="2103120"/>
            <a:ext cx="3794760" cy="1097280"/>
          </a:xfrm>
          <a:prstGeom prst="roundRect">
            <a:avLst>
              <a:gd name="adj" fmla="val 6667"/>
            </a:avLst>
          </a:prstGeom>
          <a:solidFill>
            <a:srgbClr val="17224A"/>
          </a:solidFill>
          <a:ln w="12700">
            <a:solidFill>
              <a:srgbClr val="17224A"/>
            </a:solidFill>
            <a:prstDash val="solid"/>
          </a:ln>
        </p:spPr>
      </p:sp>
      <p:sp>
        <p:nvSpPr>
          <p:cNvPr id="9" name="Text 5"/>
          <p:cNvSpPr/>
          <p:nvPr/>
        </p:nvSpPr>
        <p:spPr>
          <a:xfrm>
            <a:off x="8028432" y="2194560"/>
            <a:ext cx="3291840" cy="320040"/>
          </a:xfrm>
          <a:prstGeom prst="rect">
            <a:avLst/>
          </a:prstGeom>
          <a:noFill/>
          <a:ln/>
        </p:spPr>
        <p:txBody>
          <a:bodyPr wrap="square" lIns="0" tIns="0" rIns="0" bIns="0" rtlCol="0" anchor="ctr"/>
          <a:lstStyle/>
          <a:p>
            <a:pPr indent="0" marL="0">
              <a:buNone/>
            </a:pPr>
            <a:r>
              <a:rPr lang="en-US" sz="1300" b="1" dirty="0">
                <a:solidFill>
                  <a:srgbClr val="5B8CF0"/>
                </a:solidFill>
                <a:latin typeface="Calibri" pitchFamily="34" charset="0"/>
                <a:ea typeface="Calibri" pitchFamily="34" charset="-122"/>
                <a:cs typeface="Calibri" pitchFamily="34" charset="-120"/>
              </a:rPr>
              <a:t>You know it is coming</a:t>
            </a:r>
            <a:endParaRPr lang="en-US" sz="1300" dirty="0"/>
          </a:p>
        </p:txBody>
      </p:sp>
      <p:sp>
        <p:nvSpPr>
          <p:cNvPr id="10" name="Text 6"/>
          <p:cNvSpPr/>
          <p:nvPr/>
        </p:nvSpPr>
        <p:spPr>
          <a:xfrm>
            <a:off x="8028432" y="2514600"/>
            <a:ext cx="3291840" cy="640080"/>
          </a:xfrm>
          <a:prstGeom prst="rect">
            <a:avLst/>
          </a:prstGeom>
          <a:noFill/>
          <a:ln/>
        </p:spPr>
        <p:txBody>
          <a:bodyPr wrap="square" lIns="0" tIns="0" rIns="0" bIns="0" rtlCol="0" anchor="ctr"/>
          <a:lstStyle/>
          <a:p>
            <a:pPr indent="0" marL="0">
              <a:buNone/>
            </a:pPr>
            <a:r>
              <a:rPr lang="en-US" sz="1100" dirty="0">
                <a:solidFill>
                  <a:srgbClr val="F4F6FB"/>
                </a:solidFill>
                <a:latin typeface="Calibri" pitchFamily="34" charset="0"/>
                <a:ea typeface="Calibri" pitchFamily="34" charset="-122"/>
                <a:cs typeface="Calibri" pitchFamily="34" charset="-120"/>
              </a:rPr>
              <a:t>Every single day. Same time. This is the easiest capacity problem in the world - and teams still fail it.</a:t>
            </a:r>
            <a:endParaRPr lang="en-US" sz="1100" dirty="0"/>
          </a:p>
        </p:txBody>
      </p:sp>
      <p:sp>
        <p:nvSpPr>
          <p:cNvPr id="11" name="Shape 7"/>
          <p:cNvSpPr/>
          <p:nvPr/>
        </p:nvSpPr>
        <p:spPr>
          <a:xfrm>
            <a:off x="7772400" y="3337560"/>
            <a:ext cx="3794760" cy="1097280"/>
          </a:xfrm>
          <a:prstGeom prst="roundRect">
            <a:avLst>
              <a:gd name="adj" fmla="val 6667"/>
            </a:avLst>
          </a:prstGeom>
          <a:solidFill>
            <a:srgbClr val="17224A"/>
          </a:solidFill>
          <a:ln w="12700">
            <a:solidFill>
              <a:srgbClr val="17224A"/>
            </a:solidFill>
            <a:prstDash val="solid"/>
          </a:ln>
        </p:spPr>
      </p:sp>
      <p:sp>
        <p:nvSpPr>
          <p:cNvPr id="12" name="Text 8"/>
          <p:cNvSpPr/>
          <p:nvPr/>
        </p:nvSpPr>
        <p:spPr>
          <a:xfrm>
            <a:off x="8028432" y="3429000"/>
            <a:ext cx="3291840" cy="320040"/>
          </a:xfrm>
          <a:prstGeom prst="rect">
            <a:avLst/>
          </a:prstGeom>
          <a:noFill/>
          <a:ln/>
        </p:spPr>
        <p:txBody>
          <a:bodyPr wrap="square" lIns="0" tIns="0" rIns="0" bIns="0" rtlCol="0" anchor="ctr"/>
          <a:lstStyle/>
          <a:p>
            <a:pPr indent="0" marL="0">
              <a:buNone/>
            </a:pPr>
            <a:r>
              <a:rPr lang="en-US" sz="1300" b="1" dirty="0">
                <a:solidFill>
                  <a:srgbClr val="5B8CF0"/>
                </a:solidFill>
                <a:latin typeface="Calibri" pitchFamily="34" charset="0"/>
                <a:ea typeface="Calibri" pitchFamily="34" charset="-122"/>
                <a:cs typeface="Calibri" pitchFamily="34" charset="-120"/>
              </a:rPr>
              <a:t>Scaling is slower than the spike</a:t>
            </a:r>
            <a:endParaRPr lang="en-US" sz="1300" dirty="0"/>
          </a:p>
        </p:txBody>
      </p:sp>
      <p:sp>
        <p:nvSpPr>
          <p:cNvPr id="13" name="Text 9"/>
          <p:cNvSpPr/>
          <p:nvPr/>
        </p:nvSpPr>
        <p:spPr>
          <a:xfrm>
            <a:off x="8028432" y="3749040"/>
            <a:ext cx="3291840" cy="640080"/>
          </a:xfrm>
          <a:prstGeom prst="rect">
            <a:avLst/>
          </a:prstGeom>
          <a:noFill/>
          <a:ln/>
        </p:spPr>
        <p:txBody>
          <a:bodyPr wrap="square" lIns="0" tIns="0" rIns="0" bIns="0" rtlCol="0" anchor="ctr"/>
          <a:lstStyle/>
          <a:p>
            <a:pPr indent="0" marL="0">
              <a:buNone/>
            </a:pPr>
            <a:r>
              <a:rPr lang="en-US" sz="1100" dirty="0">
                <a:solidFill>
                  <a:srgbClr val="F4F6FB"/>
                </a:solidFill>
                <a:latin typeface="Calibri" pitchFamily="34" charset="0"/>
                <a:ea typeface="Calibri" pitchFamily="34" charset="-122"/>
                <a:cs typeface="Calibri" pitchFamily="34" charset="-120"/>
              </a:rPr>
              <a:t>New capacity takes ~90 seconds to come up. The spike arrives in 20.</a:t>
            </a:r>
            <a:endParaRPr lang="en-US" sz="1100" dirty="0"/>
          </a:p>
        </p:txBody>
      </p:sp>
      <p:sp>
        <p:nvSpPr>
          <p:cNvPr id="14" name="Shape 10"/>
          <p:cNvSpPr/>
          <p:nvPr/>
        </p:nvSpPr>
        <p:spPr>
          <a:xfrm>
            <a:off x="7772400" y="4572000"/>
            <a:ext cx="3794760" cy="1097280"/>
          </a:xfrm>
          <a:prstGeom prst="roundRect">
            <a:avLst>
              <a:gd name="adj" fmla="val 6667"/>
            </a:avLst>
          </a:prstGeom>
          <a:solidFill>
            <a:srgbClr val="17224A"/>
          </a:solidFill>
          <a:ln w="12700">
            <a:solidFill>
              <a:srgbClr val="17224A"/>
            </a:solidFill>
            <a:prstDash val="solid"/>
          </a:ln>
        </p:spPr>
      </p:sp>
      <p:sp>
        <p:nvSpPr>
          <p:cNvPr id="15" name="Text 11"/>
          <p:cNvSpPr/>
          <p:nvPr/>
        </p:nvSpPr>
        <p:spPr>
          <a:xfrm>
            <a:off x="8028432" y="4663440"/>
            <a:ext cx="3291840" cy="320040"/>
          </a:xfrm>
          <a:prstGeom prst="rect">
            <a:avLst/>
          </a:prstGeom>
          <a:noFill/>
          <a:ln/>
        </p:spPr>
        <p:txBody>
          <a:bodyPr wrap="square" lIns="0" tIns="0" rIns="0" bIns="0" rtlCol="0" anchor="ctr"/>
          <a:lstStyle/>
          <a:p>
            <a:pPr indent="0" marL="0">
              <a:buNone/>
            </a:pPr>
            <a:r>
              <a:rPr lang="en-US" sz="1300" b="1" dirty="0">
                <a:solidFill>
                  <a:srgbClr val="5B8CF0"/>
                </a:solidFill>
                <a:latin typeface="Calibri" pitchFamily="34" charset="0"/>
                <a:ea typeface="Calibri" pitchFamily="34" charset="-122"/>
                <a:cs typeface="Calibri" pitchFamily="34" charset="-120"/>
              </a:rPr>
              <a:t>The deadline is set by the sun</a:t>
            </a:r>
            <a:endParaRPr lang="en-US" sz="1300" dirty="0"/>
          </a:p>
        </p:txBody>
      </p:sp>
      <p:sp>
        <p:nvSpPr>
          <p:cNvPr id="16" name="Text 12"/>
          <p:cNvSpPr/>
          <p:nvPr/>
        </p:nvSpPr>
        <p:spPr>
          <a:xfrm>
            <a:off x="8028432" y="4983480"/>
            <a:ext cx="3291840" cy="640080"/>
          </a:xfrm>
          <a:prstGeom prst="rect">
            <a:avLst/>
          </a:prstGeom>
          <a:noFill/>
          <a:ln/>
        </p:spPr>
        <p:txBody>
          <a:bodyPr wrap="square" lIns="0" tIns="0" rIns="0" bIns="0" rtlCol="0" anchor="ctr"/>
          <a:lstStyle/>
          <a:p>
            <a:pPr indent="0" marL="0">
              <a:buNone/>
            </a:pPr>
            <a:r>
              <a:rPr lang="en-US" sz="1100" dirty="0">
                <a:solidFill>
                  <a:srgbClr val="F4F6FB"/>
                </a:solidFill>
                <a:latin typeface="Calibri" pitchFamily="34" charset="0"/>
                <a:ea typeface="Calibri" pitchFamily="34" charset="-122"/>
                <a:cs typeface="Calibri" pitchFamily="34" charset="-120"/>
              </a:rPr>
              <a:t>No "please try again later." There is no later.</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B"/>
        </a:solidFill>
      </p:bgPr>
    </p:bg>
    <p:spTree>
      <p:nvGrpSpPr>
        <p:cNvPr id="1" name=""/>
        <p:cNvGrpSpPr/>
        <p:nvPr/>
      </p:nvGrpSpPr>
      <p:grpSpPr>
        <a:xfrm>
          <a:off x="0" y="0"/>
          <a:ext cx="0" cy="0"/>
          <a:chOff x="0" y="0"/>
          <a:chExt cx="0" cy="0"/>
        </a:xfrm>
      </p:grpSpPr>
      <p:sp>
        <p:nvSpPr>
          <p:cNvPr id="3" name="Shape 0"/>
          <p:cNvSpPr/>
          <p:nvPr/>
        </p:nvSpPr>
        <p:spPr>
          <a:xfrm>
            <a:off x="594360" y="384048"/>
            <a:ext cx="384048" cy="384048"/>
          </a:xfrm>
          <a:prstGeom prst="ellipse">
            <a:avLst/>
          </a:prstGeom>
          <a:solidFill>
            <a:srgbClr val="0755E9"/>
          </a:solidFill>
          <a:ln/>
        </p:spPr>
      </p:sp>
      <p:sp>
        <p:nvSpPr>
          <p:cNvPr id="4" name="Text 1"/>
          <p:cNvSpPr/>
          <p:nvPr/>
        </p:nvSpPr>
        <p:spPr>
          <a:xfrm>
            <a:off x="59436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5" name="Text 2"/>
          <p:cNvSpPr/>
          <p:nvPr/>
        </p:nvSpPr>
        <p:spPr>
          <a:xfrm>
            <a:off x="1097280" y="384048"/>
            <a:ext cx="7772400" cy="384048"/>
          </a:xfrm>
          <a:prstGeom prst="rect">
            <a:avLst/>
          </a:prstGeom>
          <a:noFill/>
          <a:ln/>
        </p:spPr>
        <p:txBody>
          <a:bodyPr wrap="square" lIns="0" tIns="0" rIns="0" bIns="0" rtlCol="0" anchor="ctr"/>
          <a:lstStyle/>
          <a:p>
            <a:pPr indent="0" marL="0">
              <a:buNone/>
            </a:pPr>
            <a:r>
              <a:rPr lang="en-US" sz="1100" b="1" spc="200" kern="0" dirty="0">
                <a:solidFill>
                  <a:srgbClr val="5A6890"/>
                </a:solidFill>
                <a:latin typeface="Calibri" pitchFamily="34" charset="0"/>
                <a:ea typeface="Calibri" pitchFamily="34" charset="-122"/>
                <a:cs typeface="Calibri" pitchFamily="34" charset="-120"/>
              </a:rPr>
              <a:t>THE SYSTEM</a:t>
            </a:r>
            <a:endParaRPr lang="en-US" sz="1100" dirty="0"/>
          </a:p>
        </p:txBody>
      </p:sp>
      <p:sp>
        <p:nvSpPr>
          <p:cNvPr id="6" name="Text 3"/>
          <p:cNvSpPr/>
          <p:nvPr/>
        </p:nvSpPr>
        <p:spPr>
          <a:xfrm>
            <a:off x="594360" y="1737360"/>
            <a:ext cx="10881360" cy="1005840"/>
          </a:xfrm>
          <a:prstGeom prst="rect">
            <a:avLst/>
          </a:prstGeom>
          <a:noFill/>
          <a:ln/>
        </p:spPr>
        <p:txBody>
          <a:bodyPr wrap="square" lIns="0" tIns="0" rIns="0" bIns="0" rtlCol="0" anchor="ctr"/>
          <a:lstStyle/>
          <a:p>
            <a:pPr indent="0" marL="0">
              <a:buNone/>
            </a:pPr>
            <a:r>
              <a:rPr lang="en-US" sz="5000" b="1" dirty="0">
                <a:solidFill>
                  <a:srgbClr val="0A1229"/>
                </a:solidFill>
                <a:latin typeface="Calibri" pitchFamily="34" charset="0"/>
                <a:ea typeface="Calibri" pitchFamily="34" charset="-122"/>
                <a:cs typeface="Calibri" pitchFamily="34" charset="-120"/>
              </a:rPr>
              <a:t>What breaks?</a:t>
            </a:r>
            <a:endParaRPr lang="en-US" sz="5000" dirty="0"/>
          </a:p>
        </p:txBody>
      </p:sp>
      <p:sp>
        <p:nvSpPr>
          <p:cNvPr id="7" name="Text 4"/>
          <p:cNvSpPr/>
          <p:nvPr/>
        </p:nvSpPr>
        <p:spPr>
          <a:xfrm>
            <a:off x="594360" y="2788920"/>
            <a:ext cx="10881360" cy="457200"/>
          </a:xfrm>
          <a:prstGeom prst="rect">
            <a:avLst/>
          </a:prstGeom>
          <a:noFill/>
          <a:ln/>
        </p:spPr>
        <p:txBody>
          <a:bodyPr wrap="square" lIns="0" tIns="0" rIns="0" bIns="0" rtlCol="0" anchor="ctr"/>
          <a:lstStyle/>
          <a:p>
            <a:pPr indent="0" marL="0">
              <a:buNone/>
            </a:pPr>
            <a:r>
              <a:rPr lang="en-US" sz="1800" dirty="0">
                <a:solidFill>
                  <a:srgbClr val="0755E9"/>
                </a:solidFill>
                <a:latin typeface="Calibri" pitchFamily="34" charset="0"/>
                <a:ea typeface="Calibri" pitchFamily="34" charset="-122"/>
                <a:cs typeface="Calibri" pitchFamily="34" charset="-120"/>
              </a:rPr>
              <a:t>You have seen the system. You have seen the traffic. Two minutes - tell me what goes wrong at 18:45.</a:t>
            </a:r>
            <a:endParaRPr lang="en-US" sz="1800" dirty="0"/>
          </a:p>
        </p:txBody>
      </p:sp>
      <p:sp>
        <p:nvSpPr>
          <p:cNvPr id="8" name="Shape 5"/>
          <p:cNvSpPr/>
          <p:nvPr/>
        </p:nvSpPr>
        <p:spPr>
          <a:xfrm>
            <a:off x="594360" y="3566160"/>
            <a:ext cx="10881360" cy="1737360"/>
          </a:xfrm>
          <a:prstGeom prst="roundRect">
            <a:avLst>
              <a:gd name="adj" fmla="val 4211"/>
            </a:avLst>
          </a:prstGeom>
          <a:solidFill>
            <a:srgbClr val="E4E9F5"/>
          </a:solidFill>
          <a:ln w="12700">
            <a:solidFill>
              <a:srgbClr val="E4E9F5"/>
            </a:solidFill>
            <a:prstDash val="solid"/>
          </a:ln>
        </p:spPr>
      </p:sp>
      <p:sp>
        <p:nvSpPr>
          <p:cNvPr id="9" name="Text 6"/>
          <p:cNvSpPr/>
          <p:nvPr/>
        </p:nvSpPr>
        <p:spPr>
          <a:xfrm>
            <a:off x="960120" y="3794760"/>
            <a:ext cx="10149840" cy="365760"/>
          </a:xfrm>
          <a:prstGeom prst="rect">
            <a:avLst/>
          </a:prstGeom>
          <a:noFill/>
          <a:ln/>
        </p:spPr>
        <p:txBody>
          <a:bodyPr wrap="square" lIns="0" tIns="0" rIns="0" bIns="0" rtlCol="0" anchor="ctr"/>
          <a:lstStyle/>
          <a:p>
            <a:pPr indent="0" marL="0">
              <a:buNone/>
            </a:pPr>
            <a:r>
              <a:rPr lang="en-US" sz="1400" b="1" i="1" dirty="0">
                <a:solidFill>
                  <a:srgbClr val="5A6890"/>
                </a:solidFill>
                <a:latin typeface="Calibri" pitchFamily="34" charset="0"/>
                <a:ea typeface="Calibri" pitchFamily="34" charset="-122"/>
                <a:cs typeface="Calibri" pitchFamily="34" charset="-120"/>
              </a:rPr>
              <a:t>[ Write every answer on the board. Leave it up all session. ]</a:t>
            </a:r>
            <a:endParaRPr lang="en-US" sz="1400" dirty="0"/>
          </a:p>
        </p:txBody>
      </p:sp>
      <p:sp>
        <p:nvSpPr>
          <p:cNvPr id="10" name="Text 7"/>
          <p:cNvSpPr/>
          <p:nvPr/>
        </p:nvSpPr>
        <p:spPr>
          <a:xfrm>
            <a:off x="960120" y="4251960"/>
            <a:ext cx="10149840" cy="822960"/>
          </a:xfrm>
          <a:prstGeom prst="rect">
            <a:avLst/>
          </a:prstGeom>
          <a:noFill/>
          <a:ln/>
        </p:spPr>
        <p:txBody>
          <a:bodyPr wrap="square" lIns="0" tIns="0" rIns="0" bIns="0" rtlCol="0" anchor="ctr"/>
          <a:lstStyle/>
          <a:p>
            <a:pPr indent="0" marL="0">
              <a:buNone/>
            </a:pPr>
            <a:r>
              <a:rPr lang="en-US" sz="1600" dirty="0">
                <a:solidFill>
                  <a:srgbClr val="0A1229"/>
                </a:solidFill>
                <a:latin typeface="Calibri" pitchFamily="34" charset="0"/>
                <a:ea typeface="Calibri" pitchFamily="34" charset="-122"/>
                <a:cs typeface="Calibri" pitchFamily="34" charset="-120"/>
              </a:rPr>
              <a:t>Every answer you give maps onto a day this week. We will come back to this board and I will point at your words.</a:t>
            </a:r>
            <a:endParaRPr lang="en-US" sz="1600" dirty="0"/>
          </a:p>
        </p:txBody>
      </p:sp>
      <p:sp>
        <p:nvSpPr>
          <p:cNvPr id="11" name="Text 8"/>
          <p:cNvSpPr/>
          <p:nvPr/>
        </p:nvSpPr>
        <p:spPr>
          <a:xfrm>
            <a:off x="594360" y="5623560"/>
            <a:ext cx="10881360" cy="365760"/>
          </a:xfrm>
          <a:prstGeom prst="rect">
            <a:avLst/>
          </a:prstGeom>
          <a:noFill/>
          <a:ln/>
        </p:spPr>
        <p:txBody>
          <a:bodyPr wrap="square" lIns="0" tIns="0" rIns="0" bIns="0" rtlCol="0" anchor="ctr"/>
          <a:lstStyle/>
          <a:p>
            <a:pPr indent="0" marL="0">
              <a:buNone/>
            </a:pPr>
            <a:r>
              <a:rPr lang="en-US" sz="1400" i="1" dirty="0">
                <a:solidFill>
                  <a:srgbClr val="5A6890"/>
                </a:solidFill>
                <a:latin typeface="Calibri" pitchFamily="34" charset="0"/>
                <a:ea typeface="Calibri" pitchFamily="34" charset="-122"/>
                <a:cs typeface="Calibri" pitchFamily="34" charset="-120"/>
              </a:rPr>
              <a:t>There are no wrong answers on this slide.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9"/>
        </a:solidFill>
      </p:bgPr>
    </p:bg>
    <p:spTree>
      <p:nvGrpSpPr>
        <p:cNvPr id="1" name=""/>
        <p:cNvGrpSpPr/>
        <p:nvPr/>
      </p:nvGrpSpPr>
      <p:grpSpPr>
        <a:xfrm>
          <a:off x="0" y="0"/>
          <a:ext cx="0" cy="0"/>
          <a:chOff x="0" y="0"/>
          <a:chExt cx="0" cy="0"/>
        </a:xfrm>
      </p:grpSpPr>
      <p:sp>
        <p:nvSpPr>
          <p:cNvPr id="3" name="Shape 0"/>
          <p:cNvSpPr/>
          <p:nvPr/>
        </p:nvSpPr>
        <p:spPr>
          <a:xfrm>
            <a:off x="594360" y="384048"/>
            <a:ext cx="384048" cy="384048"/>
          </a:xfrm>
          <a:prstGeom prst="ellipse">
            <a:avLst/>
          </a:prstGeom>
          <a:solidFill>
            <a:srgbClr val="0755E9"/>
          </a:solidFill>
          <a:ln/>
        </p:spPr>
      </p:sp>
      <p:sp>
        <p:nvSpPr>
          <p:cNvPr id="4" name="Text 1"/>
          <p:cNvSpPr/>
          <p:nvPr/>
        </p:nvSpPr>
        <p:spPr>
          <a:xfrm>
            <a:off x="59436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5" name="Text 2"/>
          <p:cNvSpPr/>
          <p:nvPr/>
        </p:nvSpPr>
        <p:spPr>
          <a:xfrm>
            <a:off x="1097280" y="384048"/>
            <a:ext cx="7772400" cy="384048"/>
          </a:xfrm>
          <a:prstGeom prst="rect">
            <a:avLst/>
          </a:prstGeom>
          <a:noFill/>
          <a:ln/>
        </p:spPr>
        <p:txBody>
          <a:bodyPr wrap="square" lIns="0" tIns="0" rIns="0" bIns="0" rtlCol="0" anchor="ctr"/>
          <a:lstStyle/>
          <a:p>
            <a:pPr indent="0" marL="0">
              <a:buNone/>
            </a:pPr>
            <a:r>
              <a:rPr lang="en-US" sz="1100" b="1" spc="200" kern="0" dirty="0">
                <a:solidFill>
                  <a:srgbClr val="8A99BF"/>
                </a:solidFill>
                <a:latin typeface="Calibri" pitchFamily="34" charset="0"/>
                <a:ea typeface="Calibri" pitchFamily="34" charset="-122"/>
                <a:cs typeface="Calibri" pitchFamily="34" charset="-120"/>
              </a:rPr>
              <a:t>HANDS ON</a:t>
            </a:r>
            <a:endParaRPr lang="en-US" sz="1100" dirty="0"/>
          </a:p>
        </p:txBody>
      </p:sp>
      <p:sp>
        <p:nvSpPr>
          <p:cNvPr id="6" name="Text 3"/>
          <p:cNvSpPr/>
          <p:nvPr/>
        </p:nvSpPr>
        <p:spPr>
          <a:xfrm>
            <a:off x="594360" y="960120"/>
            <a:ext cx="10881360" cy="914400"/>
          </a:xfrm>
          <a:prstGeom prst="rect">
            <a:avLst/>
          </a:prstGeom>
          <a:noFill/>
          <a:ln/>
        </p:spPr>
        <p:txBody>
          <a:bodyPr wrap="square" lIns="0" tIns="0" rIns="0" bIns="0" rtlCol="0" anchor="t"/>
          <a:lstStyle/>
          <a:p>
            <a:pPr indent="0" marL="0">
              <a:buNone/>
            </a:pPr>
            <a:r>
              <a:rPr lang="en-US" sz="3600" b="1" dirty="0">
                <a:solidFill>
                  <a:srgbClr val="F4F6FB"/>
                </a:solidFill>
                <a:latin typeface="Calibri" pitchFamily="34" charset="0"/>
                <a:ea typeface="Calibri" pitchFamily="34" charset="-122"/>
                <a:cs typeface="Calibri" pitchFamily="34" charset="-120"/>
              </a:rPr>
              <a:t>Your turn. Break it.</a:t>
            </a:r>
            <a:endParaRPr lang="en-US" sz="3600" dirty="0"/>
          </a:p>
        </p:txBody>
      </p:sp>
      <p:sp>
        <p:nvSpPr>
          <p:cNvPr id="7" name="Shape 4"/>
          <p:cNvSpPr/>
          <p:nvPr/>
        </p:nvSpPr>
        <p:spPr>
          <a:xfrm>
            <a:off x="594360" y="1965960"/>
            <a:ext cx="10881360" cy="1234440"/>
          </a:xfrm>
          <a:prstGeom prst="roundRect">
            <a:avLst>
              <a:gd name="adj" fmla="val 5926"/>
            </a:avLst>
          </a:prstGeom>
          <a:solidFill>
            <a:srgbClr val="17224A"/>
          </a:solidFill>
          <a:ln w="12700">
            <a:solidFill>
              <a:srgbClr val="17224A"/>
            </a:solidFill>
            <a:prstDash val="solid"/>
          </a:ln>
        </p:spPr>
      </p:sp>
      <p:sp>
        <p:nvSpPr>
          <p:cNvPr id="8" name="Text 5"/>
          <p:cNvSpPr/>
          <p:nvPr/>
        </p:nvSpPr>
        <p:spPr>
          <a:xfrm>
            <a:off x="960120" y="1965960"/>
            <a:ext cx="10149840" cy="1234440"/>
          </a:xfrm>
          <a:prstGeom prst="rect">
            <a:avLst/>
          </a:prstGeom>
          <a:noFill/>
          <a:ln/>
        </p:spPr>
        <p:txBody>
          <a:bodyPr wrap="square" lIns="0" tIns="0" rIns="0" bIns="0" rtlCol="0" anchor="ctr"/>
          <a:lstStyle/>
          <a:p>
            <a:pPr indent="0" marL="0">
              <a:buNone/>
            </a:pPr>
            <a:r>
              <a:rPr lang="en-US" sz="2000" b="1" dirty="0">
                <a:solidFill>
                  <a:srgbClr val="6FE39B"/>
                </a:solidFill>
                <a:latin typeface="Courier New" pitchFamily="34" charset="0"/>
                <a:ea typeface="Courier New" pitchFamily="34" charset="-122"/>
                <a:cs typeface="Courier New" pitchFamily="34" charset="-120"/>
              </a:rPr>
              <a:t>docker run --name daig-orders tkxel/daig-orders:broken</a:t>
            </a:r>
            <a:endParaRPr lang="en-US" sz="2000" dirty="0"/>
          </a:p>
        </p:txBody>
      </p:sp>
      <p:sp>
        <p:nvSpPr>
          <p:cNvPr id="9" name="Text 6"/>
          <p:cNvSpPr/>
          <p:nvPr/>
        </p:nvSpPr>
        <p:spPr>
          <a:xfrm>
            <a:off x="594360" y="3429000"/>
            <a:ext cx="10881360" cy="457200"/>
          </a:xfrm>
          <a:prstGeom prst="rect">
            <a:avLst/>
          </a:prstGeom>
          <a:noFill/>
          <a:ln/>
        </p:spPr>
        <p:txBody>
          <a:bodyPr wrap="square" lIns="0" tIns="0" rIns="0" bIns="0" rtlCol="0" anchor="ctr"/>
          <a:lstStyle/>
          <a:p>
            <a:pPr indent="0" marL="0">
              <a:buNone/>
            </a:pPr>
            <a:r>
              <a:rPr lang="en-US" sz="2600" b="1" dirty="0">
                <a:solidFill>
                  <a:srgbClr val="EE4001"/>
                </a:solidFill>
                <a:latin typeface="Calibri" pitchFamily="34" charset="0"/>
                <a:ea typeface="Calibri" pitchFamily="34" charset="-122"/>
                <a:cs typeface="Calibri" pitchFamily="34" charset="-120"/>
              </a:rPr>
              <a:t>It will not work. Find out why.</a:t>
            </a:r>
            <a:endParaRPr lang="en-US" sz="2600" dirty="0"/>
          </a:p>
        </p:txBody>
      </p:sp>
      <p:sp>
        <p:nvSpPr>
          <p:cNvPr id="10" name="Shape 7"/>
          <p:cNvSpPr/>
          <p:nvPr/>
        </p:nvSpPr>
        <p:spPr>
          <a:xfrm>
            <a:off x="640080" y="4169664"/>
            <a:ext cx="201168" cy="201168"/>
          </a:xfrm>
          <a:prstGeom prst="ellipse">
            <a:avLst/>
          </a:prstGeom>
          <a:solidFill>
            <a:srgbClr val="0755E9"/>
          </a:solidFill>
          <a:ln/>
        </p:spPr>
      </p:sp>
      <p:sp>
        <p:nvSpPr>
          <p:cNvPr id="11" name="Text 8"/>
          <p:cNvSpPr/>
          <p:nvPr/>
        </p:nvSpPr>
        <p:spPr>
          <a:xfrm>
            <a:off x="1005840" y="4069080"/>
            <a:ext cx="10241280" cy="411480"/>
          </a:xfrm>
          <a:prstGeom prst="rect">
            <a:avLst/>
          </a:prstGeom>
          <a:noFill/>
          <a:ln/>
        </p:spPr>
        <p:txBody>
          <a:bodyPr wrap="square" lIns="0" tIns="0" rIns="0" bIns="0" rtlCol="0" anchor="ctr"/>
          <a:lstStyle/>
          <a:p>
            <a:pPr indent="0" marL="0">
              <a:buNone/>
            </a:pPr>
            <a:r>
              <a:rPr lang="en-US" sz="1500" dirty="0">
                <a:solidFill>
                  <a:srgbClr val="F4F6FB"/>
                </a:solidFill>
                <a:latin typeface="Calibri" pitchFamily="34" charset="0"/>
                <a:ea typeface="Calibri" pitchFamily="34" charset="-122"/>
                <a:cs typeface="Calibri" pitchFamily="34" charset="-120"/>
              </a:rPr>
              <a:t>You have eight minutes.</a:t>
            </a:r>
            <a:endParaRPr lang="en-US" sz="1500" dirty="0"/>
          </a:p>
        </p:txBody>
      </p:sp>
      <p:sp>
        <p:nvSpPr>
          <p:cNvPr id="12" name="Shape 9"/>
          <p:cNvSpPr/>
          <p:nvPr/>
        </p:nvSpPr>
        <p:spPr>
          <a:xfrm>
            <a:off x="640080" y="4645152"/>
            <a:ext cx="201168" cy="201168"/>
          </a:xfrm>
          <a:prstGeom prst="ellipse">
            <a:avLst/>
          </a:prstGeom>
          <a:solidFill>
            <a:srgbClr val="0755E9"/>
          </a:solidFill>
          <a:ln/>
        </p:spPr>
      </p:sp>
      <p:sp>
        <p:nvSpPr>
          <p:cNvPr id="13" name="Text 10"/>
          <p:cNvSpPr/>
          <p:nvPr/>
        </p:nvSpPr>
        <p:spPr>
          <a:xfrm>
            <a:off x="1005840" y="4544568"/>
            <a:ext cx="10241280" cy="411480"/>
          </a:xfrm>
          <a:prstGeom prst="rect">
            <a:avLst/>
          </a:prstGeom>
          <a:noFill/>
          <a:ln/>
        </p:spPr>
        <p:txBody>
          <a:bodyPr wrap="square" lIns="0" tIns="0" rIns="0" bIns="0" rtlCol="0" anchor="ctr"/>
          <a:lstStyle/>
          <a:p>
            <a:pPr indent="0" marL="0">
              <a:buNone/>
            </a:pPr>
            <a:r>
              <a:rPr lang="en-US" sz="1500" dirty="0">
                <a:solidFill>
                  <a:srgbClr val="F4F6FB"/>
                </a:solidFill>
                <a:latin typeface="Calibri" pitchFamily="34" charset="0"/>
                <a:ea typeface="Calibri" pitchFamily="34" charset="-122"/>
                <a:cs typeface="Calibri" pitchFamily="34" charset="-120"/>
              </a:rPr>
              <a:t>You may use any command, any search, any AI tool.</a:t>
            </a:r>
            <a:endParaRPr lang="en-US" sz="1500" dirty="0"/>
          </a:p>
        </p:txBody>
      </p:sp>
      <p:sp>
        <p:nvSpPr>
          <p:cNvPr id="14" name="Shape 11"/>
          <p:cNvSpPr/>
          <p:nvPr/>
        </p:nvSpPr>
        <p:spPr>
          <a:xfrm>
            <a:off x="640080" y="5120640"/>
            <a:ext cx="201168" cy="201168"/>
          </a:xfrm>
          <a:prstGeom prst="ellipse">
            <a:avLst/>
          </a:prstGeom>
          <a:solidFill>
            <a:srgbClr val="0755E9"/>
          </a:solidFill>
          <a:ln/>
        </p:spPr>
      </p:sp>
      <p:sp>
        <p:nvSpPr>
          <p:cNvPr id="15" name="Text 12"/>
          <p:cNvSpPr/>
          <p:nvPr/>
        </p:nvSpPr>
        <p:spPr>
          <a:xfrm>
            <a:off x="1005840" y="5020056"/>
            <a:ext cx="10241280" cy="411480"/>
          </a:xfrm>
          <a:prstGeom prst="rect">
            <a:avLst/>
          </a:prstGeom>
          <a:noFill/>
          <a:ln/>
        </p:spPr>
        <p:txBody>
          <a:bodyPr wrap="square" lIns="0" tIns="0" rIns="0" bIns="0" rtlCol="0" anchor="ctr"/>
          <a:lstStyle/>
          <a:p>
            <a:pPr indent="0" marL="0">
              <a:buNone/>
            </a:pPr>
            <a:r>
              <a:rPr lang="en-US" sz="1500" dirty="0">
                <a:solidFill>
                  <a:srgbClr val="F4F6FB"/>
                </a:solidFill>
                <a:latin typeface="Calibri" pitchFamily="34" charset="0"/>
                <a:ea typeface="Calibri" pitchFamily="34" charset="-122"/>
                <a:cs typeface="Calibri" pitchFamily="34" charset="-120"/>
              </a:rPr>
              <a:t>You may not ask me for the answer.</a:t>
            </a:r>
            <a:endParaRPr lang="en-US" sz="1500" dirty="0"/>
          </a:p>
        </p:txBody>
      </p:sp>
      <p:sp>
        <p:nvSpPr>
          <p:cNvPr id="16" name="Shape 13"/>
          <p:cNvSpPr/>
          <p:nvPr/>
        </p:nvSpPr>
        <p:spPr>
          <a:xfrm>
            <a:off x="640080" y="5596128"/>
            <a:ext cx="201168" cy="201168"/>
          </a:xfrm>
          <a:prstGeom prst="ellipse">
            <a:avLst/>
          </a:prstGeom>
          <a:solidFill>
            <a:srgbClr val="0755E9"/>
          </a:solidFill>
          <a:ln/>
        </p:spPr>
      </p:sp>
      <p:sp>
        <p:nvSpPr>
          <p:cNvPr id="17" name="Text 14"/>
          <p:cNvSpPr/>
          <p:nvPr/>
        </p:nvSpPr>
        <p:spPr>
          <a:xfrm>
            <a:off x="1005840" y="5495544"/>
            <a:ext cx="10241280" cy="411480"/>
          </a:xfrm>
          <a:prstGeom prst="rect">
            <a:avLst/>
          </a:prstGeom>
          <a:noFill/>
          <a:ln/>
        </p:spPr>
        <p:txBody>
          <a:bodyPr wrap="square" lIns="0" tIns="0" rIns="0" bIns="0" rtlCol="0" anchor="ctr"/>
          <a:lstStyle/>
          <a:p>
            <a:pPr indent="0" marL="0">
              <a:buNone/>
            </a:pPr>
            <a:r>
              <a:rPr lang="en-US" sz="1500" dirty="0">
                <a:solidFill>
                  <a:srgbClr val="F4F6FB"/>
                </a:solidFill>
                <a:latin typeface="Calibri" pitchFamily="34" charset="0"/>
                <a:ea typeface="Calibri" pitchFamily="34" charset="-122"/>
                <a:cs typeface="Calibri" pitchFamily="34" charset="-120"/>
              </a:rPr>
              <a:t>Talk to the person next to you.</a:t>
            </a:r>
            <a:endParaRPr lang="en-US" sz="1500" dirty="0"/>
          </a:p>
        </p:txBody>
      </p:sp>
      <p:sp>
        <p:nvSpPr>
          <p:cNvPr id="18" name="Text 15"/>
          <p:cNvSpPr/>
          <p:nvPr/>
        </p:nvSpPr>
        <p:spPr>
          <a:xfrm>
            <a:off x="594360" y="6035040"/>
            <a:ext cx="10881360" cy="365760"/>
          </a:xfrm>
          <a:prstGeom prst="rect">
            <a:avLst/>
          </a:prstGeom>
          <a:noFill/>
          <a:ln/>
        </p:spPr>
        <p:txBody>
          <a:bodyPr wrap="square" lIns="0" tIns="0" rIns="0" bIns="0" rtlCol="0" anchor="ctr"/>
          <a:lstStyle/>
          <a:p>
            <a:pPr indent="0" marL="0">
              <a:buNone/>
            </a:pPr>
            <a:r>
              <a:rPr lang="en-US" sz="1300" i="1" dirty="0">
                <a:solidFill>
                  <a:srgbClr val="8A99BF"/>
                </a:solidFill>
                <a:latin typeface="Calibri" pitchFamily="34" charset="0"/>
                <a:ea typeface="Calibri" pitchFamily="34" charset="-122"/>
                <a:cs typeface="Calibri" pitchFamily="34" charset="-120"/>
              </a:rPr>
              <a:t>If your Docker is not working, pair with someone whose is. That is also the lesson.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B"/>
        </a:solidFill>
      </p:bgPr>
    </p:bg>
    <p:spTree>
      <p:nvGrpSpPr>
        <p:cNvPr id="1" name=""/>
        <p:cNvGrpSpPr/>
        <p:nvPr/>
      </p:nvGrpSpPr>
      <p:grpSpPr>
        <a:xfrm>
          <a:off x="0" y="0"/>
          <a:ext cx="0" cy="0"/>
          <a:chOff x="0" y="0"/>
          <a:chExt cx="0" cy="0"/>
        </a:xfrm>
      </p:grpSpPr>
      <p:sp>
        <p:nvSpPr>
          <p:cNvPr id="3" name="Shape 0"/>
          <p:cNvSpPr/>
          <p:nvPr/>
        </p:nvSpPr>
        <p:spPr>
          <a:xfrm>
            <a:off x="594360" y="384048"/>
            <a:ext cx="384048" cy="384048"/>
          </a:xfrm>
          <a:prstGeom prst="ellipse">
            <a:avLst/>
          </a:prstGeom>
          <a:solidFill>
            <a:srgbClr val="0755E9"/>
          </a:solidFill>
          <a:ln/>
        </p:spPr>
      </p:sp>
      <p:sp>
        <p:nvSpPr>
          <p:cNvPr id="4" name="Text 1"/>
          <p:cNvSpPr/>
          <p:nvPr/>
        </p:nvSpPr>
        <p:spPr>
          <a:xfrm>
            <a:off x="59436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5" name="Text 2"/>
          <p:cNvSpPr/>
          <p:nvPr/>
        </p:nvSpPr>
        <p:spPr>
          <a:xfrm>
            <a:off x="1097280" y="384048"/>
            <a:ext cx="7772400" cy="384048"/>
          </a:xfrm>
          <a:prstGeom prst="rect">
            <a:avLst/>
          </a:prstGeom>
          <a:noFill/>
          <a:ln/>
        </p:spPr>
        <p:txBody>
          <a:bodyPr wrap="square" lIns="0" tIns="0" rIns="0" bIns="0" rtlCol="0" anchor="ctr"/>
          <a:lstStyle/>
          <a:p>
            <a:pPr indent="0" marL="0">
              <a:buNone/>
            </a:pPr>
            <a:r>
              <a:rPr lang="en-US" sz="1100" b="1" spc="200" kern="0" dirty="0">
                <a:solidFill>
                  <a:srgbClr val="5A6890"/>
                </a:solidFill>
                <a:latin typeface="Calibri" pitchFamily="34" charset="0"/>
                <a:ea typeface="Calibri" pitchFamily="34" charset="-122"/>
                <a:cs typeface="Calibri" pitchFamily="34" charset="-120"/>
              </a:rPr>
              <a:t>HANDS ON</a:t>
            </a:r>
            <a:endParaRPr lang="en-US" sz="1100" dirty="0"/>
          </a:p>
        </p:txBody>
      </p:sp>
      <p:sp>
        <p:nvSpPr>
          <p:cNvPr id="6" name="Text 3"/>
          <p:cNvSpPr/>
          <p:nvPr/>
        </p:nvSpPr>
        <p:spPr>
          <a:xfrm>
            <a:off x="594360" y="960120"/>
            <a:ext cx="10881360" cy="914400"/>
          </a:xfrm>
          <a:prstGeom prst="rect">
            <a:avLst/>
          </a:prstGeom>
          <a:noFill/>
          <a:ln/>
        </p:spPr>
        <p:txBody>
          <a:bodyPr wrap="square" lIns="0" tIns="0" rIns="0" bIns="0" rtlCol="0" anchor="t"/>
          <a:lstStyle/>
          <a:p>
            <a:pPr indent="0" marL="0">
              <a:buNone/>
            </a:pPr>
            <a:r>
              <a:rPr lang="en-US" sz="3600" b="1" dirty="0">
                <a:solidFill>
                  <a:srgbClr val="0A1229"/>
                </a:solidFill>
                <a:latin typeface="Calibri" pitchFamily="34" charset="0"/>
                <a:ea typeface="Calibri" pitchFamily="34" charset="-122"/>
                <a:cs typeface="Calibri" pitchFamily="34" charset="-120"/>
              </a:rPr>
              <a:t>Look at what you just did</a:t>
            </a:r>
            <a:endParaRPr lang="en-US" sz="3600" dirty="0"/>
          </a:p>
        </p:txBody>
      </p:sp>
      <p:sp>
        <p:nvSpPr>
          <p:cNvPr id="7" name="Text 4"/>
          <p:cNvSpPr/>
          <p:nvPr/>
        </p:nvSpPr>
        <p:spPr>
          <a:xfrm>
            <a:off x="594360" y="1783080"/>
            <a:ext cx="10881360" cy="411480"/>
          </a:xfrm>
          <a:prstGeom prst="rect">
            <a:avLst/>
          </a:prstGeom>
          <a:noFill/>
          <a:ln/>
        </p:spPr>
        <p:txBody>
          <a:bodyPr wrap="square" lIns="0" tIns="0" rIns="0" bIns="0" rtlCol="0" anchor="ctr"/>
          <a:lstStyle/>
          <a:p>
            <a:pPr indent="0" marL="0">
              <a:buNone/>
            </a:pPr>
            <a:r>
              <a:rPr lang="en-US" sz="1700" dirty="0">
                <a:solidFill>
                  <a:srgbClr val="5A6890"/>
                </a:solidFill>
                <a:latin typeface="Calibri" pitchFamily="34" charset="0"/>
                <a:ea typeface="Calibri" pitchFamily="34" charset="-122"/>
                <a:cs typeface="Calibri" pitchFamily="34" charset="-120"/>
              </a:rPr>
              <a:t>Forget Docker. This is the pattern underneath it.</a:t>
            </a:r>
            <a:endParaRPr lang="en-US" sz="1700" dirty="0"/>
          </a:p>
        </p:txBody>
      </p:sp>
      <p:sp>
        <p:nvSpPr>
          <p:cNvPr id="8" name="Shape 5"/>
          <p:cNvSpPr/>
          <p:nvPr/>
        </p:nvSpPr>
        <p:spPr>
          <a:xfrm>
            <a:off x="594360" y="2423160"/>
            <a:ext cx="2514600" cy="2148840"/>
          </a:xfrm>
          <a:prstGeom prst="roundRect">
            <a:avLst>
              <a:gd name="adj" fmla="val 3404"/>
            </a:avLst>
          </a:prstGeom>
          <a:solidFill>
            <a:srgbClr val="E4E9F5"/>
          </a:solidFill>
          <a:ln w="12700">
            <a:solidFill>
              <a:srgbClr val="E4E9F5"/>
            </a:solidFill>
            <a:prstDash val="solid"/>
          </a:ln>
        </p:spPr>
      </p:sp>
      <p:sp>
        <p:nvSpPr>
          <p:cNvPr id="9" name="Shape 6"/>
          <p:cNvSpPr/>
          <p:nvPr/>
        </p:nvSpPr>
        <p:spPr>
          <a:xfrm>
            <a:off x="850392" y="2651760"/>
            <a:ext cx="457200" cy="457200"/>
          </a:xfrm>
          <a:prstGeom prst="ellipse">
            <a:avLst/>
          </a:prstGeom>
          <a:solidFill>
            <a:srgbClr val="0755E9"/>
          </a:solidFill>
          <a:ln/>
        </p:spPr>
      </p:sp>
      <p:sp>
        <p:nvSpPr>
          <p:cNvPr id="10" name="Text 7"/>
          <p:cNvSpPr/>
          <p:nvPr/>
        </p:nvSpPr>
        <p:spPr>
          <a:xfrm>
            <a:off x="850392" y="2651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1" name="Text 8"/>
          <p:cNvSpPr/>
          <p:nvPr/>
        </p:nvSpPr>
        <p:spPr>
          <a:xfrm>
            <a:off x="850392" y="3218688"/>
            <a:ext cx="2148840" cy="566928"/>
          </a:xfrm>
          <a:prstGeom prst="rect">
            <a:avLst/>
          </a:prstGeom>
          <a:noFill/>
          <a:ln/>
        </p:spPr>
        <p:txBody>
          <a:bodyPr wrap="square" lIns="0" tIns="0" rIns="0" bIns="0" rtlCol="0" anchor="ctr"/>
          <a:lstStyle/>
          <a:p>
            <a:pPr indent="0" marL="0">
              <a:buNone/>
            </a:pPr>
            <a:r>
              <a:rPr lang="en-US" sz="1500" b="1" dirty="0">
                <a:solidFill>
                  <a:srgbClr val="0A1229"/>
                </a:solidFill>
                <a:latin typeface="Calibri" pitchFamily="34" charset="0"/>
                <a:ea typeface="Calibri" pitchFamily="34" charset="-122"/>
                <a:cs typeface="Calibri" pitchFamily="34" charset="-120"/>
              </a:rPr>
              <a:t>Observed</a:t>
            </a:r>
            <a:endParaRPr lang="en-US" sz="1500" dirty="0"/>
          </a:p>
        </p:txBody>
      </p:sp>
      <p:sp>
        <p:nvSpPr>
          <p:cNvPr id="12" name="Text 9"/>
          <p:cNvSpPr/>
          <p:nvPr/>
        </p:nvSpPr>
        <p:spPr>
          <a:xfrm>
            <a:off x="850392" y="3803904"/>
            <a:ext cx="2148840" cy="713232"/>
          </a:xfrm>
          <a:prstGeom prst="rect">
            <a:avLst/>
          </a:prstGeom>
          <a:noFill/>
          <a:ln/>
        </p:spPr>
        <p:txBody>
          <a:bodyPr wrap="square" lIns="0" tIns="0" rIns="0" bIns="0" rtlCol="0" anchor="ctr"/>
          <a:lstStyle/>
          <a:p>
            <a:pPr indent="0" marL="0">
              <a:buNone/>
            </a:pPr>
            <a:r>
              <a:rPr lang="en-US" sz="1100" dirty="0">
                <a:solidFill>
                  <a:srgbClr val="5A6890"/>
                </a:solidFill>
                <a:latin typeface="Calibri" pitchFamily="34" charset="0"/>
                <a:ea typeface="Calibri" pitchFamily="34" charset="-122"/>
                <a:cs typeface="Calibri" pitchFamily="34" charset="-120"/>
              </a:rPr>
              <a:t>You read the logs instead of guessing. The system was telling you what was wrong the whole time.</a:t>
            </a:r>
            <a:endParaRPr lang="en-US" sz="1100" dirty="0"/>
          </a:p>
        </p:txBody>
      </p:sp>
      <p:sp>
        <p:nvSpPr>
          <p:cNvPr id="13" name="Shape 10"/>
          <p:cNvSpPr/>
          <p:nvPr/>
        </p:nvSpPr>
        <p:spPr>
          <a:xfrm>
            <a:off x="3337560" y="2423160"/>
            <a:ext cx="2514600" cy="2148840"/>
          </a:xfrm>
          <a:prstGeom prst="roundRect">
            <a:avLst>
              <a:gd name="adj" fmla="val 3404"/>
            </a:avLst>
          </a:prstGeom>
          <a:solidFill>
            <a:srgbClr val="E4E9F5"/>
          </a:solidFill>
          <a:ln w="12700">
            <a:solidFill>
              <a:srgbClr val="E4E9F5"/>
            </a:solidFill>
            <a:prstDash val="solid"/>
          </a:ln>
        </p:spPr>
      </p:sp>
      <p:sp>
        <p:nvSpPr>
          <p:cNvPr id="14" name="Shape 11"/>
          <p:cNvSpPr/>
          <p:nvPr/>
        </p:nvSpPr>
        <p:spPr>
          <a:xfrm>
            <a:off x="3593592" y="2651760"/>
            <a:ext cx="457200" cy="457200"/>
          </a:xfrm>
          <a:prstGeom prst="ellipse">
            <a:avLst/>
          </a:prstGeom>
          <a:solidFill>
            <a:srgbClr val="0755E9"/>
          </a:solidFill>
          <a:ln/>
        </p:spPr>
      </p:sp>
      <p:sp>
        <p:nvSpPr>
          <p:cNvPr id="15" name="Text 12"/>
          <p:cNvSpPr/>
          <p:nvPr/>
        </p:nvSpPr>
        <p:spPr>
          <a:xfrm>
            <a:off x="3593592" y="2651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6" name="Text 13"/>
          <p:cNvSpPr/>
          <p:nvPr/>
        </p:nvSpPr>
        <p:spPr>
          <a:xfrm>
            <a:off x="3593592" y="3218688"/>
            <a:ext cx="2148840" cy="566928"/>
          </a:xfrm>
          <a:prstGeom prst="rect">
            <a:avLst/>
          </a:prstGeom>
          <a:noFill/>
          <a:ln/>
        </p:spPr>
        <p:txBody>
          <a:bodyPr wrap="square" lIns="0" tIns="0" rIns="0" bIns="0" rtlCol="0" anchor="ctr"/>
          <a:lstStyle/>
          <a:p>
            <a:pPr indent="0" marL="0">
              <a:buNone/>
            </a:pPr>
            <a:r>
              <a:rPr lang="en-US" sz="1500" b="1" dirty="0">
                <a:solidFill>
                  <a:srgbClr val="0A1229"/>
                </a:solidFill>
                <a:latin typeface="Calibri" pitchFamily="34" charset="0"/>
                <a:ea typeface="Calibri" pitchFamily="34" charset="-122"/>
                <a:cs typeface="Calibri" pitchFamily="34" charset="-120"/>
              </a:rPr>
              <a:t>Hypothesised</a:t>
            </a:r>
            <a:endParaRPr lang="en-US" sz="1500" dirty="0"/>
          </a:p>
        </p:txBody>
      </p:sp>
      <p:sp>
        <p:nvSpPr>
          <p:cNvPr id="17" name="Text 14"/>
          <p:cNvSpPr/>
          <p:nvPr/>
        </p:nvSpPr>
        <p:spPr>
          <a:xfrm>
            <a:off x="3593592" y="3803904"/>
            <a:ext cx="2148840" cy="713232"/>
          </a:xfrm>
          <a:prstGeom prst="rect">
            <a:avLst/>
          </a:prstGeom>
          <a:noFill/>
          <a:ln/>
        </p:spPr>
        <p:txBody>
          <a:bodyPr wrap="square" lIns="0" tIns="0" rIns="0" bIns="0" rtlCol="0" anchor="ctr"/>
          <a:lstStyle/>
          <a:p>
            <a:pPr indent="0" marL="0">
              <a:buNone/>
            </a:pPr>
            <a:r>
              <a:rPr lang="en-US" sz="1100" dirty="0">
                <a:solidFill>
                  <a:srgbClr val="5A6890"/>
                </a:solidFill>
                <a:latin typeface="Calibri" pitchFamily="34" charset="0"/>
                <a:ea typeface="Calibri" pitchFamily="34" charset="-122"/>
                <a:cs typeface="Calibri" pitchFamily="34" charset="-120"/>
              </a:rPr>
              <a:t>It cannot reach its database. Narrow, testable, wrong-able.</a:t>
            </a:r>
            <a:endParaRPr lang="en-US" sz="1100" dirty="0"/>
          </a:p>
        </p:txBody>
      </p:sp>
      <p:sp>
        <p:nvSpPr>
          <p:cNvPr id="18" name="Shape 15"/>
          <p:cNvSpPr/>
          <p:nvPr/>
        </p:nvSpPr>
        <p:spPr>
          <a:xfrm>
            <a:off x="6080760" y="2423160"/>
            <a:ext cx="2514600" cy="2148840"/>
          </a:xfrm>
          <a:prstGeom prst="roundRect">
            <a:avLst>
              <a:gd name="adj" fmla="val 3404"/>
            </a:avLst>
          </a:prstGeom>
          <a:solidFill>
            <a:srgbClr val="E4E9F5"/>
          </a:solidFill>
          <a:ln w="12700">
            <a:solidFill>
              <a:srgbClr val="E4E9F5"/>
            </a:solidFill>
            <a:prstDash val="solid"/>
          </a:ln>
        </p:spPr>
      </p:sp>
      <p:sp>
        <p:nvSpPr>
          <p:cNvPr id="19" name="Shape 16"/>
          <p:cNvSpPr/>
          <p:nvPr/>
        </p:nvSpPr>
        <p:spPr>
          <a:xfrm>
            <a:off x="6336792" y="2651760"/>
            <a:ext cx="457200" cy="457200"/>
          </a:xfrm>
          <a:prstGeom prst="ellipse">
            <a:avLst/>
          </a:prstGeom>
          <a:solidFill>
            <a:srgbClr val="0755E9"/>
          </a:solidFill>
          <a:ln/>
        </p:spPr>
      </p:sp>
      <p:sp>
        <p:nvSpPr>
          <p:cNvPr id="20" name="Text 17"/>
          <p:cNvSpPr/>
          <p:nvPr/>
        </p:nvSpPr>
        <p:spPr>
          <a:xfrm>
            <a:off x="6336792" y="2651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8"/>
          <p:cNvSpPr/>
          <p:nvPr/>
        </p:nvSpPr>
        <p:spPr>
          <a:xfrm>
            <a:off x="6336792" y="3218688"/>
            <a:ext cx="2148840" cy="566928"/>
          </a:xfrm>
          <a:prstGeom prst="rect">
            <a:avLst/>
          </a:prstGeom>
          <a:noFill/>
          <a:ln/>
        </p:spPr>
        <p:txBody>
          <a:bodyPr wrap="square" lIns="0" tIns="0" rIns="0" bIns="0" rtlCol="0" anchor="ctr"/>
          <a:lstStyle/>
          <a:p>
            <a:pPr indent="0" marL="0">
              <a:buNone/>
            </a:pPr>
            <a:r>
              <a:rPr lang="en-US" sz="1500" b="1" dirty="0">
                <a:solidFill>
                  <a:srgbClr val="0A1229"/>
                </a:solidFill>
                <a:latin typeface="Calibri" pitchFamily="34" charset="0"/>
                <a:ea typeface="Calibri" pitchFamily="34" charset="-122"/>
                <a:cs typeface="Calibri" pitchFamily="34" charset="-120"/>
              </a:rPr>
              <a:t>Changed config, not code</a:t>
            </a:r>
            <a:endParaRPr lang="en-US" sz="1500" dirty="0"/>
          </a:p>
        </p:txBody>
      </p:sp>
      <p:sp>
        <p:nvSpPr>
          <p:cNvPr id="22" name="Text 19"/>
          <p:cNvSpPr/>
          <p:nvPr/>
        </p:nvSpPr>
        <p:spPr>
          <a:xfrm>
            <a:off x="6336792" y="3803904"/>
            <a:ext cx="2148840" cy="713232"/>
          </a:xfrm>
          <a:prstGeom prst="rect">
            <a:avLst/>
          </a:prstGeom>
          <a:noFill/>
          <a:ln/>
        </p:spPr>
        <p:txBody>
          <a:bodyPr wrap="square" lIns="0" tIns="0" rIns="0" bIns="0" rtlCol="0" anchor="ctr"/>
          <a:lstStyle/>
          <a:p>
            <a:pPr indent="0" marL="0">
              <a:buNone/>
            </a:pPr>
            <a:r>
              <a:rPr lang="en-US" sz="1100" dirty="0">
                <a:solidFill>
                  <a:srgbClr val="5A6890"/>
                </a:solidFill>
                <a:latin typeface="Calibri" pitchFamily="34" charset="0"/>
                <a:ea typeface="Calibri" pitchFamily="34" charset="-122"/>
                <a:cs typeface="Calibri" pitchFamily="34" charset="-120"/>
              </a:rPr>
              <a:t>You did not touch the application. You changed how it was configured.</a:t>
            </a:r>
            <a:endParaRPr lang="en-US" sz="1100" dirty="0"/>
          </a:p>
        </p:txBody>
      </p:sp>
      <p:sp>
        <p:nvSpPr>
          <p:cNvPr id="23" name="Shape 20"/>
          <p:cNvSpPr/>
          <p:nvPr/>
        </p:nvSpPr>
        <p:spPr>
          <a:xfrm>
            <a:off x="8823960" y="2423160"/>
            <a:ext cx="2514600" cy="2148840"/>
          </a:xfrm>
          <a:prstGeom prst="roundRect">
            <a:avLst>
              <a:gd name="adj" fmla="val 3404"/>
            </a:avLst>
          </a:prstGeom>
          <a:solidFill>
            <a:srgbClr val="E4E9F5"/>
          </a:solidFill>
          <a:ln w="12700">
            <a:solidFill>
              <a:srgbClr val="E4E9F5"/>
            </a:solidFill>
            <a:prstDash val="solid"/>
          </a:ln>
        </p:spPr>
      </p:sp>
      <p:sp>
        <p:nvSpPr>
          <p:cNvPr id="24" name="Shape 21"/>
          <p:cNvSpPr/>
          <p:nvPr/>
        </p:nvSpPr>
        <p:spPr>
          <a:xfrm>
            <a:off x="9079992" y="2651760"/>
            <a:ext cx="457200" cy="457200"/>
          </a:xfrm>
          <a:prstGeom prst="ellipse">
            <a:avLst/>
          </a:prstGeom>
          <a:solidFill>
            <a:srgbClr val="0755E9"/>
          </a:solidFill>
          <a:ln/>
        </p:spPr>
      </p:sp>
      <p:sp>
        <p:nvSpPr>
          <p:cNvPr id="25" name="Text 22"/>
          <p:cNvSpPr/>
          <p:nvPr/>
        </p:nvSpPr>
        <p:spPr>
          <a:xfrm>
            <a:off x="9079992" y="2651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6" name="Text 23"/>
          <p:cNvSpPr/>
          <p:nvPr/>
        </p:nvSpPr>
        <p:spPr>
          <a:xfrm>
            <a:off x="9079992" y="3218688"/>
            <a:ext cx="2148840" cy="566928"/>
          </a:xfrm>
          <a:prstGeom prst="rect">
            <a:avLst/>
          </a:prstGeom>
          <a:noFill/>
          <a:ln/>
        </p:spPr>
        <p:txBody>
          <a:bodyPr wrap="square" lIns="0" tIns="0" rIns="0" bIns="0" rtlCol="0" anchor="ctr"/>
          <a:lstStyle/>
          <a:p>
            <a:pPr indent="0" marL="0">
              <a:buNone/>
            </a:pPr>
            <a:r>
              <a:rPr lang="en-US" sz="1500" b="1" dirty="0">
                <a:solidFill>
                  <a:srgbClr val="0A1229"/>
                </a:solidFill>
                <a:latin typeface="Calibri" pitchFamily="34" charset="0"/>
                <a:ea typeface="Calibri" pitchFamily="34" charset="-122"/>
                <a:cs typeface="Calibri" pitchFamily="34" charset="-120"/>
              </a:rPr>
              <a:t>Verified</a:t>
            </a:r>
            <a:endParaRPr lang="en-US" sz="1500" dirty="0"/>
          </a:p>
        </p:txBody>
      </p:sp>
      <p:sp>
        <p:nvSpPr>
          <p:cNvPr id="27" name="Text 24"/>
          <p:cNvSpPr/>
          <p:nvPr/>
        </p:nvSpPr>
        <p:spPr>
          <a:xfrm>
            <a:off x="9079992" y="3803904"/>
            <a:ext cx="2148840" cy="713232"/>
          </a:xfrm>
          <a:prstGeom prst="rect">
            <a:avLst/>
          </a:prstGeom>
          <a:noFill/>
          <a:ln/>
        </p:spPr>
        <p:txBody>
          <a:bodyPr wrap="square" lIns="0" tIns="0" rIns="0" bIns="0" rtlCol="0" anchor="ctr"/>
          <a:lstStyle/>
          <a:p>
            <a:pPr indent="0" marL="0">
              <a:buNone/>
            </a:pPr>
            <a:r>
              <a:rPr lang="en-US" sz="1100" dirty="0">
                <a:solidFill>
                  <a:srgbClr val="5A6890"/>
                </a:solidFill>
                <a:latin typeface="Calibri" pitchFamily="34" charset="0"/>
                <a:ea typeface="Calibri" pitchFamily="34" charset="-122"/>
                <a:cs typeface="Calibri" pitchFamily="34" charset="-120"/>
              </a:rPr>
              <a:t>You proved the fix worked instead of hoping.</a:t>
            </a:r>
            <a:endParaRPr lang="en-US" sz="1100" dirty="0"/>
          </a:p>
        </p:txBody>
      </p:sp>
      <p:sp>
        <p:nvSpPr>
          <p:cNvPr id="28" name="Shape 25"/>
          <p:cNvSpPr/>
          <p:nvPr/>
        </p:nvSpPr>
        <p:spPr>
          <a:xfrm>
            <a:off x="594360" y="4892040"/>
            <a:ext cx="10881360" cy="1234440"/>
          </a:xfrm>
          <a:prstGeom prst="roundRect">
            <a:avLst>
              <a:gd name="adj" fmla="val 5926"/>
            </a:avLst>
          </a:prstGeom>
          <a:solidFill>
            <a:srgbClr val="E4E9F5"/>
          </a:solidFill>
          <a:ln w="12700">
            <a:solidFill>
              <a:srgbClr val="E4E9F5"/>
            </a:solidFill>
            <a:prstDash val="solid"/>
          </a:ln>
        </p:spPr>
      </p:sp>
      <p:sp>
        <p:nvSpPr>
          <p:cNvPr id="29" name="Text 26"/>
          <p:cNvSpPr/>
          <p:nvPr/>
        </p:nvSpPr>
        <p:spPr>
          <a:xfrm>
            <a:off x="960120" y="4892040"/>
            <a:ext cx="10149840" cy="1234440"/>
          </a:xfrm>
          <a:prstGeom prst="rect">
            <a:avLst/>
          </a:prstGeom>
          <a:noFill/>
          <a:ln/>
        </p:spPr>
        <p:txBody>
          <a:bodyPr wrap="square" lIns="0" tIns="0" rIns="0" bIns="0" rtlCol="0" anchor="ctr"/>
          <a:lstStyle/>
          <a:p>
            <a:pPr indent="0" marL="0">
              <a:buNone/>
            </a:pPr>
            <a:r>
              <a:rPr lang="en-US" sz="1700" b="1" dirty="0">
                <a:solidFill>
                  <a:srgbClr val="0A1229"/>
                </a:solidFill>
                <a:latin typeface="Calibri" pitchFamily="34" charset="0"/>
                <a:ea typeface="Calibri" pitchFamily="34" charset="-122"/>
                <a:cs typeface="Calibri" pitchFamily="34" charset="-120"/>
              </a:rPr>
              <a:t>That loop, at scale, with automation around it and real money on the line, is the job.</a:t>
            </a:r>
            <a:endParaRPr lang="en-US" sz="1700" dirty="0"/>
          </a:p>
          <a:p>
            <a:pPr indent="0" marL="0">
              <a:buNone/>
            </a:pPr>
            <a:r>
              <a:rPr lang="en-US" sz="1700" b="1" dirty="0">
                <a:solidFill>
                  <a:srgbClr val="0A1229"/>
                </a:solidFill>
                <a:latin typeface="Calibri" pitchFamily="34" charset="0"/>
                <a:ea typeface="Calibri" pitchFamily="34" charset="-122"/>
                <a:cs typeface="Calibri" pitchFamily="34" charset="-120"/>
              </a:rPr>
              <a:t>Everything this week is that loop, larger.</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B"/>
        </a:solidFill>
      </p:bgPr>
    </p:bg>
    <p:spTree>
      <p:nvGrpSpPr>
        <p:cNvPr id="1" name=""/>
        <p:cNvGrpSpPr/>
        <p:nvPr/>
      </p:nvGrpSpPr>
      <p:grpSpPr>
        <a:xfrm>
          <a:off x="0" y="0"/>
          <a:ext cx="0" cy="0"/>
          <a:chOff x="0" y="0"/>
          <a:chExt cx="0" cy="0"/>
        </a:xfrm>
      </p:grpSpPr>
      <p:sp>
        <p:nvSpPr>
          <p:cNvPr id="3" name="Shape 0"/>
          <p:cNvSpPr/>
          <p:nvPr/>
        </p:nvSpPr>
        <p:spPr>
          <a:xfrm>
            <a:off x="594360" y="384048"/>
            <a:ext cx="384048" cy="384048"/>
          </a:xfrm>
          <a:prstGeom prst="ellipse">
            <a:avLst/>
          </a:prstGeom>
          <a:solidFill>
            <a:srgbClr val="0755E9"/>
          </a:solidFill>
          <a:ln/>
        </p:spPr>
      </p:sp>
      <p:sp>
        <p:nvSpPr>
          <p:cNvPr id="4" name="Text 1"/>
          <p:cNvSpPr/>
          <p:nvPr/>
        </p:nvSpPr>
        <p:spPr>
          <a:xfrm>
            <a:off x="59436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5" name="Text 2"/>
          <p:cNvSpPr/>
          <p:nvPr/>
        </p:nvSpPr>
        <p:spPr>
          <a:xfrm>
            <a:off x="1097280" y="384048"/>
            <a:ext cx="7772400" cy="384048"/>
          </a:xfrm>
          <a:prstGeom prst="rect">
            <a:avLst/>
          </a:prstGeom>
          <a:noFill/>
          <a:ln/>
        </p:spPr>
        <p:txBody>
          <a:bodyPr wrap="square" lIns="0" tIns="0" rIns="0" bIns="0" rtlCol="0" anchor="ctr"/>
          <a:lstStyle/>
          <a:p>
            <a:pPr indent="0" marL="0">
              <a:buNone/>
            </a:pPr>
            <a:r>
              <a:rPr lang="en-US" sz="1100" b="1" spc="200" kern="0" dirty="0">
                <a:solidFill>
                  <a:srgbClr val="5A6890"/>
                </a:solidFill>
                <a:latin typeface="Calibri" pitchFamily="34" charset="0"/>
                <a:ea typeface="Calibri" pitchFamily="34" charset="-122"/>
                <a:cs typeface="Calibri" pitchFamily="34" charset="-120"/>
              </a:rPr>
              <a:t>WHAT IT IS</a:t>
            </a:r>
            <a:endParaRPr lang="en-US" sz="1100" dirty="0"/>
          </a:p>
        </p:txBody>
      </p:sp>
      <p:sp>
        <p:nvSpPr>
          <p:cNvPr id="6" name="Text 3"/>
          <p:cNvSpPr/>
          <p:nvPr/>
        </p:nvSpPr>
        <p:spPr>
          <a:xfrm>
            <a:off x="594360" y="960120"/>
            <a:ext cx="10881360" cy="914400"/>
          </a:xfrm>
          <a:prstGeom prst="rect">
            <a:avLst/>
          </a:prstGeom>
          <a:noFill/>
          <a:ln/>
        </p:spPr>
        <p:txBody>
          <a:bodyPr wrap="square" lIns="0" tIns="0" rIns="0" bIns="0" rtlCol="0" anchor="t"/>
          <a:lstStyle/>
          <a:p>
            <a:pPr indent="0" marL="0">
              <a:buNone/>
            </a:pPr>
            <a:r>
              <a:rPr lang="en-US" sz="3600" b="1" dirty="0">
                <a:solidFill>
                  <a:srgbClr val="0A1229"/>
                </a:solidFill>
                <a:latin typeface="Calibri" pitchFamily="34" charset="0"/>
                <a:ea typeface="Calibri" pitchFamily="34" charset="-122"/>
                <a:cs typeface="Calibri" pitchFamily="34" charset="-120"/>
              </a:rPr>
              <a:t>So - DevOps</a:t>
            </a:r>
            <a:endParaRPr lang="en-US" sz="3600" dirty="0"/>
          </a:p>
        </p:txBody>
      </p:sp>
      <p:sp>
        <p:nvSpPr>
          <p:cNvPr id="7" name="Text 4"/>
          <p:cNvSpPr/>
          <p:nvPr/>
        </p:nvSpPr>
        <p:spPr>
          <a:xfrm>
            <a:off x="594360" y="1783080"/>
            <a:ext cx="10881360" cy="457200"/>
          </a:xfrm>
          <a:prstGeom prst="rect">
            <a:avLst/>
          </a:prstGeom>
          <a:noFill/>
          <a:ln/>
        </p:spPr>
        <p:txBody>
          <a:bodyPr wrap="square" lIns="0" tIns="0" rIns="0" bIns="0" rtlCol="0" anchor="ctr"/>
          <a:lstStyle/>
          <a:p>
            <a:pPr indent="0" marL="0">
              <a:buNone/>
            </a:pPr>
            <a:r>
              <a:rPr lang="en-US" sz="1900" b="1" dirty="0">
                <a:solidFill>
                  <a:srgbClr val="0755E9"/>
                </a:solidFill>
                <a:latin typeface="Calibri" pitchFamily="34" charset="0"/>
                <a:ea typeface="Calibri" pitchFamily="34" charset="-122"/>
                <a:cs typeface="Calibri" pitchFamily="34" charset="-120"/>
              </a:rPr>
              <a:t>One team owning a system from the idea to the incident, instead of throwing it over a wall.</a:t>
            </a:r>
            <a:endParaRPr lang="en-US" sz="1900" dirty="0"/>
          </a:p>
        </p:txBody>
      </p:sp>
      <p:sp>
        <p:nvSpPr>
          <p:cNvPr id="8" name="Text 5"/>
          <p:cNvSpPr/>
          <p:nvPr/>
        </p:nvSpPr>
        <p:spPr>
          <a:xfrm>
            <a:off x="914400" y="2514600"/>
            <a:ext cx="4663440" cy="320040"/>
          </a:xfrm>
          <a:prstGeom prst="rect">
            <a:avLst/>
          </a:prstGeom>
          <a:noFill/>
          <a:ln/>
        </p:spPr>
        <p:txBody>
          <a:bodyPr wrap="square" lIns="0" tIns="0" rIns="0" bIns="0" rtlCol="0" anchor="ctr"/>
          <a:lstStyle/>
          <a:p>
            <a:pPr indent="0" marL="0">
              <a:buNone/>
            </a:pPr>
            <a:r>
              <a:rPr lang="en-US" sz="1200" b="1" spc="200" kern="0" dirty="0">
                <a:solidFill>
                  <a:srgbClr val="EE4001"/>
                </a:solidFill>
                <a:latin typeface="Calibri" pitchFamily="34" charset="0"/>
                <a:ea typeface="Calibri" pitchFamily="34" charset="-122"/>
                <a:cs typeface="Calibri" pitchFamily="34" charset="-120"/>
              </a:rPr>
              <a:t>WITHOUT IT</a:t>
            </a:r>
            <a:endParaRPr lang="en-US" sz="1200" dirty="0"/>
          </a:p>
        </p:txBody>
      </p:sp>
      <p:sp>
        <p:nvSpPr>
          <p:cNvPr id="9" name="Text 6"/>
          <p:cNvSpPr/>
          <p:nvPr/>
        </p:nvSpPr>
        <p:spPr>
          <a:xfrm>
            <a:off x="6537960" y="2514600"/>
            <a:ext cx="4663440" cy="320040"/>
          </a:xfrm>
          <a:prstGeom prst="rect">
            <a:avLst/>
          </a:prstGeom>
          <a:noFill/>
          <a:ln/>
        </p:spPr>
        <p:txBody>
          <a:bodyPr wrap="square" lIns="0" tIns="0" rIns="0" bIns="0" rtlCol="0" anchor="ctr"/>
          <a:lstStyle/>
          <a:p>
            <a:pPr indent="0" marL="0">
              <a:buNone/>
            </a:pPr>
            <a:r>
              <a:rPr lang="en-US" sz="1200" b="1" spc="200" kern="0" dirty="0">
                <a:solidFill>
                  <a:srgbClr val="1B9C63"/>
                </a:solidFill>
                <a:latin typeface="Calibri" pitchFamily="34" charset="0"/>
                <a:ea typeface="Calibri" pitchFamily="34" charset="-122"/>
                <a:cs typeface="Calibri" pitchFamily="34" charset="-120"/>
              </a:rPr>
              <a:t>WITH IT</a:t>
            </a:r>
            <a:endParaRPr lang="en-US" sz="1200" dirty="0"/>
          </a:p>
        </p:txBody>
      </p:sp>
      <p:sp>
        <p:nvSpPr>
          <p:cNvPr id="10" name="Shape 7"/>
          <p:cNvSpPr/>
          <p:nvPr/>
        </p:nvSpPr>
        <p:spPr>
          <a:xfrm>
            <a:off x="594360" y="2926080"/>
            <a:ext cx="5257800" cy="2743200"/>
          </a:xfrm>
          <a:prstGeom prst="roundRect">
            <a:avLst>
              <a:gd name="adj" fmla="val 2667"/>
            </a:avLst>
          </a:prstGeom>
          <a:solidFill>
            <a:srgbClr val="E4E9F5"/>
          </a:solidFill>
          <a:ln w="12700">
            <a:solidFill>
              <a:srgbClr val="E4E9F5"/>
            </a:solidFill>
            <a:prstDash val="solid"/>
          </a:ln>
        </p:spPr>
      </p:sp>
      <p:sp>
        <p:nvSpPr>
          <p:cNvPr id="11" name="Shape 8"/>
          <p:cNvSpPr/>
          <p:nvPr/>
        </p:nvSpPr>
        <p:spPr>
          <a:xfrm>
            <a:off x="6217920" y="2926080"/>
            <a:ext cx="5257800" cy="2743200"/>
          </a:xfrm>
          <a:prstGeom prst="roundRect">
            <a:avLst>
              <a:gd name="adj" fmla="val 2667"/>
            </a:avLst>
          </a:prstGeom>
          <a:solidFill>
            <a:srgbClr val="E4E9F5"/>
          </a:solidFill>
          <a:ln w="12700">
            <a:solidFill>
              <a:srgbClr val="E4E9F5"/>
            </a:solidFill>
            <a:prstDash val="solid"/>
          </a:ln>
        </p:spPr>
      </p:sp>
      <p:sp>
        <p:nvSpPr>
          <p:cNvPr id="12" name="Text 9"/>
          <p:cNvSpPr/>
          <p:nvPr/>
        </p:nvSpPr>
        <p:spPr>
          <a:xfrm>
            <a:off x="914400" y="3108960"/>
            <a:ext cx="4663440" cy="457200"/>
          </a:xfrm>
          <a:prstGeom prst="rect">
            <a:avLst/>
          </a:prstGeom>
          <a:noFill/>
          <a:ln/>
        </p:spPr>
        <p:txBody>
          <a:bodyPr wrap="square" lIns="0" tIns="0" rIns="0" bIns="0" rtlCol="0" anchor="ctr"/>
          <a:lstStyle/>
          <a:p>
            <a:pPr indent="0" marL="0">
              <a:buNone/>
            </a:pPr>
            <a:r>
              <a:rPr lang="en-US" sz="1400" dirty="0">
                <a:solidFill>
                  <a:srgbClr val="0A1229"/>
                </a:solidFill>
                <a:latin typeface="Calibri" pitchFamily="34" charset="0"/>
                <a:ea typeface="Calibri" pitchFamily="34" charset="-122"/>
                <a:cs typeface="Calibri" pitchFamily="34" charset="-120"/>
              </a:rPr>
              <a:t>Devs write it, someone else runs it</a:t>
            </a:r>
            <a:endParaRPr lang="en-US" sz="1400" dirty="0"/>
          </a:p>
        </p:txBody>
      </p:sp>
      <p:sp>
        <p:nvSpPr>
          <p:cNvPr id="13" name="Text 10"/>
          <p:cNvSpPr/>
          <p:nvPr/>
        </p:nvSpPr>
        <p:spPr>
          <a:xfrm>
            <a:off x="914400" y="3611880"/>
            <a:ext cx="4663440" cy="457200"/>
          </a:xfrm>
          <a:prstGeom prst="rect">
            <a:avLst/>
          </a:prstGeom>
          <a:noFill/>
          <a:ln/>
        </p:spPr>
        <p:txBody>
          <a:bodyPr wrap="square" lIns="0" tIns="0" rIns="0" bIns="0" rtlCol="0" anchor="ctr"/>
          <a:lstStyle/>
          <a:p>
            <a:pPr indent="0" marL="0">
              <a:buNone/>
            </a:pPr>
            <a:r>
              <a:rPr lang="en-US" sz="1400" dirty="0">
                <a:solidFill>
                  <a:srgbClr val="0A1229"/>
                </a:solidFill>
                <a:latin typeface="Calibri" pitchFamily="34" charset="0"/>
                <a:ea typeface="Calibri" pitchFamily="34" charset="-122"/>
                <a:cs typeface="Calibri" pitchFamily="34" charset="-120"/>
              </a:rPr>
              <a:t>Releases are events people dread</a:t>
            </a:r>
            <a:endParaRPr lang="en-US" sz="1400" dirty="0"/>
          </a:p>
        </p:txBody>
      </p:sp>
      <p:sp>
        <p:nvSpPr>
          <p:cNvPr id="14" name="Text 11"/>
          <p:cNvSpPr/>
          <p:nvPr/>
        </p:nvSpPr>
        <p:spPr>
          <a:xfrm>
            <a:off x="914400" y="4114800"/>
            <a:ext cx="4663440" cy="457200"/>
          </a:xfrm>
          <a:prstGeom prst="rect">
            <a:avLst/>
          </a:prstGeom>
          <a:noFill/>
          <a:ln/>
        </p:spPr>
        <p:txBody>
          <a:bodyPr wrap="square" lIns="0" tIns="0" rIns="0" bIns="0" rtlCol="0" anchor="ctr"/>
          <a:lstStyle/>
          <a:p>
            <a:pPr indent="0" marL="0">
              <a:buNone/>
            </a:pPr>
            <a:r>
              <a:rPr lang="en-US" sz="1400" dirty="0">
                <a:solidFill>
                  <a:srgbClr val="0A1229"/>
                </a:solidFill>
                <a:latin typeface="Calibri" pitchFamily="34" charset="0"/>
                <a:ea typeface="Calibri" pitchFamily="34" charset="-122"/>
                <a:cs typeface="Calibri" pitchFamily="34" charset="-120"/>
              </a:rPr>
              <a:t>"Works on my machine"</a:t>
            </a:r>
            <a:endParaRPr lang="en-US" sz="1400" dirty="0"/>
          </a:p>
        </p:txBody>
      </p:sp>
      <p:sp>
        <p:nvSpPr>
          <p:cNvPr id="15" name="Text 12"/>
          <p:cNvSpPr/>
          <p:nvPr/>
        </p:nvSpPr>
        <p:spPr>
          <a:xfrm>
            <a:off x="914400" y="4617720"/>
            <a:ext cx="4663440" cy="457200"/>
          </a:xfrm>
          <a:prstGeom prst="rect">
            <a:avLst/>
          </a:prstGeom>
          <a:noFill/>
          <a:ln/>
        </p:spPr>
        <p:txBody>
          <a:bodyPr wrap="square" lIns="0" tIns="0" rIns="0" bIns="0" rtlCol="0" anchor="ctr"/>
          <a:lstStyle/>
          <a:p>
            <a:pPr indent="0" marL="0">
              <a:buNone/>
            </a:pPr>
            <a:r>
              <a:rPr lang="en-US" sz="1400" dirty="0">
                <a:solidFill>
                  <a:srgbClr val="0A1229"/>
                </a:solidFill>
                <a:latin typeface="Calibri" pitchFamily="34" charset="0"/>
                <a:ea typeface="Calibri" pitchFamily="34" charset="-122"/>
                <a:cs typeface="Calibri" pitchFamily="34" charset="-120"/>
              </a:rPr>
              <a:t>Nobody owns the 3am pager</a:t>
            </a:r>
            <a:endParaRPr lang="en-US" sz="1400" dirty="0"/>
          </a:p>
        </p:txBody>
      </p:sp>
      <p:sp>
        <p:nvSpPr>
          <p:cNvPr id="16" name="Text 13"/>
          <p:cNvSpPr/>
          <p:nvPr/>
        </p:nvSpPr>
        <p:spPr>
          <a:xfrm>
            <a:off x="914400" y="5120640"/>
            <a:ext cx="4663440" cy="457200"/>
          </a:xfrm>
          <a:prstGeom prst="rect">
            <a:avLst/>
          </a:prstGeom>
          <a:noFill/>
          <a:ln/>
        </p:spPr>
        <p:txBody>
          <a:bodyPr wrap="square" lIns="0" tIns="0" rIns="0" bIns="0" rtlCol="0" anchor="ctr"/>
          <a:lstStyle/>
          <a:p>
            <a:pPr indent="0" marL="0">
              <a:buNone/>
            </a:pPr>
            <a:r>
              <a:rPr lang="en-US" sz="1400" dirty="0">
                <a:solidFill>
                  <a:srgbClr val="0A1229"/>
                </a:solidFill>
                <a:latin typeface="Calibri" pitchFamily="34" charset="0"/>
                <a:ea typeface="Calibri" pitchFamily="34" charset="-122"/>
                <a:cs typeface="Calibri" pitchFamily="34" charset="-120"/>
              </a:rPr>
              <a:t>Blame arrives before the fix</a:t>
            </a:r>
            <a:endParaRPr lang="en-US" sz="1400" dirty="0"/>
          </a:p>
        </p:txBody>
      </p:sp>
      <p:sp>
        <p:nvSpPr>
          <p:cNvPr id="17" name="Text 14"/>
          <p:cNvSpPr/>
          <p:nvPr/>
        </p:nvSpPr>
        <p:spPr>
          <a:xfrm>
            <a:off x="6537960" y="3108960"/>
            <a:ext cx="4663440" cy="457200"/>
          </a:xfrm>
          <a:prstGeom prst="rect">
            <a:avLst/>
          </a:prstGeom>
          <a:noFill/>
          <a:ln/>
        </p:spPr>
        <p:txBody>
          <a:bodyPr wrap="square" lIns="0" tIns="0" rIns="0" bIns="0" rtlCol="0" anchor="ctr"/>
          <a:lstStyle/>
          <a:p>
            <a:pPr indent="0" marL="0">
              <a:buNone/>
            </a:pPr>
            <a:r>
              <a:rPr lang="en-US" sz="1400" dirty="0">
                <a:solidFill>
                  <a:srgbClr val="0A1229"/>
                </a:solidFill>
                <a:latin typeface="Calibri" pitchFamily="34" charset="0"/>
                <a:ea typeface="Calibri" pitchFamily="34" charset="-122"/>
                <a:cs typeface="Calibri" pitchFamily="34" charset="-120"/>
              </a:rPr>
              <a:t>One team owns build and run</a:t>
            </a:r>
            <a:endParaRPr lang="en-US" sz="1400" dirty="0"/>
          </a:p>
        </p:txBody>
      </p:sp>
      <p:sp>
        <p:nvSpPr>
          <p:cNvPr id="18" name="Text 15"/>
          <p:cNvSpPr/>
          <p:nvPr/>
        </p:nvSpPr>
        <p:spPr>
          <a:xfrm>
            <a:off x="6537960" y="3611880"/>
            <a:ext cx="4663440" cy="457200"/>
          </a:xfrm>
          <a:prstGeom prst="rect">
            <a:avLst/>
          </a:prstGeom>
          <a:noFill/>
          <a:ln/>
        </p:spPr>
        <p:txBody>
          <a:bodyPr wrap="square" lIns="0" tIns="0" rIns="0" bIns="0" rtlCol="0" anchor="ctr"/>
          <a:lstStyle/>
          <a:p>
            <a:pPr indent="0" marL="0">
              <a:buNone/>
            </a:pPr>
            <a:r>
              <a:rPr lang="en-US" sz="1400" dirty="0">
                <a:solidFill>
                  <a:srgbClr val="0A1229"/>
                </a:solidFill>
                <a:latin typeface="Calibri" pitchFamily="34" charset="0"/>
                <a:ea typeface="Calibri" pitchFamily="34" charset="-122"/>
                <a:cs typeface="Calibri" pitchFamily="34" charset="-120"/>
              </a:rPr>
              <a:t>Releases are boring and frequent</a:t>
            </a:r>
            <a:endParaRPr lang="en-US" sz="1400" dirty="0"/>
          </a:p>
        </p:txBody>
      </p:sp>
      <p:sp>
        <p:nvSpPr>
          <p:cNvPr id="19" name="Text 16"/>
          <p:cNvSpPr/>
          <p:nvPr/>
        </p:nvSpPr>
        <p:spPr>
          <a:xfrm>
            <a:off x="6537960" y="4114800"/>
            <a:ext cx="4663440" cy="457200"/>
          </a:xfrm>
          <a:prstGeom prst="rect">
            <a:avLst/>
          </a:prstGeom>
          <a:noFill/>
          <a:ln/>
        </p:spPr>
        <p:txBody>
          <a:bodyPr wrap="square" lIns="0" tIns="0" rIns="0" bIns="0" rtlCol="0" anchor="ctr"/>
          <a:lstStyle/>
          <a:p>
            <a:pPr indent="0" marL="0">
              <a:buNone/>
            </a:pPr>
            <a:r>
              <a:rPr lang="en-US" sz="1400" dirty="0">
                <a:solidFill>
                  <a:srgbClr val="0A1229"/>
                </a:solidFill>
                <a:latin typeface="Calibri" pitchFamily="34" charset="0"/>
                <a:ea typeface="Calibri" pitchFamily="34" charset="-122"/>
                <a:cs typeface="Calibri" pitchFamily="34" charset="-120"/>
              </a:rPr>
              <a:t>Runs the same everywhere, by design</a:t>
            </a:r>
            <a:endParaRPr lang="en-US" sz="1400" dirty="0"/>
          </a:p>
        </p:txBody>
      </p:sp>
      <p:sp>
        <p:nvSpPr>
          <p:cNvPr id="20" name="Text 17"/>
          <p:cNvSpPr/>
          <p:nvPr/>
        </p:nvSpPr>
        <p:spPr>
          <a:xfrm>
            <a:off x="6537960" y="4617720"/>
            <a:ext cx="4663440" cy="457200"/>
          </a:xfrm>
          <a:prstGeom prst="rect">
            <a:avLst/>
          </a:prstGeom>
          <a:noFill/>
          <a:ln/>
        </p:spPr>
        <p:txBody>
          <a:bodyPr wrap="square" lIns="0" tIns="0" rIns="0" bIns="0" rtlCol="0" anchor="ctr"/>
          <a:lstStyle/>
          <a:p>
            <a:pPr indent="0" marL="0">
              <a:buNone/>
            </a:pPr>
            <a:r>
              <a:rPr lang="en-US" sz="1400" dirty="0">
                <a:solidFill>
                  <a:srgbClr val="0A1229"/>
                </a:solidFill>
                <a:latin typeface="Calibri" pitchFamily="34" charset="0"/>
                <a:ea typeface="Calibri" pitchFamily="34" charset="-122"/>
                <a:cs typeface="Calibri" pitchFamily="34" charset="-120"/>
              </a:rPr>
              <a:t>Whoever built it shares the pager</a:t>
            </a:r>
            <a:endParaRPr lang="en-US" sz="1400" dirty="0"/>
          </a:p>
        </p:txBody>
      </p:sp>
      <p:sp>
        <p:nvSpPr>
          <p:cNvPr id="21" name="Text 18"/>
          <p:cNvSpPr/>
          <p:nvPr/>
        </p:nvSpPr>
        <p:spPr>
          <a:xfrm>
            <a:off x="6537960" y="5120640"/>
            <a:ext cx="4663440" cy="457200"/>
          </a:xfrm>
          <a:prstGeom prst="rect">
            <a:avLst/>
          </a:prstGeom>
          <a:noFill/>
          <a:ln/>
        </p:spPr>
        <p:txBody>
          <a:bodyPr wrap="square" lIns="0" tIns="0" rIns="0" bIns="0" rtlCol="0" anchor="ctr"/>
          <a:lstStyle/>
          <a:p>
            <a:pPr indent="0" marL="0">
              <a:buNone/>
            </a:pPr>
            <a:r>
              <a:rPr lang="en-US" sz="1400" dirty="0">
                <a:solidFill>
                  <a:srgbClr val="0A1229"/>
                </a:solidFill>
                <a:latin typeface="Calibri" pitchFamily="34" charset="0"/>
                <a:ea typeface="Calibri" pitchFamily="34" charset="-122"/>
                <a:cs typeface="Calibri" pitchFamily="34" charset="-120"/>
              </a:rPr>
              <a:t>Fix first, learn second, blame never</a:t>
            </a:r>
            <a:endParaRPr lang="en-US" sz="1400" dirty="0"/>
          </a:p>
        </p:txBody>
      </p:sp>
      <p:sp>
        <p:nvSpPr>
          <p:cNvPr id="22" name="Text 19"/>
          <p:cNvSpPr/>
          <p:nvPr/>
        </p:nvSpPr>
        <p:spPr>
          <a:xfrm>
            <a:off x="594360" y="5897880"/>
            <a:ext cx="10881360" cy="365760"/>
          </a:xfrm>
          <a:prstGeom prst="rect">
            <a:avLst/>
          </a:prstGeom>
          <a:noFill/>
          <a:ln/>
        </p:spPr>
        <p:txBody>
          <a:bodyPr wrap="square" lIns="0" tIns="0" rIns="0" bIns="0" rtlCol="0" anchor="ctr"/>
          <a:lstStyle/>
          <a:p>
            <a:pPr indent="0" marL="0">
              <a:buNone/>
            </a:pPr>
            <a:r>
              <a:rPr lang="en-US" sz="1500" i="1" dirty="0">
                <a:solidFill>
                  <a:srgbClr val="5A6890"/>
                </a:solidFill>
                <a:latin typeface="Calibri" pitchFamily="34" charset="0"/>
                <a:ea typeface="Calibri" pitchFamily="34" charset="-122"/>
                <a:cs typeface="Calibri" pitchFamily="34" charset="-120"/>
              </a:rPr>
              <a:t>Notice none of that is a tool.</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B"/>
        </a:solidFill>
      </p:bgPr>
    </p:bg>
    <p:spTree>
      <p:nvGrpSpPr>
        <p:cNvPr id="1" name=""/>
        <p:cNvGrpSpPr/>
        <p:nvPr/>
      </p:nvGrpSpPr>
      <p:grpSpPr>
        <a:xfrm>
          <a:off x="0" y="0"/>
          <a:ext cx="0" cy="0"/>
          <a:chOff x="0" y="0"/>
          <a:chExt cx="0" cy="0"/>
        </a:xfrm>
      </p:grpSpPr>
      <p:sp>
        <p:nvSpPr>
          <p:cNvPr id="3" name="Shape 0"/>
          <p:cNvSpPr/>
          <p:nvPr/>
        </p:nvSpPr>
        <p:spPr>
          <a:xfrm>
            <a:off x="594360" y="384048"/>
            <a:ext cx="384048" cy="384048"/>
          </a:xfrm>
          <a:prstGeom prst="ellipse">
            <a:avLst/>
          </a:prstGeom>
          <a:solidFill>
            <a:srgbClr val="0755E9"/>
          </a:solidFill>
          <a:ln/>
        </p:spPr>
      </p:sp>
      <p:sp>
        <p:nvSpPr>
          <p:cNvPr id="4" name="Text 1"/>
          <p:cNvSpPr/>
          <p:nvPr/>
        </p:nvSpPr>
        <p:spPr>
          <a:xfrm>
            <a:off x="59436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5" name="Text 2"/>
          <p:cNvSpPr/>
          <p:nvPr/>
        </p:nvSpPr>
        <p:spPr>
          <a:xfrm>
            <a:off x="1097280" y="384048"/>
            <a:ext cx="7772400" cy="384048"/>
          </a:xfrm>
          <a:prstGeom prst="rect">
            <a:avLst/>
          </a:prstGeom>
          <a:noFill/>
          <a:ln/>
        </p:spPr>
        <p:txBody>
          <a:bodyPr wrap="square" lIns="0" tIns="0" rIns="0" bIns="0" rtlCol="0" anchor="ctr"/>
          <a:lstStyle/>
          <a:p>
            <a:pPr indent="0" marL="0">
              <a:buNone/>
            </a:pPr>
            <a:r>
              <a:rPr lang="en-US" sz="1100" b="1" spc="200" kern="0" dirty="0">
                <a:solidFill>
                  <a:srgbClr val="5A6890"/>
                </a:solidFill>
                <a:latin typeface="Calibri" pitchFamily="34" charset="0"/>
                <a:ea typeface="Calibri" pitchFamily="34" charset="-122"/>
                <a:cs typeface="Calibri" pitchFamily="34" charset="-120"/>
              </a:rPr>
              <a:t>WHAT IT IS</a:t>
            </a:r>
            <a:endParaRPr lang="en-US" sz="1100" dirty="0"/>
          </a:p>
        </p:txBody>
      </p:sp>
      <p:sp>
        <p:nvSpPr>
          <p:cNvPr id="6" name="Text 3"/>
          <p:cNvSpPr/>
          <p:nvPr/>
        </p:nvSpPr>
        <p:spPr>
          <a:xfrm>
            <a:off x="594360" y="960120"/>
            <a:ext cx="10881360" cy="914400"/>
          </a:xfrm>
          <a:prstGeom prst="rect">
            <a:avLst/>
          </a:prstGeom>
          <a:noFill/>
          <a:ln/>
        </p:spPr>
        <p:txBody>
          <a:bodyPr wrap="square" lIns="0" tIns="0" rIns="0" bIns="0" rtlCol="0" anchor="t"/>
          <a:lstStyle/>
          <a:p>
            <a:pPr indent="0" marL="0">
              <a:buNone/>
            </a:pPr>
            <a:r>
              <a:rPr lang="en-US" sz="3600" b="1" dirty="0">
                <a:solidFill>
                  <a:srgbClr val="0A1229"/>
                </a:solidFill>
                <a:latin typeface="Calibri" pitchFamily="34" charset="0"/>
                <a:ea typeface="Calibri" pitchFamily="34" charset="-122"/>
                <a:cs typeface="Calibri" pitchFamily="34" charset="-120"/>
              </a:rPr>
              <a:t>Four things, in order</a:t>
            </a:r>
            <a:endParaRPr lang="en-US" sz="3600" dirty="0"/>
          </a:p>
        </p:txBody>
      </p:sp>
      <p:sp>
        <p:nvSpPr>
          <p:cNvPr id="7" name="Text 4"/>
          <p:cNvSpPr/>
          <p:nvPr/>
        </p:nvSpPr>
        <p:spPr>
          <a:xfrm>
            <a:off x="594360" y="1783080"/>
            <a:ext cx="10881360" cy="411480"/>
          </a:xfrm>
          <a:prstGeom prst="rect">
            <a:avLst/>
          </a:prstGeom>
          <a:noFill/>
          <a:ln/>
        </p:spPr>
        <p:txBody>
          <a:bodyPr wrap="square" lIns="0" tIns="0" rIns="0" bIns="0" rtlCol="0" anchor="ctr"/>
          <a:lstStyle/>
          <a:p>
            <a:pPr indent="0" marL="0">
              <a:buNone/>
            </a:pPr>
            <a:r>
              <a:rPr lang="en-US" sz="1600" dirty="0">
                <a:solidFill>
                  <a:srgbClr val="5A6890"/>
                </a:solidFill>
                <a:latin typeface="Calibri" pitchFamily="34" charset="0"/>
                <a:ea typeface="Calibri" pitchFamily="34" charset="-122"/>
                <a:cs typeface="Calibri" pitchFamily="34" charset="-120"/>
              </a:rPr>
              <a:t>CAMS. Fifteen years old and still the clearest framing anybody has produced.</a:t>
            </a:r>
            <a:endParaRPr lang="en-US" sz="1600" dirty="0"/>
          </a:p>
        </p:txBody>
      </p:sp>
      <p:sp>
        <p:nvSpPr>
          <p:cNvPr id="8" name="Shape 5"/>
          <p:cNvSpPr/>
          <p:nvPr/>
        </p:nvSpPr>
        <p:spPr>
          <a:xfrm>
            <a:off x="594360" y="2377440"/>
            <a:ext cx="10881360" cy="804672"/>
          </a:xfrm>
          <a:prstGeom prst="roundRect">
            <a:avLst>
              <a:gd name="adj" fmla="val 9091"/>
            </a:avLst>
          </a:prstGeom>
          <a:solidFill>
            <a:srgbClr val="E4E9F5"/>
          </a:solidFill>
          <a:ln w="12700">
            <a:solidFill>
              <a:srgbClr val="E4E9F5"/>
            </a:solidFill>
            <a:prstDash val="solid"/>
          </a:ln>
        </p:spPr>
      </p:sp>
      <p:sp>
        <p:nvSpPr>
          <p:cNvPr id="9" name="Shape 6"/>
          <p:cNvSpPr/>
          <p:nvPr/>
        </p:nvSpPr>
        <p:spPr>
          <a:xfrm>
            <a:off x="822960" y="2532888"/>
            <a:ext cx="502920" cy="502920"/>
          </a:xfrm>
          <a:prstGeom prst="ellipse">
            <a:avLst/>
          </a:prstGeom>
          <a:solidFill>
            <a:srgbClr val="0755E9"/>
          </a:solidFill>
          <a:ln/>
        </p:spPr>
      </p:sp>
      <p:sp>
        <p:nvSpPr>
          <p:cNvPr id="10" name="Text 7"/>
          <p:cNvSpPr/>
          <p:nvPr/>
        </p:nvSpPr>
        <p:spPr>
          <a:xfrm>
            <a:off x="822960" y="2532888"/>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1" name="Text 8"/>
          <p:cNvSpPr/>
          <p:nvPr/>
        </p:nvSpPr>
        <p:spPr>
          <a:xfrm>
            <a:off x="1554480" y="2377440"/>
            <a:ext cx="2194560" cy="804672"/>
          </a:xfrm>
          <a:prstGeom prst="rect">
            <a:avLst/>
          </a:prstGeom>
          <a:noFill/>
          <a:ln/>
        </p:spPr>
        <p:txBody>
          <a:bodyPr wrap="square" lIns="0" tIns="0" rIns="0" bIns="0" rtlCol="0" anchor="ctr"/>
          <a:lstStyle/>
          <a:p>
            <a:pPr indent="0" marL="0">
              <a:buNone/>
            </a:pPr>
            <a:r>
              <a:rPr lang="en-US" sz="1800" b="1" dirty="0">
                <a:solidFill>
                  <a:srgbClr val="0A1229"/>
                </a:solidFill>
                <a:latin typeface="Calibri" pitchFamily="34" charset="0"/>
                <a:ea typeface="Calibri" pitchFamily="34" charset="-122"/>
                <a:cs typeface="Calibri" pitchFamily="34" charset="-120"/>
              </a:rPr>
              <a:t>Culture</a:t>
            </a:r>
            <a:endParaRPr lang="en-US" sz="1800" dirty="0"/>
          </a:p>
        </p:txBody>
      </p:sp>
      <p:sp>
        <p:nvSpPr>
          <p:cNvPr id="12" name="Text 9"/>
          <p:cNvSpPr/>
          <p:nvPr/>
        </p:nvSpPr>
        <p:spPr>
          <a:xfrm>
            <a:off x="3794760" y="2377440"/>
            <a:ext cx="7315200" cy="804672"/>
          </a:xfrm>
          <a:prstGeom prst="rect">
            <a:avLst/>
          </a:prstGeom>
          <a:noFill/>
          <a:ln/>
        </p:spPr>
        <p:txBody>
          <a:bodyPr wrap="square" lIns="0" tIns="0" rIns="0" bIns="0" rtlCol="0" anchor="ctr"/>
          <a:lstStyle/>
          <a:p>
            <a:pPr indent="0" marL="0">
              <a:buNone/>
            </a:pPr>
            <a:r>
              <a:rPr lang="en-US" sz="1400" dirty="0">
                <a:solidFill>
                  <a:srgbClr val="5A6890"/>
                </a:solidFill>
                <a:latin typeface="Calibri" pitchFamily="34" charset="0"/>
                <a:ea typeface="Calibri" pitchFamily="34" charset="-122"/>
                <a:cs typeface="Calibri" pitchFamily="34" charset="-120"/>
              </a:rPr>
              <a:t>People and how they work together. Comes first because nothing else survives without it.</a:t>
            </a:r>
            <a:endParaRPr lang="en-US" sz="1400" dirty="0"/>
          </a:p>
        </p:txBody>
      </p:sp>
      <p:sp>
        <p:nvSpPr>
          <p:cNvPr id="13" name="Shape 10"/>
          <p:cNvSpPr/>
          <p:nvPr/>
        </p:nvSpPr>
        <p:spPr>
          <a:xfrm>
            <a:off x="594360" y="3310128"/>
            <a:ext cx="10881360" cy="804672"/>
          </a:xfrm>
          <a:prstGeom prst="roundRect">
            <a:avLst>
              <a:gd name="adj" fmla="val 9091"/>
            </a:avLst>
          </a:prstGeom>
          <a:solidFill>
            <a:srgbClr val="E4E9F5"/>
          </a:solidFill>
          <a:ln w="12700">
            <a:solidFill>
              <a:srgbClr val="E4E9F5"/>
            </a:solidFill>
            <a:prstDash val="solid"/>
          </a:ln>
        </p:spPr>
      </p:sp>
      <p:sp>
        <p:nvSpPr>
          <p:cNvPr id="14" name="Shape 11"/>
          <p:cNvSpPr/>
          <p:nvPr/>
        </p:nvSpPr>
        <p:spPr>
          <a:xfrm>
            <a:off x="822960" y="3465576"/>
            <a:ext cx="502920" cy="502920"/>
          </a:xfrm>
          <a:prstGeom prst="ellipse">
            <a:avLst/>
          </a:prstGeom>
          <a:solidFill>
            <a:srgbClr val="0755E9"/>
          </a:solidFill>
          <a:ln/>
        </p:spPr>
      </p:sp>
      <p:sp>
        <p:nvSpPr>
          <p:cNvPr id="15" name="Text 12"/>
          <p:cNvSpPr/>
          <p:nvPr/>
        </p:nvSpPr>
        <p:spPr>
          <a:xfrm>
            <a:off x="822960" y="3465576"/>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16" name="Text 13"/>
          <p:cNvSpPr/>
          <p:nvPr/>
        </p:nvSpPr>
        <p:spPr>
          <a:xfrm>
            <a:off x="1554480" y="3310128"/>
            <a:ext cx="2194560" cy="804672"/>
          </a:xfrm>
          <a:prstGeom prst="rect">
            <a:avLst/>
          </a:prstGeom>
          <a:noFill/>
          <a:ln/>
        </p:spPr>
        <p:txBody>
          <a:bodyPr wrap="square" lIns="0" tIns="0" rIns="0" bIns="0" rtlCol="0" anchor="ctr"/>
          <a:lstStyle/>
          <a:p>
            <a:pPr indent="0" marL="0">
              <a:buNone/>
            </a:pPr>
            <a:r>
              <a:rPr lang="en-US" sz="1800" b="1" dirty="0">
                <a:solidFill>
                  <a:srgbClr val="0A1229"/>
                </a:solidFill>
                <a:latin typeface="Calibri" pitchFamily="34" charset="0"/>
                <a:ea typeface="Calibri" pitchFamily="34" charset="-122"/>
                <a:cs typeface="Calibri" pitchFamily="34" charset="-120"/>
              </a:rPr>
              <a:t>Automation</a:t>
            </a:r>
            <a:endParaRPr lang="en-US" sz="1800" dirty="0"/>
          </a:p>
        </p:txBody>
      </p:sp>
      <p:sp>
        <p:nvSpPr>
          <p:cNvPr id="17" name="Text 14"/>
          <p:cNvSpPr/>
          <p:nvPr/>
        </p:nvSpPr>
        <p:spPr>
          <a:xfrm>
            <a:off x="3794760" y="3310128"/>
            <a:ext cx="7315200" cy="804672"/>
          </a:xfrm>
          <a:prstGeom prst="rect">
            <a:avLst/>
          </a:prstGeom>
          <a:noFill/>
          <a:ln/>
        </p:spPr>
        <p:txBody>
          <a:bodyPr wrap="square" lIns="0" tIns="0" rIns="0" bIns="0" rtlCol="0" anchor="ctr"/>
          <a:lstStyle/>
          <a:p>
            <a:pPr indent="0" marL="0">
              <a:buNone/>
            </a:pPr>
            <a:r>
              <a:rPr lang="en-US" sz="1400" dirty="0">
                <a:solidFill>
                  <a:srgbClr val="5A6890"/>
                </a:solidFill>
                <a:latin typeface="Calibri" pitchFamily="34" charset="0"/>
                <a:ea typeface="Calibri" pitchFamily="34" charset="-122"/>
                <a:cs typeface="Calibri" pitchFamily="34" charset="-120"/>
              </a:rPr>
              <a:t>If a human does it twice, a machine should do it the third time.</a:t>
            </a:r>
            <a:endParaRPr lang="en-US" sz="1400" dirty="0"/>
          </a:p>
        </p:txBody>
      </p:sp>
      <p:sp>
        <p:nvSpPr>
          <p:cNvPr id="18" name="Shape 15"/>
          <p:cNvSpPr/>
          <p:nvPr/>
        </p:nvSpPr>
        <p:spPr>
          <a:xfrm>
            <a:off x="594360" y="4242816"/>
            <a:ext cx="10881360" cy="804672"/>
          </a:xfrm>
          <a:prstGeom prst="roundRect">
            <a:avLst>
              <a:gd name="adj" fmla="val 9091"/>
            </a:avLst>
          </a:prstGeom>
          <a:solidFill>
            <a:srgbClr val="E4E9F5"/>
          </a:solidFill>
          <a:ln w="12700">
            <a:solidFill>
              <a:srgbClr val="E4E9F5"/>
            </a:solidFill>
            <a:prstDash val="solid"/>
          </a:ln>
        </p:spPr>
      </p:sp>
      <p:sp>
        <p:nvSpPr>
          <p:cNvPr id="19" name="Shape 16"/>
          <p:cNvSpPr/>
          <p:nvPr/>
        </p:nvSpPr>
        <p:spPr>
          <a:xfrm>
            <a:off x="822960" y="4398264"/>
            <a:ext cx="502920" cy="502920"/>
          </a:xfrm>
          <a:prstGeom prst="ellipse">
            <a:avLst/>
          </a:prstGeom>
          <a:solidFill>
            <a:srgbClr val="0755E9"/>
          </a:solidFill>
          <a:ln/>
        </p:spPr>
      </p:sp>
      <p:sp>
        <p:nvSpPr>
          <p:cNvPr id="20" name="Text 17"/>
          <p:cNvSpPr/>
          <p:nvPr/>
        </p:nvSpPr>
        <p:spPr>
          <a:xfrm>
            <a:off x="822960" y="4398264"/>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M</a:t>
            </a:r>
            <a:endParaRPr lang="en-US" sz="2000" dirty="0"/>
          </a:p>
        </p:txBody>
      </p:sp>
      <p:sp>
        <p:nvSpPr>
          <p:cNvPr id="21" name="Text 18"/>
          <p:cNvSpPr/>
          <p:nvPr/>
        </p:nvSpPr>
        <p:spPr>
          <a:xfrm>
            <a:off x="1554480" y="4242816"/>
            <a:ext cx="2194560" cy="804672"/>
          </a:xfrm>
          <a:prstGeom prst="rect">
            <a:avLst/>
          </a:prstGeom>
          <a:noFill/>
          <a:ln/>
        </p:spPr>
        <p:txBody>
          <a:bodyPr wrap="square" lIns="0" tIns="0" rIns="0" bIns="0" rtlCol="0" anchor="ctr"/>
          <a:lstStyle/>
          <a:p>
            <a:pPr indent="0" marL="0">
              <a:buNone/>
            </a:pPr>
            <a:r>
              <a:rPr lang="en-US" sz="1800" b="1" dirty="0">
                <a:solidFill>
                  <a:srgbClr val="0A1229"/>
                </a:solidFill>
                <a:latin typeface="Calibri" pitchFamily="34" charset="0"/>
                <a:ea typeface="Calibri" pitchFamily="34" charset="-122"/>
                <a:cs typeface="Calibri" pitchFamily="34" charset="-120"/>
              </a:rPr>
              <a:t>Measurement</a:t>
            </a:r>
            <a:endParaRPr lang="en-US" sz="1800" dirty="0"/>
          </a:p>
        </p:txBody>
      </p:sp>
      <p:sp>
        <p:nvSpPr>
          <p:cNvPr id="22" name="Text 19"/>
          <p:cNvSpPr/>
          <p:nvPr/>
        </p:nvSpPr>
        <p:spPr>
          <a:xfrm>
            <a:off x="3794760" y="4242816"/>
            <a:ext cx="7315200" cy="804672"/>
          </a:xfrm>
          <a:prstGeom prst="rect">
            <a:avLst/>
          </a:prstGeom>
          <a:noFill/>
          <a:ln/>
        </p:spPr>
        <p:txBody>
          <a:bodyPr wrap="square" lIns="0" tIns="0" rIns="0" bIns="0" rtlCol="0" anchor="ctr"/>
          <a:lstStyle/>
          <a:p>
            <a:pPr indent="0" marL="0">
              <a:buNone/>
            </a:pPr>
            <a:r>
              <a:rPr lang="en-US" sz="1400" dirty="0">
                <a:solidFill>
                  <a:srgbClr val="5A6890"/>
                </a:solidFill>
                <a:latin typeface="Calibri" pitchFamily="34" charset="0"/>
                <a:ea typeface="Calibri" pitchFamily="34" charset="-122"/>
                <a:cs typeface="Calibri" pitchFamily="34" charset="-120"/>
              </a:rPr>
              <a:t>You cannot improve what you refuse to measure.</a:t>
            </a:r>
            <a:endParaRPr lang="en-US" sz="1400" dirty="0"/>
          </a:p>
        </p:txBody>
      </p:sp>
      <p:sp>
        <p:nvSpPr>
          <p:cNvPr id="23" name="Shape 20"/>
          <p:cNvSpPr/>
          <p:nvPr/>
        </p:nvSpPr>
        <p:spPr>
          <a:xfrm>
            <a:off x="594360" y="5175504"/>
            <a:ext cx="10881360" cy="804672"/>
          </a:xfrm>
          <a:prstGeom prst="roundRect">
            <a:avLst>
              <a:gd name="adj" fmla="val 9091"/>
            </a:avLst>
          </a:prstGeom>
          <a:solidFill>
            <a:srgbClr val="E4E9F5"/>
          </a:solidFill>
          <a:ln w="12700">
            <a:solidFill>
              <a:srgbClr val="E4E9F5"/>
            </a:solidFill>
            <a:prstDash val="solid"/>
          </a:ln>
        </p:spPr>
      </p:sp>
      <p:sp>
        <p:nvSpPr>
          <p:cNvPr id="24" name="Shape 21"/>
          <p:cNvSpPr/>
          <p:nvPr/>
        </p:nvSpPr>
        <p:spPr>
          <a:xfrm>
            <a:off x="822960" y="5330952"/>
            <a:ext cx="502920" cy="502920"/>
          </a:xfrm>
          <a:prstGeom prst="ellipse">
            <a:avLst/>
          </a:prstGeom>
          <a:solidFill>
            <a:srgbClr val="EE4001"/>
          </a:solidFill>
          <a:ln/>
        </p:spPr>
      </p:sp>
      <p:sp>
        <p:nvSpPr>
          <p:cNvPr id="25" name="Text 22"/>
          <p:cNvSpPr/>
          <p:nvPr/>
        </p:nvSpPr>
        <p:spPr>
          <a:xfrm>
            <a:off x="822960" y="5330952"/>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S</a:t>
            </a:r>
            <a:endParaRPr lang="en-US" sz="2000" dirty="0"/>
          </a:p>
        </p:txBody>
      </p:sp>
      <p:sp>
        <p:nvSpPr>
          <p:cNvPr id="26" name="Text 23"/>
          <p:cNvSpPr/>
          <p:nvPr/>
        </p:nvSpPr>
        <p:spPr>
          <a:xfrm>
            <a:off x="1554480" y="5175504"/>
            <a:ext cx="2194560" cy="804672"/>
          </a:xfrm>
          <a:prstGeom prst="rect">
            <a:avLst/>
          </a:prstGeom>
          <a:noFill/>
          <a:ln/>
        </p:spPr>
        <p:txBody>
          <a:bodyPr wrap="square" lIns="0" tIns="0" rIns="0" bIns="0" rtlCol="0" anchor="ctr"/>
          <a:lstStyle/>
          <a:p>
            <a:pPr indent="0" marL="0">
              <a:buNone/>
            </a:pPr>
            <a:r>
              <a:rPr lang="en-US" sz="1800" b="1" dirty="0">
                <a:solidFill>
                  <a:srgbClr val="0A1229"/>
                </a:solidFill>
                <a:latin typeface="Calibri" pitchFamily="34" charset="0"/>
                <a:ea typeface="Calibri" pitchFamily="34" charset="-122"/>
                <a:cs typeface="Calibri" pitchFamily="34" charset="-120"/>
              </a:rPr>
              <a:t>Sharing</a:t>
            </a:r>
            <a:endParaRPr lang="en-US" sz="1800" dirty="0"/>
          </a:p>
        </p:txBody>
      </p:sp>
      <p:sp>
        <p:nvSpPr>
          <p:cNvPr id="27" name="Text 24"/>
          <p:cNvSpPr/>
          <p:nvPr/>
        </p:nvSpPr>
        <p:spPr>
          <a:xfrm>
            <a:off x="3794760" y="5175504"/>
            <a:ext cx="7315200" cy="804672"/>
          </a:xfrm>
          <a:prstGeom prst="rect">
            <a:avLst/>
          </a:prstGeom>
          <a:noFill/>
          <a:ln/>
        </p:spPr>
        <p:txBody>
          <a:bodyPr wrap="square" lIns="0" tIns="0" rIns="0" bIns="0" rtlCol="0" anchor="ctr"/>
          <a:lstStyle/>
          <a:p>
            <a:pPr indent="0" marL="0">
              <a:buNone/>
            </a:pPr>
            <a:r>
              <a:rPr lang="en-US" sz="1400" dirty="0">
                <a:solidFill>
                  <a:srgbClr val="5A6890"/>
                </a:solidFill>
                <a:latin typeface="Calibri" pitchFamily="34" charset="0"/>
                <a:ea typeface="Calibri" pitchFamily="34" charset="-122"/>
                <a:cs typeface="Calibri" pitchFamily="34" charset="-120"/>
              </a:rPr>
              <a:t>The one everyone skips. It is what makes the other three stick.</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9"/>
        </a:solidFill>
      </p:bgPr>
    </p:bg>
    <p:spTree>
      <p:nvGrpSpPr>
        <p:cNvPr id="1" name=""/>
        <p:cNvGrpSpPr/>
        <p:nvPr/>
      </p:nvGrpSpPr>
      <p:grpSpPr>
        <a:xfrm>
          <a:off x="0" y="0"/>
          <a:ext cx="0" cy="0"/>
          <a:chOff x="0" y="0"/>
          <a:chExt cx="0" cy="0"/>
        </a:xfrm>
      </p:grpSpPr>
      <p:sp>
        <p:nvSpPr>
          <p:cNvPr id="3" name="Shape 0"/>
          <p:cNvSpPr/>
          <p:nvPr/>
        </p:nvSpPr>
        <p:spPr>
          <a:xfrm>
            <a:off x="594360" y="384048"/>
            <a:ext cx="384048" cy="384048"/>
          </a:xfrm>
          <a:prstGeom prst="ellipse">
            <a:avLst/>
          </a:prstGeom>
          <a:solidFill>
            <a:srgbClr val="0755E9"/>
          </a:solidFill>
          <a:ln/>
        </p:spPr>
      </p:sp>
      <p:sp>
        <p:nvSpPr>
          <p:cNvPr id="4" name="Text 1"/>
          <p:cNvSpPr/>
          <p:nvPr/>
        </p:nvSpPr>
        <p:spPr>
          <a:xfrm>
            <a:off x="59436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5" name="Text 2"/>
          <p:cNvSpPr/>
          <p:nvPr/>
        </p:nvSpPr>
        <p:spPr>
          <a:xfrm>
            <a:off x="1097280" y="384048"/>
            <a:ext cx="7772400" cy="384048"/>
          </a:xfrm>
          <a:prstGeom prst="rect">
            <a:avLst/>
          </a:prstGeom>
          <a:noFill/>
          <a:ln/>
        </p:spPr>
        <p:txBody>
          <a:bodyPr wrap="square" lIns="0" tIns="0" rIns="0" bIns="0" rtlCol="0" anchor="ctr"/>
          <a:lstStyle/>
          <a:p>
            <a:pPr indent="0" marL="0">
              <a:buNone/>
            </a:pPr>
            <a:r>
              <a:rPr lang="en-US" sz="1100" b="1" spc="200" kern="0" dirty="0">
                <a:solidFill>
                  <a:srgbClr val="8A99BF"/>
                </a:solidFill>
                <a:latin typeface="Calibri" pitchFamily="34" charset="0"/>
                <a:ea typeface="Calibri" pitchFamily="34" charset="-122"/>
                <a:cs typeface="Calibri" pitchFamily="34" charset="-120"/>
              </a:rPr>
              <a:t>THE SHAPE OF THE WORK</a:t>
            </a:r>
            <a:endParaRPr lang="en-US" sz="1100" dirty="0"/>
          </a:p>
        </p:txBody>
      </p:sp>
      <p:sp>
        <p:nvSpPr>
          <p:cNvPr id="6" name="Text 3"/>
          <p:cNvSpPr/>
          <p:nvPr/>
        </p:nvSpPr>
        <p:spPr>
          <a:xfrm>
            <a:off x="594360" y="960120"/>
            <a:ext cx="10881360" cy="914400"/>
          </a:xfrm>
          <a:prstGeom prst="rect">
            <a:avLst/>
          </a:prstGeom>
          <a:noFill/>
          <a:ln/>
        </p:spPr>
        <p:txBody>
          <a:bodyPr wrap="square" lIns="0" tIns="0" rIns="0" bIns="0" rtlCol="0" anchor="t"/>
          <a:lstStyle/>
          <a:p>
            <a:pPr indent="0" marL="0">
              <a:buNone/>
            </a:pPr>
            <a:r>
              <a:rPr lang="en-US" sz="3600" b="1" dirty="0">
                <a:solidFill>
                  <a:srgbClr val="F4F6FB"/>
                </a:solidFill>
                <a:latin typeface="Calibri" pitchFamily="34" charset="0"/>
                <a:ea typeface="Calibri" pitchFamily="34" charset="-122"/>
                <a:cs typeface="Calibri" pitchFamily="34" charset="-120"/>
              </a:rPr>
              <a:t>Three acts</a:t>
            </a:r>
            <a:endParaRPr lang="en-US" sz="3600" dirty="0"/>
          </a:p>
        </p:txBody>
      </p:sp>
      <p:sp>
        <p:nvSpPr>
          <p:cNvPr id="7" name="Text 4"/>
          <p:cNvSpPr/>
          <p:nvPr/>
        </p:nvSpPr>
        <p:spPr>
          <a:xfrm>
            <a:off x="594360" y="1783080"/>
            <a:ext cx="10881360" cy="411480"/>
          </a:xfrm>
          <a:prstGeom prst="rect">
            <a:avLst/>
          </a:prstGeom>
          <a:noFill/>
          <a:ln/>
        </p:spPr>
        <p:txBody>
          <a:bodyPr wrap="square" lIns="0" tIns="0" rIns="0" bIns="0" rtlCol="0" anchor="ctr"/>
          <a:lstStyle/>
          <a:p>
            <a:pPr indent="0" marL="0">
              <a:buNone/>
            </a:pPr>
            <a:r>
              <a:rPr lang="en-US" sz="1700" dirty="0">
                <a:solidFill>
                  <a:srgbClr val="5B8CF0"/>
                </a:solidFill>
                <a:latin typeface="Calibri" pitchFamily="34" charset="0"/>
                <a:ea typeface="Calibri" pitchFamily="34" charset="-122"/>
                <a:cs typeface="Calibri" pitchFamily="34" charset="-120"/>
              </a:rPr>
              <a:t>If you remember one slide from today, make it this one.</a:t>
            </a:r>
            <a:endParaRPr lang="en-US" sz="1700" dirty="0"/>
          </a:p>
        </p:txBody>
      </p:sp>
      <p:sp>
        <p:nvSpPr>
          <p:cNvPr id="8" name="Shape 5"/>
          <p:cNvSpPr/>
          <p:nvPr/>
        </p:nvSpPr>
        <p:spPr>
          <a:xfrm>
            <a:off x="594360" y="2377440"/>
            <a:ext cx="3383280" cy="3200400"/>
          </a:xfrm>
          <a:prstGeom prst="roundRect">
            <a:avLst>
              <a:gd name="adj" fmla="val 2286"/>
            </a:avLst>
          </a:prstGeom>
          <a:solidFill>
            <a:srgbClr val="17224A"/>
          </a:solidFill>
          <a:ln w="12700">
            <a:solidFill>
              <a:srgbClr val="17224A"/>
            </a:solidFill>
            <a:prstDash val="solid"/>
          </a:ln>
        </p:spPr>
      </p:sp>
      <p:sp>
        <p:nvSpPr>
          <p:cNvPr id="9" name="Text 6"/>
          <p:cNvSpPr/>
          <p:nvPr/>
        </p:nvSpPr>
        <p:spPr>
          <a:xfrm>
            <a:off x="868680" y="2514600"/>
            <a:ext cx="914400" cy="548640"/>
          </a:xfrm>
          <a:prstGeom prst="rect">
            <a:avLst/>
          </a:prstGeom>
          <a:noFill/>
          <a:ln/>
        </p:spPr>
        <p:txBody>
          <a:bodyPr wrap="square" lIns="0" tIns="0" rIns="0" bIns="0" rtlCol="0" anchor="ctr"/>
          <a:lstStyle/>
          <a:p>
            <a:pPr indent="0" marL="0">
              <a:buNone/>
            </a:pPr>
            <a:r>
              <a:rPr lang="en-US" sz="2800" b="1" dirty="0">
                <a:solidFill>
                  <a:srgbClr val="0755E9"/>
                </a:solidFill>
                <a:latin typeface="Calibri" pitchFamily="34" charset="0"/>
                <a:ea typeface="Calibri" pitchFamily="34" charset="-122"/>
                <a:cs typeface="Calibri" pitchFamily="34" charset="-120"/>
              </a:rPr>
              <a:t>I</a:t>
            </a:r>
            <a:endParaRPr lang="en-US" sz="2800" dirty="0"/>
          </a:p>
        </p:txBody>
      </p:sp>
      <p:sp>
        <p:nvSpPr>
          <p:cNvPr id="10" name="Text 7"/>
          <p:cNvSpPr/>
          <p:nvPr/>
        </p:nvSpPr>
        <p:spPr>
          <a:xfrm>
            <a:off x="868680" y="3063240"/>
            <a:ext cx="2834640" cy="320040"/>
          </a:xfrm>
          <a:prstGeom prst="rect">
            <a:avLst/>
          </a:prstGeom>
          <a:noFill/>
          <a:ln/>
        </p:spPr>
        <p:txBody>
          <a:bodyPr wrap="square" lIns="0" tIns="0" rIns="0" bIns="0" rtlCol="0" anchor="ctr"/>
          <a:lstStyle/>
          <a:p>
            <a:pPr indent="0" marL="0">
              <a:buNone/>
            </a:pPr>
            <a:r>
              <a:rPr lang="en-US" sz="1200" b="1" spc="100" kern="0" dirty="0">
                <a:solidFill>
                  <a:srgbClr val="F4F6FB"/>
                </a:solidFill>
                <a:latin typeface="Calibri" pitchFamily="34" charset="0"/>
                <a:ea typeface="Calibri" pitchFamily="34" charset="-122"/>
                <a:cs typeface="Calibri" pitchFamily="34" charset="-120"/>
              </a:rPr>
              <a:t>PRE-PRODUCTION</a:t>
            </a:r>
            <a:endParaRPr lang="en-US" sz="1200" dirty="0"/>
          </a:p>
        </p:txBody>
      </p:sp>
      <p:sp>
        <p:nvSpPr>
          <p:cNvPr id="11" name="Text 8"/>
          <p:cNvSpPr/>
          <p:nvPr/>
        </p:nvSpPr>
        <p:spPr>
          <a:xfrm>
            <a:off x="868680" y="3364992"/>
            <a:ext cx="2834640" cy="320040"/>
          </a:xfrm>
          <a:prstGeom prst="rect">
            <a:avLst/>
          </a:prstGeom>
          <a:noFill/>
          <a:ln/>
        </p:spPr>
        <p:txBody>
          <a:bodyPr wrap="square" lIns="0" tIns="0" rIns="0" bIns="0" rtlCol="0" anchor="ctr"/>
          <a:lstStyle/>
          <a:p>
            <a:pPr indent="0" marL="0">
              <a:buNone/>
            </a:pPr>
            <a:r>
              <a:rPr lang="en-US" sz="1200" i="1" dirty="0">
                <a:solidFill>
                  <a:srgbClr val="8A99BF"/>
                </a:solidFill>
                <a:latin typeface="Calibri" pitchFamily="34" charset="0"/>
                <a:ea typeface="Calibri" pitchFamily="34" charset="-122"/>
                <a:cs typeface="Calibri" pitchFamily="34" charset="-120"/>
              </a:rPr>
              <a:t>Before users can touch it</a:t>
            </a:r>
            <a:endParaRPr lang="en-US" sz="1200" dirty="0"/>
          </a:p>
        </p:txBody>
      </p:sp>
      <p:sp>
        <p:nvSpPr>
          <p:cNvPr id="12" name="Text 9"/>
          <p:cNvSpPr/>
          <p:nvPr/>
        </p:nvSpPr>
        <p:spPr>
          <a:xfrm>
            <a:off x="868680" y="3794760"/>
            <a:ext cx="1371600" cy="347472"/>
          </a:xfrm>
          <a:prstGeom prst="rect">
            <a:avLst/>
          </a:prstGeom>
          <a:noFill/>
          <a:ln/>
        </p:spPr>
        <p:txBody>
          <a:bodyPr wrap="square" lIns="0" tIns="0" rIns="0" bIns="0" rtlCol="0" anchor="ctr"/>
          <a:lstStyle/>
          <a:p>
            <a:pPr indent="0" marL="0">
              <a:buNone/>
            </a:pPr>
            <a:r>
              <a:rPr lang="en-US" sz="1200" dirty="0">
                <a:solidFill>
                  <a:srgbClr val="F4F6FB"/>
                </a:solidFill>
                <a:latin typeface="Calibri" pitchFamily="34" charset="0"/>
                <a:ea typeface="Calibri" pitchFamily="34" charset="-122"/>
                <a:cs typeface="Calibri" pitchFamily="34" charset="-120"/>
              </a:rPr>
              <a:t>Plan</a:t>
            </a:r>
            <a:endParaRPr lang="en-US" sz="1200" dirty="0"/>
          </a:p>
        </p:txBody>
      </p:sp>
      <p:sp>
        <p:nvSpPr>
          <p:cNvPr id="13" name="Text 10"/>
          <p:cNvSpPr/>
          <p:nvPr/>
        </p:nvSpPr>
        <p:spPr>
          <a:xfrm>
            <a:off x="2286000" y="3794760"/>
            <a:ext cx="1371600" cy="347472"/>
          </a:xfrm>
          <a:prstGeom prst="rect">
            <a:avLst/>
          </a:prstGeom>
          <a:noFill/>
          <a:ln/>
        </p:spPr>
        <p:txBody>
          <a:bodyPr wrap="square" lIns="0" tIns="0" rIns="0" bIns="0" rtlCol="0" anchor="ctr"/>
          <a:lstStyle/>
          <a:p>
            <a:pPr indent="0" marL="0">
              <a:buNone/>
            </a:pPr>
            <a:r>
              <a:rPr lang="en-US" sz="1200" dirty="0">
                <a:solidFill>
                  <a:srgbClr val="F4F6FB"/>
                </a:solidFill>
                <a:latin typeface="Calibri" pitchFamily="34" charset="0"/>
                <a:ea typeface="Calibri" pitchFamily="34" charset="-122"/>
                <a:cs typeface="Calibri" pitchFamily="34" charset="-120"/>
              </a:rPr>
              <a:t>Code</a:t>
            </a:r>
            <a:endParaRPr lang="en-US" sz="1200" dirty="0"/>
          </a:p>
        </p:txBody>
      </p:sp>
      <p:sp>
        <p:nvSpPr>
          <p:cNvPr id="14" name="Text 11"/>
          <p:cNvSpPr/>
          <p:nvPr/>
        </p:nvSpPr>
        <p:spPr>
          <a:xfrm>
            <a:off x="868680" y="4178808"/>
            <a:ext cx="1371600" cy="347472"/>
          </a:xfrm>
          <a:prstGeom prst="rect">
            <a:avLst/>
          </a:prstGeom>
          <a:noFill/>
          <a:ln/>
        </p:spPr>
        <p:txBody>
          <a:bodyPr wrap="square" lIns="0" tIns="0" rIns="0" bIns="0" rtlCol="0" anchor="ctr"/>
          <a:lstStyle/>
          <a:p>
            <a:pPr indent="0" marL="0">
              <a:buNone/>
            </a:pPr>
            <a:r>
              <a:rPr lang="en-US" sz="1200" dirty="0">
                <a:solidFill>
                  <a:srgbClr val="F4F6FB"/>
                </a:solidFill>
                <a:latin typeface="Calibri" pitchFamily="34" charset="0"/>
                <a:ea typeface="Calibri" pitchFamily="34" charset="-122"/>
                <a:cs typeface="Calibri" pitchFamily="34" charset="-120"/>
              </a:rPr>
              <a:t>Build</a:t>
            </a:r>
            <a:endParaRPr lang="en-US" sz="1200" dirty="0"/>
          </a:p>
        </p:txBody>
      </p:sp>
      <p:sp>
        <p:nvSpPr>
          <p:cNvPr id="15" name="Text 12"/>
          <p:cNvSpPr/>
          <p:nvPr/>
        </p:nvSpPr>
        <p:spPr>
          <a:xfrm>
            <a:off x="2286000" y="4178808"/>
            <a:ext cx="1371600" cy="347472"/>
          </a:xfrm>
          <a:prstGeom prst="rect">
            <a:avLst/>
          </a:prstGeom>
          <a:noFill/>
          <a:ln/>
        </p:spPr>
        <p:txBody>
          <a:bodyPr wrap="square" lIns="0" tIns="0" rIns="0" bIns="0" rtlCol="0" anchor="ctr"/>
          <a:lstStyle/>
          <a:p>
            <a:pPr indent="0" marL="0">
              <a:buNone/>
            </a:pPr>
            <a:r>
              <a:rPr lang="en-US" sz="1200" dirty="0">
                <a:solidFill>
                  <a:srgbClr val="F4F6FB"/>
                </a:solidFill>
                <a:latin typeface="Calibri" pitchFamily="34" charset="0"/>
                <a:ea typeface="Calibri" pitchFamily="34" charset="-122"/>
                <a:cs typeface="Calibri" pitchFamily="34" charset="-120"/>
              </a:rPr>
              <a:t>Test</a:t>
            </a:r>
            <a:endParaRPr lang="en-US" sz="1200" dirty="0"/>
          </a:p>
        </p:txBody>
      </p:sp>
      <p:sp>
        <p:nvSpPr>
          <p:cNvPr id="16" name="Text 13"/>
          <p:cNvSpPr/>
          <p:nvPr/>
        </p:nvSpPr>
        <p:spPr>
          <a:xfrm>
            <a:off x="868680" y="4562856"/>
            <a:ext cx="1371600" cy="347472"/>
          </a:xfrm>
          <a:prstGeom prst="rect">
            <a:avLst/>
          </a:prstGeom>
          <a:noFill/>
          <a:ln/>
        </p:spPr>
        <p:txBody>
          <a:bodyPr wrap="square" lIns="0" tIns="0" rIns="0" bIns="0" rtlCol="0" anchor="ctr"/>
          <a:lstStyle/>
          <a:p>
            <a:pPr indent="0" marL="0">
              <a:buNone/>
            </a:pPr>
            <a:r>
              <a:rPr lang="en-US" sz="1200" dirty="0">
                <a:solidFill>
                  <a:srgbClr val="F4F6FB"/>
                </a:solidFill>
                <a:latin typeface="Calibri" pitchFamily="34" charset="0"/>
                <a:ea typeface="Calibri" pitchFamily="34" charset="-122"/>
                <a:cs typeface="Calibri" pitchFamily="34" charset="-120"/>
              </a:rPr>
              <a:t>Scan</a:t>
            </a:r>
            <a:endParaRPr lang="en-US" sz="1200" dirty="0"/>
          </a:p>
        </p:txBody>
      </p:sp>
      <p:sp>
        <p:nvSpPr>
          <p:cNvPr id="17" name="Text 14"/>
          <p:cNvSpPr/>
          <p:nvPr/>
        </p:nvSpPr>
        <p:spPr>
          <a:xfrm>
            <a:off x="2286000" y="4562856"/>
            <a:ext cx="1371600" cy="347472"/>
          </a:xfrm>
          <a:prstGeom prst="rect">
            <a:avLst/>
          </a:prstGeom>
          <a:noFill/>
          <a:ln/>
        </p:spPr>
        <p:txBody>
          <a:bodyPr wrap="square" lIns="0" tIns="0" rIns="0" bIns="0" rtlCol="0" anchor="ctr"/>
          <a:lstStyle/>
          <a:p>
            <a:pPr indent="0" marL="0">
              <a:buNone/>
            </a:pPr>
            <a:r>
              <a:rPr lang="en-US" sz="1200" dirty="0">
                <a:solidFill>
                  <a:srgbClr val="F4F6FB"/>
                </a:solidFill>
                <a:latin typeface="Calibri" pitchFamily="34" charset="0"/>
                <a:ea typeface="Calibri" pitchFamily="34" charset="-122"/>
                <a:cs typeface="Calibri" pitchFamily="34" charset="-120"/>
              </a:rPr>
              <a:t>Package</a:t>
            </a:r>
            <a:endParaRPr lang="en-US" sz="1200" dirty="0"/>
          </a:p>
        </p:txBody>
      </p:sp>
      <p:sp>
        <p:nvSpPr>
          <p:cNvPr id="18" name="Shape 15"/>
          <p:cNvSpPr/>
          <p:nvPr/>
        </p:nvSpPr>
        <p:spPr>
          <a:xfrm>
            <a:off x="4251960" y="2377440"/>
            <a:ext cx="3383280" cy="3200400"/>
          </a:xfrm>
          <a:prstGeom prst="roundRect">
            <a:avLst>
              <a:gd name="adj" fmla="val 2286"/>
            </a:avLst>
          </a:prstGeom>
          <a:solidFill>
            <a:srgbClr val="17224A"/>
          </a:solidFill>
          <a:ln w="12700">
            <a:solidFill>
              <a:srgbClr val="17224A"/>
            </a:solidFill>
            <a:prstDash val="solid"/>
          </a:ln>
        </p:spPr>
      </p:sp>
      <p:sp>
        <p:nvSpPr>
          <p:cNvPr id="19" name="Text 16"/>
          <p:cNvSpPr/>
          <p:nvPr/>
        </p:nvSpPr>
        <p:spPr>
          <a:xfrm>
            <a:off x="4526280" y="2514600"/>
            <a:ext cx="914400" cy="548640"/>
          </a:xfrm>
          <a:prstGeom prst="rect">
            <a:avLst/>
          </a:prstGeom>
          <a:noFill/>
          <a:ln/>
        </p:spPr>
        <p:txBody>
          <a:bodyPr wrap="square" lIns="0" tIns="0" rIns="0" bIns="0" rtlCol="0" anchor="ctr"/>
          <a:lstStyle/>
          <a:p>
            <a:pPr indent="0" marL="0">
              <a:buNone/>
            </a:pPr>
            <a:r>
              <a:rPr lang="en-US" sz="2800" b="1" dirty="0">
                <a:solidFill>
                  <a:srgbClr val="5B8CF0"/>
                </a:solidFill>
                <a:latin typeface="Calibri" pitchFamily="34" charset="0"/>
                <a:ea typeface="Calibri" pitchFamily="34" charset="-122"/>
                <a:cs typeface="Calibri" pitchFamily="34" charset="-120"/>
              </a:rPr>
              <a:t>II</a:t>
            </a:r>
            <a:endParaRPr lang="en-US" sz="2800" dirty="0"/>
          </a:p>
        </p:txBody>
      </p:sp>
      <p:sp>
        <p:nvSpPr>
          <p:cNvPr id="20" name="Text 17"/>
          <p:cNvSpPr/>
          <p:nvPr/>
        </p:nvSpPr>
        <p:spPr>
          <a:xfrm>
            <a:off x="4526280" y="3063240"/>
            <a:ext cx="2834640" cy="320040"/>
          </a:xfrm>
          <a:prstGeom prst="rect">
            <a:avLst/>
          </a:prstGeom>
          <a:noFill/>
          <a:ln/>
        </p:spPr>
        <p:txBody>
          <a:bodyPr wrap="square" lIns="0" tIns="0" rIns="0" bIns="0" rtlCol="0" anchor="ctr"/>
          <a:lstStyle/>
          <a:p>
            <a:pPr indent="0" marL="0">
              <a:buNone/>
            </a:pPr>
            <a:r>
              <a:rPr lang="en-US" sz="1200" b="1" spc="100" kern="0" dirty="0">
                <a:solidFill>
                  <a:srgbClr val="F4F6FB"/>
                </a:solidFill>
                <a:latin typeface="Calibri" pitchFamily="34" charset="0"/>
                <a:ea typeface="Calibri" pitchFamily="34" charset="-122"/>
                <a:cs typeface="Calibri" pitchFamily="34" charset="-120"/>
              </a:rPr>
              <a:t>PRODUCTION</a:t>
            </a:r>
            <a:endParaRPr lang="en-US" sz="1200" dirty="0"/>
          </a:p>
        </p:txBody>
      </p:sp>
      <p:sp>
        <p:nvSpPr>
          <p:cNvPr id="21" name="Text 18"/>
          <p:cNvSpPr/>
          <p:nvPr/>
        </p:nvSpPr>
        <p:spPr>
          <a:xfrm>
            <a:off x="4526280" y="3364992"/>
            <a:ext cx="2834640" cy="320040"/>
          </a:xfrm>
          <a:prstGeom prst="rect">
            <a:avLst/>
          </a:prstGeom>
          <a:noFill/>
          <a:ln/>
        </p:spPr>
        <p:txBody>
          <a:bodyPr wrap="square" lIns="0" tIns="0" rIns="0" bIns="0" rtlCol="0" anchor="ctr"/>
          <a:lstStyle/>
          <a:p>
            <a:pPr indent="0" marL="0">
              <a:buNone/>
            </a:pPr>
            <a:r>
              <a:rPr lang="en-US" sz="1200" i="1" dirty="0">
                <a:solidFill>
                  <a:srgbClr val="8A99BF"/>
                </a:solidFill>
                <a:latin typeface="Calibri" pitchFamily="34" charset="0"/>
                <a:ea typeface="Calibri" pitchFamily="34" charset="-122"/>
                <a:cs typeface="Calibri" pitchFamily="34" charset="-120"/>
              </a:rPr>
              <a:t>Getting it to users safely</a:t>
            </a:r>
            <a:endParaRPr lang="en-US" sz="1200" dirty="0"/>
          </a:p>
        </p:txBody>
      </p:sp>
      <p:sp>
        <p:nvSpPr>
          <p:cNvPr id="22" name="Text 19"/>
          <p:cNvSpPr/>
          <p:nvPr/>
        </p:nvSpPr>
        <p:spPr>
          <a:xfrm>
            <a:off x="4526280" y="3794760"/>
            <a:ext cx="1371600" cy="347472"/>
          </a:xfrm>
          <a:prstGeom prst="rect">
            <a:avLst/>
          </a:prstGeom>
          <a:noFill/>
          <a:ln/>
        </p:spPr>
        <p:txBody>
          <a:bodyPr wrap="square" lIns="0" tIns="0" rIns="0" bIns="0" rtlCol="0" anchor="ctr"/>
          <a:lstStyle/>
          <a:p>
            <a:pPr indent="0" marL="0">
              <a:buNone/>
            </a:pPr>
            <a:r>
              <a:rPr lang="en-US" sz="1200" dirty="0">
                <a:solidFill>
                  <a:srgbClr val="F4F6FB"/>
                </a:solidFill>
                <a:latin typeface="Calibri" pitchFamily="34" charset="0"/>
                <a:ea typeface="Calibri" pitchFamily="34" charset="-122"/>
                <a:cs typeface="Calibri" pitchFamily="34" charset="-120"/>
              </a:rPr>
              <a:t>Release</a:t>
            </a:r>
            <a:endParaRPr lang="en-US" sz="1200" dirty="0"/>
          </a:p>
        </p:txBody>
      </p:sp>
      <p:sp>
        <p:nvSpPr>
          <p:cNvPr id="23" name="Text 20"/>
          <p:cNvSpPr/>
          <p:nvPr/>
        </p:nvSpPr>
        <p:spPr>
          <a:xfrm>
            <a:off x="5943600" y="3794760"/>
            <a:ext cx="1371600" cy="347472"/>
          </a:xfrm>
          <a:prstGeom prst="rect">
            <a:avLst/>
          </a:prstGeom>
          <a:noFill/>
          <a:ln/>
        </p:spPr>
        <p:txBody>
          <a:bodyPr wrap="square" lIns="0" tIns="0" rIns="0" bIns="0" rtlCol="0" anchor="ctr"/>
          <a:lstStyle/>
          <a:p>
            <a:pPr indent="0" marL="0">
              <a:buNone/>
            </a:pPr>
            <a:r>
              <a:rPr lang="en-US" sz="1200" dirty="0">
                <a:solidFill>
                  <a:srgbClr val="F4F6FB"/>
                </a:solidFill>
                <a:latin typeface="Calibri" pitchFamily="34" charset="0"/>
                <a:ea typeface="Calibri" pitchFamily="34" charset="-122"/>
                <a:cs typeface="Calibri" pitchFamily="34" charset="-120"/>
              </a:rPr>
              <a:t>Deploy</a:t>
            </a:r>
            <a:endParaRPr lang="en-US" sz="1200" dirty="0"/>
          </a:p>
        </p:txBody>
      </p:sp>
      <p:sp>
        <p:nvSpPr>
          <p:cNvPr id="24" name="Text 21"/>
          <p:cNvSpPr/>
          <p:nvPr/>
        </p:nvSpPr>
        <p:spPr>
          <a:xfrm>
            <a:off x="4526280" y="4178808"/>
            <a:ext cx="1371600" cy="347472"/>
          </a:xfrm>
          <a:prstGeom prst="rect">
            <a:avLst/>
          </a:prstGeom>
          <a:noFill/>
          <a:ln/>
        </p:spPr>
        <p:txBody>
          <a:bodyPr wrap="square" lIns="0" tIns="0" rIns="0" bIns="0" rtlCol="0" anchor="ctr"/>
          <a:lstStyle/>
          <a:p>
            <a:pPr indent="0" marL="0">
              <a:buNone/>
            </a:pPr>
            <a:r>
              <a:rPr lang="en-US" sz="1200" dirty="0">
                <a:solidFill>
                  <a:srgbClr val="F4F6FB"/>
                </a:solidFill>
                <a:latin typeface="Calibri" pitchFamily="34" charset="0"/>
                <a:ea typeface="Calibri" pitchFamily="34" charset="-122"/>
                <a:cs typeface="Calibri" pitchFamily="34" charset="-120"/>
              </a:rPr>
              <a:t>Canary</a:t>
            </a:r>
            <a:endParaRPr lang="en-US" sz="1200" dirty="0"/>
          </a:p>
        </p:txBody>
      </p:sp>
      <p:sp>
        <p:nvSpPr>
          <p:cNvPr id="25" name="Text 22"/>
          <p:cNvSpPr/>
          <p:nvPr/>
        </p:nvSpPr>
        <p:spPr>
          <a:xfrm>
            <a:off x="5943600" y="4178808"/>
            <a:ext cx="1371600" cy="347472"/>
          </a:xfrm>
          <a:prstGeom prst="rect">
            <a:avLst/>
          </a:prstGeom>
          <a:noFill/>
          <a:ln/>
        </p:spPr>
        <p:txBody>
          <a:bodyPr wrap="square" lIns="0" tIns="0" rIns="0" bIns="0" rtlCol="0" anchor="ctr"/>
          <a:lstStyle/>
          <a:p>
            <a:pPr indent="0" marL="0">
              <a:buNone/>
            </a:pPr>
            <a:r>
              <a:rPr lang="en-US" sz="1200" dirty="0">
                <a:solidFill>
                  <a:srgbClr val="F4F6FB"/>
                </a:solidFill>
                <a:latin typeface="Calibri" pitchFamily="34" charset="0"/>
                <a:ea typeface="Calibri" pitchFamily="34" charset="-122"/>
                <a:cs typeface="Calibri" pitchFamily="34" charset="-120"/>
              </a:rPr>
              <a:t>Config</a:t>
            </a:r>
            <a:endParaRPr lang="en-US" sz="1200" dirty="0"/>
          </a:p>
        </p:txBody>
      </p:sp>
      <p:sp>
        <p:nvSpPr>
          <p:cNvPr id="26" name="Text 23"/>
          <p:cNvSpPr/>
          <p:nvPr/>
        </p:nvSpPr>
        <p:spPr>
          <a:xfrm>
            <a:off x="4526280" y="4562856"/>
            <a:ext cx="1371600" cy="347472"/>
          </a:xfrm>
          <a:prstGeom prst="rect">
            <a:avLst/>
          </a:prstGeom>
          <a:noFill/>
          <a:ln/>
        </p:spPr>
        <p:txBody>
          <a:bodyPr wrap="square" lIns="0" tIns="0" rIns="0" bIns="0" rtlCol="0" anchor="ctr"/>
          <a:lstStyle/>
          <a:p>
            <a:pPr indent="0" marL="0">
              <a:buNone/>
            </a:pPr>
            <a:r>
              <a:rPr lang="en-US" sz="1200" dirty="0">
                <a:solidFill>
                  <a:srgbClr val="F4F6FB"/>
                </a:solidFill>
                <a:latin typeface="Calibri" pitchFamily="34" charset="0"/>
                <a:ea typeface="Calibri" pitchFamily="34" charset="-122"/>
                <a:cs typeface="Calibri" pitchFamily="34" charset="-120"/>
              </a:rPr>
              <a:t>Secrets</a:t>
            </a:r>
            <a:endParaRPr lang="en-US" sz="1200" dirty="0"/>
          </a:p>
        </p:txBody>
      </p:sp>
      <p:sp>
        <p:nvSpPr>
          <p:cNvPr id="27" name="Text 24"/>
          <p:cNvSpPr/>
          <p:nvPr/>
        </p:nvSpPr>
        <p:spPr>
          <a:xfrm>
            <a:off x="5943600" y="4562856"/>
            <a:ext cx="1371600" cy="347472"/>
          </a:xfrm>
          <a:prstGeom prst="rect">
            <a:avLst/>
          </a:prstGeom>
          <a:noFill/>
          <a:ln/>
        </p:spPr>
        <p:txBody>
          <a:bodyPr wrap="square" lIns="0" tIns="0" rIns="0" bIns="0" rtlCol="0" anchor="ctr"/>
          <a:lstStyle/>
          <a:p>
            <a:pPr indent="0" marL="0">
              <a:buNone/>
            </a:pPr>
            <a:r>
              <a:rPr lang="en-US" sz="1200" dirty="0">
                <a:solidFill>
                  <a:srgbClr val="F4F6FB"/>
                </a:solidFill>
                <a:latin typeface="Calibri" pitchFamily="34" charset="0"/>
                <a:ea typeface="Calibri" pitchFamily="34" charset="-122"/>
                <a:cs typeface="Calibri" pitchFamily="34" charset="-120"/>
              </a:rPr>
              <a:t>Scale</a:t>
            </a:r>
            <a:endParaRPr lang="en-US" sz="1200" dirty="0"/>
          </a:p>
        </p:txBody>
      </p:sp>
      <p:sp>
        <p:nvSpPr>
          <p:cNvPr id="28" name="Shape 25"/>
          <p:cNvSpPr/>
          <p:nvPr/>
        </p:nvSpPr>
        <p:spPr>
          <a:xfrm>
            <a:off x="7909560" y="2377440"/>
            <a:ext cx="3383280" cy="3200400"/>
          </a:xfrm>
          <a:prstGeom prst="roundRect">
            <a:avLst>
              <a:gd name="adj" fmla="val 2286"/>
            </a:avLst>
          </a:prstGeom>
          <a:solidFill>
            <a:srgbClr val="17224A"/>
          </a:solidFill>
          <a:ln w="12700">
            <a:solidFill>
              <a:srgbClr val="17224A"/>
            </a:solidFill>
            <a:prstDash val="solid"/>
          </a:ln>
        </p:spPr>
      </p:sp>
      <p:sp>
        <p:nvSpPr>
          <p:cNvPr id="29" name="Text 26"/>
          <p:cNvSpPr/>
          <p:nvPr/>
        </p:nvSpPr>
        <p:spPr>
          <a:xfrm>
            <a:off x="8183880" y="2514600"/>
            <a:ext cx="914400" cy="548640"/>
          </a:xfrm>
          <a:prstGeom prst="rect">
            <a:avLst/>
          </a:prstGeom>
          <a:noFill/>
          <a:ln/>
        </p:spPr>
        <p:txBody>
          <a:bodyPr wrap="square" lIns="0" tIns="0" rIns="0" bIns="0" rtlCol="0" anchor="ctr"/>
          <a:lstStyle/>
          <a:p>
            <a:pPr indent="0" marL="0">
              <a:buNone/>
            </a:pPr>
            <a:r>
              <a:rPr lang="en-US" sz="2800" b="1" dirty="0">
                <a:solidFill>
                  <a:srgbClr val="EE4001"/>
                </a:solidFill>
                <a:latin typeface="Calibri" pitchFamily="34" charset="0"/>
                <a:ea typeface="Calibri" pitchFamily="34" charset="-122"/>
                <a:cs typeface="Calibri" pitchFamily="34" charset="-120"/>
              </a:rPr>
              <a:t>III</a:t>
            </a:r>
            <a:endParaRPr lang="en-US" sz="2800" dirty="0"/>
          </a:p>
        </p:txBody>
      </p:sp>
      <p:sp>
        <p:nvSpPr>
          <p:cNvPr id="30" name="Text 27"/>
          <p:cNvSpPr/>
          <p:nvPr/>
        </p:nvSpPr>
        <p:spPr>
          <a:xfrm>
            <a:off x="8183880" y="3063240"/>
            <a:ext cx="2834640" cy="320040"/>
          </a:xfrm>
          <a:prstGeom prst="rect">
            <a:avLst/>
          </a:prstGeom>
          <a:noFill/>
          <a:ln/>
        </p:spPr>
        <p:txBody>
          <a:bodyPr wrap="square" lIns="0" tIns="0" rIns="0" bIns="0" rtlCol="0" anchor="ctr"/>
          <a:lstStyle/>
          <a:p>
            <a:pPr indent="0" marL="0">
              <a:buNone/>
            </a:pPr>
            <a:r>
              <a:rPr lang="en-US" sz="1200" b="1" spc="100" kern="0" dirty="0">
                <a:solidFill>
                  <a:srgbClr val="F4F6FB"/>
                </a:solidFill>
                <a:latin typeface="Calibri" pitchFamily="34" charset="0"/>
                <a:ea typeface="Calibri" pitchFamily="34" charset="-122"/>
                <a:cs typeface="Calibri" pitchFamily="34" charset="-120"/>
              </a:rPr>
              <a:t>POST-PRODUCTION</a:t>
            </a:r>
            <a:endParaRPr lang="en-US" sz="1200" dirty="0"/>
          </a:p>
        </p:txBody>
      </p:sp>
      <p:sp>
        <p:nvSpPr>
          <p:cNvPr id="31" name="Text 28"/>
          <p:cNvSpPr/>
          <p:nvPr/>
        </p:nvSpPr>
        <p:spPr>
          <a:xfrm>
            <a:off x="8183880" y="3364992"/>
            <a:ext cx="2834640" cy="320040"/>
          </a:xfrm>
          <a:prstGeom prst="rect">
            <a:avLst/>
          </a:prstGeom>
          <a:noFill/>
          <a:ln/>
        </p:spPr>
        <p:txBody>
          <a:bodyPr wrap="square" lIns="0" tIns="0" rIns="0" bIns="0" rtlCol="0" anchor="ctr"/>
          <a:lstStyle/>
          <a:p>
            <a:pPr indent="0" marL="0">
              <a:buNone/>
            </a:pPr>
            <a:r>
              <a:rPr lang="en-US" sz="1200" i="1" dirty="0">
                <a:solidFill>
                  <a:srgbClr val="8A99BF"/>
                </a:solidFill>
                <a:latin typeface="Calibri" pitchFamily="34" charset="0"/>
                <a:ea typeface="Calibri" pitchFamily="34" charset="-122"/>
                <a:cs typeface="Calibri" pitchFamily="34" charset="-120"/>
              </a:rPr>
              <a:t>Living with what you shipped</a:t>
            </a:r>
            <a:endParaRPr lang="en-US" sz="1200" dirty="0"/>
          </a:p>
        </p:txBody>
      </p:sp>
      <p:sp>
        <p:nvSpPr>
          <p:cNvPr id="32" name="Text 29"/>
          <p:cNvSpPr/>
          <p:nvPr/>
        </p:nvSpPr>
        <p:spPr>
          <a:xfrm>
            <a:off x="8183880" y="3794760"/>
            <a:ext cx="1371600" cy="347472"/>
          </a:xfrm>
          <a:prstGeom prst="rect">
            <a:avLst/>
          </a:prstGeom>
          <a:noFill/>
          <a:ln/>
        </p:spPr>
        <p:txBody>
          <a:bodyPr wrap="square" lIns="0" tIns="0" rIns="0" bIns="0" rtlCol="0" anchor="ctr"/>
          <a:lstStyle/>
          <a:p>
            <a:pPr indent="0" marL="0">
              <a:buNone/>
            </a:pPr>
            <a:r>
              <a:rPr lang="en-US" sz="1200" dirty="0">
                <a:solidFill>
                  <a:srgbClr val="F4F6FB"/>
                </a:solidFill>
                <a:latin typeface="Calibri" pitchFamily="34" charset="0"/>
                <a:ea typeface="Calibri" pitchFamily="34" charset="-122"/>
                <a:cs typeface="Calibri" pitchFamily="34" charset="-120"/>
              </a:rPr>
              <a:t>Observe</a:t>
            </a:r>
            <a:endParaRPr lang="en-US" sz="1200" dirty="0"/>
          </a:p>
        </p:txBody>
      </p:sp>
      <p:sp>
        <p:nvSpPr>
          <p:cNvPr id="33" name="Text 30"/>
          <p:cNvSpPr/>
          <p:nvPr/>
        </p:nvSpPr>
        <p:spPr>
          <a:xfrm>
            <a:off x="9601200" y="3794760"/>
            <a:ext cx="1371600" cy="347472"/>
          </a:xfrm>
          <a:prstGeom prst="rect">
            <a:avLst/>
          </a:prstGeom>
          <a:noFill/>
          <a:ln/>
        </p:spPr>
        <p:txBody>
          <a:bodyPr wrap="square" lIns="0" tIns="0" rIns="0" bIns="0" rtlCol="0" anchor="ctr"/>
          <a:lstStyle/>
          <a:p>
            <a:pPr indent="0" marL="0">
              <a:buNone/>
            </a:pPr>
            <a:r>
              <a:rPr lang="en-US" sz="1200" dirty="0">
                <a:solidFill>
                  <a:srgbClr val="F4F6FB"/>
                </a:solidFill>
                <a:latin typeface="Calibri" pitchFamily="34" charset="0"/>
                <a:ea typeface="Calibri" pitchFamily="34" charset="-122"/>
                <a:cs typeface="Calibri" pitchFamily="34" charset="-120"/>
              </a:rPr>
              <a:t>Alert</a:t>
            </a:r>
            <a:endParaRPr lang="en-US" sz="1200" dirty="0"/>
          </a:p>
        </p:txBody>
      </p:sp>
      <p:sp>
        <p:nvSpPr>
          <p:cNvPr id="34" name="Text 31"/>
          <p:cNvSpPr/>
          <p:nvPr/>
        </p:nvSpPr>
        <p:spPr>
          <a:xfrm>
            <a:off x="8183880" y="4178808"/>
            <a:ext cx="1371600" cy="347472"/>
          </a:xfrm>
          <a:prstGeom prst="rect">
            <a:avLst/>
          </a:prstGeom>
          <a:noFill/>
          <a:ln/>
        </p:spPr>
        <p:txBody>
          <a:bodyPr wrap="square" lIns="0" tIns="0" rIns="0" bIns="0" rtlCol="0" anchor="ctr"/>
          <a:lstStyle/>
          <a:p>
            <a:pPr indent="0" marL="0">
              <a:buNone/>
            </a:pPr>
            <a:r>
              <a:rPr lang="en-US" sz="1200" dirty="0">
                <a:solidFill>
                  <a:srgbClr val="F4F6FB"/>
                </a:solidFill>
                <a:latin typeface="Calibri" pitchFamily="34" charset="0"/>
                <a:ea typeface="Calibri" pitchFamily="34" charset="-122"/>
                <a:cs typeface="Calibri" pitchFamily="34" charset="-120"/>
              </a:rPr>
              <a:t>On-call</a:t>
            </a:r>
            <a:endParaRPr lang="en-US" sz="1200" dirty="0"/>
          </a:p>
        </p:txBody>
      </p:sp>
      <p:sp>
        <p:nvSpPr>
          <p:cNvPr id="35" name="Text 32"/>
          <p:cNvSpPr/>
          <p:nvPr/>
        </p:nvSpPr>
        <p:spPr>
          <a:xfrm>
            <a:off x="9601200" y="4178808"/>
            <a:ext cx="1371600" cy="347472"/>
          </a:xfrm>
          <a:prstGeom prst="rect">
            <a:avLst/>
          </a:prstGeom>
          <a:noFill/>
          <a:ln/>
        </p:spPr>
        <p:txBody>
          <a:bodyPr wrap="square" lIns="0" tIns="0" rIns="0" bIns="0" rtlCol="0" anchor="ctr"/>
          <a:lstStyle/>
          <a:p>
            <a:pPr indent="0" marL="0">
              <a:buNone/>
            </a:pPr>
            <a:r>
              <a:rPr lang="en-US" sz="1200" dirty="0">
                <a:solidFill>
                  <a:srgbClr val="F4F6FB"/>
                </a:solidFill>
                <a:latin typeface="Calibri" pitchFamily="34" charset="0"/>
                <a:ea typeface="Calibri" pitchFamily="34" charset="-122"/>
                <a:cs typeface="Calibri" pitchFamily="34" charset="-120"/>
              </a:rPr>
              <a:t>Incident</a:t>
            </a:r>
            <a:endParaRPr lang="en-US" sz="1200" dirty="0"/>
          </a:p>
        </p:txBody>
      </p:sp>
      <p:sp>
        <p:nvSpPr>
          <p:cNvPr id="36" name="Text 33"/>
          <p:cNvSpPr/>
          <p:nvPr/>
        </p:nvSpPr>
        <p:spPr>
          <a:xfrm>
            <a:off x="8183880" y="4562856"/>
            <a:ext cx="1371600" cy="347472"/>
          </a:xfrm>
          <a:prstGeom prst="rect">
            <a:avLst/>
          </a:prstGeom>
          <a:noFill/>
          <a:ln/>
        </p:spPr>
        <p:txBody>
          <a:bodyPr wrap="square" lIns="0" tIns="0" rIns="0" bIns="0" rtlCol="0" anchor="ctr"/>
          <a:lstStyle/>
          <a:p>
            <a:pPr indent="0" marL="0">
              <a:buNone/>
            </a:pPr>
            <a:r>
              <a:rPr lang="en-US" sz="1200" dirty="0">
                <a:solidFill>
                  <a:srgbClr val="F4F6FB"/>
                </a:solidFill>
                <a:latin typeface="Calibri" pitchFamily="34" charset="0"/>
                <a:ea typeface="Calibri" pitchFamily="34" charset="-122"/>
                <a:cs typeface="Calibri" pitchFamily="34" charset="-120"/>
              </a:rPr>
              <a:t>Postmortem</a:t>
            </a:r>
            <a:endParaRPr lang="en-US" sz="1200" dirty="0"/>
          </a:p>
        </p:txBody>
      </p:sp>
      <p:sp>
        <p:nvSpPr>
          <p:cNvPr id="37" name="Text 34"/>
          <p:cNvSpPr/>
          <p:nvPr/>
        </p:nvSpPr>
        <p:spPr>
          <a:xfrm>
            <a:off x="9601200" y="4562856"/>
            <a:ext cx="1371600" cy="347472"/>
          </a:xfrm>
          <a:prstGeom prst="rect">
            <a:avLst/>
          </a:prstGeom>
          <a:noFill/>
          <a:ln/>
        </p:spPr>
        <p:txBody>
          <a:bodyPr wrap="square" lIns="0" tIns="0" rIns="0" bIns="0" rtlCol="0" anchor="ctr"/>
          <a:lstStyle/>
          <a:p>
            <a:pPr indent="0" marL="0">
              <a:buNone/>
            </a:pPr>
            <a:r>
              <a:rPr lang="en-US" sz="1200" dirty="0">
                <a:solidFill>
                  <a:srgbClr val="F4F6FB"/>
                </a:solidFill>
                <a:latin typeface="Calibri" pitchFamily="34" charset="0"/>
                <a:ea typeface="Calibri" pitchFamily="34" charset="-122"/>
                <a:cs typeface="Calibri" pitchFamily="34" charset="-120"/>
              </a:rPr>
              <a:t>Cost</a:t>
            </a:r>
            <a:endParaRPr lang="en-US" sz="1200" dirty="0"/>
          </a:p>
        </p:txBody>
      </p:sp>
      <p:sp>
        <p:nvSpPr>
          <p:cNvPr id="38" name="Shape 35"/>
          <p:cNvSpPr/>
          <p:nvPr/>
        </p:nvSpPr>
        <p:spPr>
          <a:xfrm>
            <a:off x="594360" y="5760720"/>
            <a:ext cx="10881360" cy="731520"/>
          </a:xfrm>
          <a:prstGeom prst="roundRect">
            <a:avLst>
              <a:gd name="adj" fmla="val 10000"/>
            </a:avLst>
          </a:prstGeom>
          <a:solidFill>
            <a:srgbClr val="17224A"/>
          </a:solidFill>
          <a:ln w="12700">
            <a:solidFill>
              <a:srgbClr val="17224A"/>
            </a:solidFill>
            <a:prstDash val="solid"/>
          </a:ln>
        </p:spPr>
      </p:sp>
      <p:sp>
        <p:nvSpPr>
          <p:cNvPr id="39" name="Text 36"/>
          <p:cNvSpPr/>
          <p:nvPr/>
        </p:nvSpPr>
        <p:spPr>
          <a:xfrm>
            <a:off x="914400" y="5760720"/>
            <a:ext cx="10241280" cy="731520"/>
          </a:xfrm>
          <a:prstGeom prst="rect">
            <a:avLst/>
          </a:prstGeom>
          <a:noFill/>
          <a:ln/>
        </p:spPr>
        <p:txBody>
          <a:bodyPr wrap="square" lIns="0" tIns="0" rIns="0" bIns="0" rtlCol="0" anchor="ctr"/>
          <a:lstStyle/>
          <a:p>
            <a:pPr indent="0" marL="0">
              <a:buNone/>
            </a:pPr>
            <a:r>
              <a:rPr lang="en-US" sz="1600" b="1" dirty="0">
                <a:solidFill>
                  <a:srgbClr val="EE4001"/>
                </a:solidFill>
                <a:latin typeface="Calibri" pitchFamily="34" charset="0"/>
                <a:ea typeface="Calibri" pitchFamily="34" charset="-122"/>
                <a:cs typeface="Calibri" pitchFamily="34" charset="-120"/>
              </a:rPr>
              <a:t>Most courses cover Act I, mention Act II, and stop. Act III is where the job actually lives.</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B"/>
        </a:solidFill>
      </p:bgPr>
    </p:bg>
    <p:spTree>
      <p:nvGrpSpPr>
        <p:cNvPr id="1" name=""/>
        <p:cNvGrpSpPr/>
        <p:nvPr/>
      </p:nvGrpSpPr>
      <p:grpSpPr>
        <a:xfrm>
          <a:off x="0" y="0"/>
          <a:ext cx="0" cy="0"/>
          <a:chOff x="0" y="0"/>
          <a:chExt cx="0" cy="0"/>
        </a:xfrm>
      </p:grpSpPr>
      <p:sp>
        <p:nvSpPr>
          <p:cNvPr id="3" name="Shape 0"/>
          <p:cNvSpPr/>
          <p:nvPr/>
        </p:nvSpPr>
        <p:spPr>
          <a:xfrm>
            <a:off x="594360" y="384048"/>
            <a:ext cx="384048" cy="384048"/>
          </a:xfrm>
          <a:prstGeom prst="ellipse">
            <a:avLst/>
          </a:prstGeom>
          <a:solidFill>
            <a:srgbClr val="0755E9"/>
          </a:solidFill>
          <a:ln/>
        </p:spPr>
      </p:sp>
      <p:sp>
        <p:nvSpPr>
          <p:cNvPr id="4" name="Text 1"/>
          <p:cNvSpPr/>
          <p:nvPr/>
        </p:nvSpPr>
        <p:spPr>
          <a:xfrm>
            <a:off x="59436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5" name="Text 2"/>
          <p:cNvSpPr/>
          <p:nvPr/>
        </p:nvSpPr>
        <p:spPr>
          <a:xfrm>
            <a:off x="1097280" y="384048"/>
            <a:ext cx="7772400" cy="384048"/>
          </a:xfrm>
          <a:prstGeom prst="rect">
            <a:avLst/>
          </a:prstGeom>
          <a:noFill/>
          <a:ln/>
        </p:spPr>
        <p:txBody>
          <a:bodyPr wrap="square" lIns="0" tIns="0" rIns="0" bIns="0" rtlCol="0" anchor="ctr"/>
          <a:lstStyle/>
          <a:p>
            <a:pPr indent="0" marL="0">
              <a:buNone/>
            </a:pPr>
            <a:r>
              <a:rPr lang="en-US" sz="1100" b="1" spc="200" kern="0" dirty="0">
                <a:solidFill>
                  <a:srgbClr val="5A6890"/>
                </a:solidFill>
                <a:latin typeface="Calibri" pitchFamily="34" charset="0"/>
                <a:ea typeface="Calibri" pitchFamily="34" charset="-122"/>
                <a:cs typeface="Calibri" pitchFamily="34" charset="-120"/>
              </a:rPr>
              <a:t>ACT I</a:t>
            </a:r>
            <a:endParaRPr lang="en-US" sz="1100" dirty="0"/>
          </a:p>
        </p:txBody>
      </p:sp>
      <p:sp>
        <p:nvSpPr>
          <p:cNvPr id="6" name="Text 3"/>
          <p:cNvSpPr/>
          <p:nvPr/>
        </p:nvSpPr>
        <p:spPr>
          <a:xfrm>
            <a:off x="594360" y="960120"/>
            <a:ext cx="10881360" cy="914400"/>
          </a:xfrm>
          <a:prstGeom prst="rect">
            <a:avLst/>
          </a:prstGeom>
          <a:noFill/>
          <a:ln/>
        </p:spPr>
        <p:txBody>
          <a:bodyPr wrap="square" lIns="0" tIns="0" rIns="0" bIns="0" rtlCol="0" anchor="t"/>
          <a:lstStyle/>
          <a:p>
            <a:pPr indent="0" marL="0">
              <a:buNone/>
            </a:pPr>
            <a:r>
              <a:rPr lang="en-US" sz="3600" b="1" dirty="0">
                <a:solidFill>
                  <a:srgbClr val="0A1229"/>
                </a:solidFill>
                <a:latin typeface="Calibri" pitchFamily="34" charset="0"/>
                <a:ea typeface="Calibri" pitchFamily="34" charset="-122"/>
                <a:cs typeface="Calibri" pitchFamily="34" charset="-120"/>
              </a:rPr>
              <a:t>Pre-production: before anyone can be hurt by it</a:t>
            </a:r>
            <a:endParaRPr lang="en-US" sz="3600" dirty="0"/>
          </a:p>
        </p:txBody>
      </p:sp>
      <p:sp>
        <p:nvSpPr>
          <p:cNvPr id="7" name="Text 4"/>
          <p:cNvSpPr/>
          <p:nvPr/>
        </p:nvSpPr>
        <p:spPr>
          <a:xfrm>
            <a:off x="914400" y="1965960"/>
            <a:ext cx="2286000" cy="274320"/>
          </a:xfrm>
          <a:prstGeom prst="rect">
            <a:avLst/>
          </a:prstGeom>
          <a:noFill/>
          <a:ln/>
        </p:spPr>
        <p:txBody>
          <a:bodyPr wrap="square" lIns="0" tIns="0" rIns="0" bIns="0" rtlCol="0" anchor="ctr"/>
          <a:lstStyle/>
          <a:p>
            <a:pPr indent="0" marL="0">
              <a:buNone/>
            </a:pPr>
            <a:r>
              <a:rPr lang="en-US" sz="1100" b="1" spc="200" kern="0" dirty="0">
                <a:solidFill>
                  <a:srgbClr val="5A6890"/>
                </a:solidFill>
                <a:latin typeface="Calibri" pitchFamily="34" charset="0"/>
                <a:ea typeface="Calibri" pitchFamily="34" charset="-122"/>
                <a:cs typeface="Calibri" pitchFamily="34" charset="-120"/>
              </a:rPr>
              <a:t>WHAT</a:t>
            </a:r>
            <a:endParaRPr lang="en-US" sz="1100" dirty="0"/>
          </a:p>
        </p:txBody>
      </p:sp>
      <p:sp>
        <p:nvSpPr>
          <p:cNvPr id="8" name="Text 5"/>
          <p:cNvSpPr/>
          <p:nvPr/>
        </p:nvSpPr>
        <p:spPr>
          <a:xfrm>
            <a:off x="3474720" y="1965960"/>
            <a:ext cx="3657600" cy="274320"/>
          </a:xfrm>
          <a:prstGeom prst="rect">
            <a:avLst/>
          </a:prstGeom>
          <a:noFill/>
          <a:ln/>
        </p:spPr>
        <p:txBody>
          <a:bodyPr wrap="square" lIns="0" tIns="0" rIns="0" bIns="0" rtlCol="0" anchor="ctr"/>
          <a:lstStyle/>
          <a:p>
            <a:pPr indent="0" marL="0">
              <a:buNone/>
            </a:pPr>
            <a:r>
              <a:rPr lang="en-US" sz="1100" b="1" spc="200" kern="0" dirty="0">
                <a:solidFill>
                  <a:srgbClr val="5A6890"/>
                </a:solidFill>
                <a:latin typeface="Calibri" pitchFamily="34" charset="0"/>
                <a:ea typeface="Calibri" pitchFamily="34" charset="-122"/>
                <a:cs typeface="Calibri" pitchFamily="34" charset="-120"/>
              </a:rPr>
              <a:t>WHY IT EXISTS</a:t>
            </a:r>
            <a:endParaRPr lang="en-US" sz="1100" dirty="0"/>
          </a:p>
        </p:txBody>
      </p:sp>
      <p:sp>
        <p:nvSpPr>
          <p:cNvPr id="9" name="Text 6"/>
          <p:cNvSpPr/>
          <p:nvPr/>
        </p:nvSpPr>
        <p:spPr>
          <a:xfrm>
            <a:off x="7452360" y="1965960"/>
            <a:ext cx="3657600" cy="274320"/>
          </a:xfrm>
          <a:prstGeom prst="rect">
            <a:avLst/>
          </a:prstGeom>
          <a:noFill/>
          <a:ln/>
        </p:spPr>
        <p:txBody>
          <a:bodyPr wrap="square" lIns="0" tIns="0" rIns="0" bIns="0" rtlCol="0" anchor="ctr"/>
          <a:lstStyle/>
          <a:p>
            <a:pPr indent="0" marL="0">
              <a:buNone/>
            </a:pPr>
            <a:r>
              <a:rPr lang="en-US" sz="1100" b="1" spc="200" kern="0" dirty="0">
                <a:solidFill>
                  <a:srgbClr val="EE4001"/>
                </a:solidFill>
                <a:latin typeface="Calibri" pitchFamily="34" charset="0"/>
                <a:ea typeface="Calibri" pitchFamily="34" charset="-122"/>
                <a:cs typeface="Calibri" pitchFamily="34" charset="-120"/>
              </a:rPr>
              <a:t>SKIP IT AND</a:t>
            </a:r>
            <a:endParaRPr lang="en-US" sz="1100" dirty="0"/>
          </a:p>
        </p:txBody>
      </p:sp>
      <p:sp>
        <p:nvSpPr>
          <p:cNvPr id="10" name="Shape 7"/>
          <p:cNvSpPr/>
          <p:nvPr/>
        </p:nvSpPr>
        <p:spPr>
          <a:xfrm>
            <a:off x="594360" y="2331720"/>
            <a:ext cx="10881360" cy="713232"/>
          </a:xfrm>
          <a:prstGeom prst="roundRect">
            <a:avLst>
              <a:gd name="adj" fmla="val 10256"/>
            </a:avLst>
          </a:prstGeom>
          <a:solidFill>
            <a:srgbClr val="E4E9F5"/>
          </a:solidFill>
          <a:ln w="12700">
            <a:solidFill>
              <a:srgbClr val="E4E9F5"/>
            </a:solidFill>
            <a:prstDash val="solid"/>
          </a:ln>
        </p:spPr>
      </p:sp>
      <p:sp>
        <p:nvSpPr>
          <p:cNvPr id="11" name="Text 8"/>
          <p:cNvSpPr/>
          <p:nvPr/>
        </p:nvSpPr>
        <p:spPr>
          <a:xfrm>
            <a:off x="914400" y="2331720"/>
            <a:ext cx="2468880" cy="713232"/>
          </a:xfrm>
          <a:prstGeom prst="rect">
            <a:avLst/>
          </a:prstGeom>
          <a:noFill/>
          <a:ln/>
        </p:spPr>
        <p:txBody>
          <a:bodyPr wrap="square" lIns="0" tIns="0" rIns="0" bIns="0" rtlCol="0" anchor="ctr"/>
          <a:lstStyle/>
          <a:p>
            <a:pPr indent="0" marL="0">
              <a:buNone/>
            </a:pPr>
            <a:r>
              <a:rPr lang="en-US" sz="1500" b="1" dirty="0">
                <a:solidFill>
                  <a:srgbClr val="0A1229"/>
                </a:solidFill>
                <a:latin typeface="Calibri" pitchFamily="34" charset="0"/>
                <a:ea typeface="Calibri" pitchFamily="34" charset="-122"/>
                <a:cs typeface="Calibri" pitchFamily="34" charset="-120"/>
              </a:rPr>
              <a:t>Plan &amp; code</a:t>
            </a:r>
            <a:endParaRPr lang="en-US" sz="1500" dirty="0"/>
          </a:p>
        </p:txBody>
      </p:sp>
      <p:sp>
        <p:nvSpPr>
          <p:cNvPr id="12" name="Text 9"/>
          <p:cNvSpPr/>
          <p:nvPr/>
        </p:nvSpPr>
        <p:spPr>
          <a:xfrm>
            <a:off x="3474720" y="2331720"/>
            <a:ext cx="3840480" cy="713232"/>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Version control, review, branching</a:t>
            </a:r>
            <a:endParaRPr lang="en-US" sz="1300" dirty="0"/>
          </a:p>
        </p:txBody>
      </p:sp>
      <p:sp>
        <p:nvSpPr>
          <p:cNvPr id="13" name="Text 10"/>
          <p:cNvSpPr/>
          <p:nvPr/>
        </p:nvSpPr>
        <p:spPr>
          <a:xfrm>
            <a:off x="7452360" y="2331720"/>
            <a:ext cx="3749040" cy="713232"/>
          </a:xfrm>
          <a:prstGeom prst="rect">
            <a:avLst/>
          </a:prstGeom>
          <a:noFill/>
          <a:ln/>
        </p:spPr>
        <p:txBody>
          <a:bodyPr wrap="square" lIns="0" tIns="0" rIns="0" bIns="0" rtlCol="0" anchor="ctr"/>
          <a:lstStyle/>
          <a:p>
            <a:pPr indent="0" marL="0">
              <a:buNone/>
            </a:pPr>
            <a:r>
              <a:rPr lang="en-US" sz="1300" dirty="0">
                <a:solidFill>
                  <a:srgbClr val="5A6890"/>
                </a:solidFill>
                <a:latin typeface="Calibri" pitchFamily="34" charset="0"/>
                <a:ea typeface="Calibri" pitchFamily="34" charset="-122"/>
                <a:cs typeface="Calibri" pitchFamily="34" charset="-120"/>
              </a:rPr>
              <a:t>Nobody knows who changed what, or why</a:t>
            </a:r>
            <a:endParaRPr lang="en-US" sz="1300" dirty="0"/>
          </a:p>
        </p:txBody>
      </p:sp>
      <p:sp>
        <p:nvSpPr>
          <p:cNvPr id="14" name="Shape 11"/>
          <p:cNvSpPr/>
          <p:nvPr/>
        </p:nvSpPr>
        <p:spPr>
          <a:xfrm>
            <a:off x="594360" y="3136392"/>
            <a:ext cx="10881360" cy="713232"/>
          </a:xfrm>
          <a:prstGeom prst="roundRect">
            <a:avLst>
              <a:gd name="adj" fmla="val 10256"/>
            </a:avLst>
          </a:prstGeom>
          <a:solidFill>
            <a:srgbClr val="E4E9F5"/>
          </a:solidFill>
          <a:ln w="12700">
            <a:solidFill>
              <a:srgbClr val="E4E9F5"/>
            </a:solidFill>
            <a:prstDash val="solid"/>
          </a:ln>
        </p:spPr>
      </p:sp>
      <p:sp>
        <p:nvSpPr>
          <p:cNvPr id="15" name="Text 12"/>
          <p:cNvSpPr/>
          <p:nvPr/>
        </p:nvSpPr>
        <p:spPr>
          <a:xfrm>
            <a:off x="914400" y="3136392"/>
            <a:ext cx="2468880" cy="713232"/>
          </a:xfrm>
          <a:prstGeom prst="rect">
            <a:avLst/>
          </a:prstGeom>
          <a:noFill/>
          <a:ln/>
        </p:spPr>
        <p:txBody>
          <a:bodyPr wrap="square" lIns="0" tIns="0" rIns="0" bIns="0" rtlCol="0" anchor="ctr"/>
          <a:lstStyle/>
          <a:p>
            <a:pPr indent="0" marL="0">
              <a:buNone/>
            </a:pPr>
            <a:r>
              <a:rPr lang="en-US" sz="1500" b="1" dirty="0">
                <a:solidFill>
                  <a:srgbClr val="0A1229"/>
                </a:solidFill>
                <a:latin typeface="Calibri" pitchFamily="34" charset="0"/>
                <a:ea typeface="Calibri" pitchFamily="34" charset="-122"/>
                <a:cs typeface="Calibri" pitchFamily="34" charset="-120"/>
              </a:rPr>
              <a:t>Build</a:t>
            </a:r>
            <a:endParaRPr lang="en-US" sz="1500" dirty="0"/>
          </a:p>
        </p:txBody>
      </p:sp>
      <p:sp>
        <p:nvSpPr>
          <p:cNvPr id="16" name="Text 13"/>
          <p:cNvSpPr/>
          <p:nvPr/>
        </p:nvSpPr>
        <p:spPr>
          <a:xfrm>
            <a:off x="3474720" y="3136392"/>
            <a:ext cx="3840480" cy="713232"/>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One repeatable artifact from source</a:t>
            </a:r>
            <a:endParaRPr lang="en-US" sz="1300" dirty="0"/>
          </a:p>
        </p:txBody>
      </p:sp>
      <p:sp>
        <p:nvSpPr>
          <p:cNvPr id="17" name="Text 14"/>
          <p:cNvSpPr/>
          <p:nvPr/>
        </p:nvSpPr>
        <p:spPr>
          <a:xfrm>
            <a:off x="7452360" y="3136392"/>
            <a:ext cx="3749040" cy="713232"/>
          </a:xfrm>
          <a:prstGeom prst="rect">
            <a:avLst/>
          </a:prstGeom>
          <a:noFill/>
          <a:ln/>
        </p:spPr>
        <p:txBody>
          <a:bodyPr wrap="square" lIns="0" tIns="0" rIns="0" bIns="0" rtlCol="0" anchor="ctr"/>
          <a:lstStyle/>
          <a:p>
            <a:pPr indent="0" marL="0">
              <a:buNone/>
            </a:pPr>
            <a:r>
              <a:rPr lang="en-US" sz="1300" dirty="0">
                <a:solidFill>
                  <a:srgbClr val="5A6890"/>
                </a:solidFill>
                <a:latin typeface="Calibri" pitchFamily="34" charset="0"/>
                <a:ea typeface="Calibri" pitchFamily="34" charset="-122"/>
                <a:cs typeface="Calibri" pitchFamily="34" charset="-120"/>
              </a:rPr>
              <a:t>"It built on my laptop" is not a release</a:t>
            </a:r>
            <a:endParaRPr lang="en-US" sz="1300" dirty="0"/>
          </a:p>
        </p:txBody>
      </p:sp>
      <p:sp>
        <p:nvSpPr>
          <p:cNvPr id="18" name="Shape 15"/>
          <p:cNvSpPr/>
          <p:nvPr/>
        </p:nvSpPr>
        <p:spPr>
          <a:xfrm>
            <a:off x="594360" y="3941064"/>
            <a:ext cx="10881360" cy="713232"/>
          </a:xfrm>
          <a:prstGeom prst="roundRect">
            <a:avLst>
              <a:gd name="adj" fmla="val 10256"/>
            </a:avLst>
          </a:prstGeom>
          <a:solidFill>
            <a:srgbClr val="E4E9F5"/>
          </a:solidFill>
          <a:ln w="12700">
            <a:solidFill>
              <a:srgbClr val="E4E9F5"/>
            </a:solidFill>
            <a:prstDash val="solid"/>
          </a:ln>
        </p:spPr>
      </p:sp>
      <p:sp>
        <p:nvSpPr>
          <p:cNvPr id="19" name="Text 16"/>
          <p:cNvSpPr/>
          <p:nvPr/>
        </p:nvSpPr>
        <p:spPr>
          <a:xfrm>
            <a:off x="914400" y="3941064"/>
            <a:ext cx="2468880" cy="713232"/>
          </a:xfrm>
          <a:prstGeom prst="rect">
            <a:avLst/>
          </a:prstGeom>
          <a:noFill/>
          <a:ln/>
        </p:spPr>
        <p:txBody>
          <a:bodyPr wrap="square" lIns="0" tIns="0" rIns="0" bIns="0" rtlCol="0" anchor="ctr"/>
          <a:lstStyle/>
          <a:p>
            <a:pPr indent="0" marL="0">
              <a:buNone/>
            </a:pPr>
            <a:r>
              <a:rPr lang="en-US" sz="1500" b="1" dirty="0">
                <a:solidFill>
                  <a:srgbClr val="0A1229"/>
                </a:solidFill>
                <a:latin typeface="Calibri" pitchFamily="34" charset="0"/>
                <a:ea typeface="Calibri" pitchFamily="34" charset="-122"/>
                <a:cs typeface="Calibri" pitchFamily="34" charset="-120"/>
              </a:rPr>
              <a:t>Test</a:t>
            </a:r>
            <a:endParaRPr lang="en-US" sz="1500" dirty="0"/>
          </a:p>
        </p:txBody>
      </p:sp>
      <p:sp>
        <p:nvSpPr>
          <p:cNvPr id="20" name="Text 17"/>
          <p:cNvSpPr/>
          <p:nvPr/>
        </p:nvSpPr>
        <p:spPr>
          <a:xfrm>
            <a:off x="3474720" y="3941064"/>
            <a:ext cx="3840480" cy="713232"/>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Automated checks that can block a release</a:t>
            </a:r>
            <a:endParaRPr lang="en-US" sz="1300" dirty="0"/>
          </a:p>
        </p:txBody>
      </p:sp>
      <p:sp>
        <p:nvSpPr>
          <p:cNvPr id="21" name="Text 18"/>
          <p:cNvSpPr/>
          <p:nvPr/>
        </p:nvSpPr>
        <p:spPr>
          <a:xfrm>
            <a:off x="7452360" y="3941064"/>
            <a:ext cx="3749040" cy="713232"/>
          </a:xfrm>
          <a:prstGeom prst="rect">
            <a:avLst/>
          </a:prstGeom>
          <a:noFill/>
          <a:ln/>
        </p:spPr>
        <p:txBody>
          <a:bodyPr wrap="square" lIns="0" tIns="0" rIns="0" bIns="0" rtlCol="0" anchor="ctr"/>
          <a:lstStyle/>
          <a:p>
            <a:pPr indent="0" marL="0">
              <a:buNone/>
            </a:pPr>
            <a:r>
              <a:rPr lang="en-US" sz="1300" dirty="0">
                <a:solidFill>
                  <a:srgbClr val="5A6890"/>
                </a:solidFill>
                <a:latin typeface="Calibri" pitchFamily="34" charset="0"/>
                <a:ea typeface="Calibri" pitchFamily="34" charset="-122"/>
                <a:cs typeface="Calibri" pitchFamily="34" charset="-120"/>
              </a:rPr>
              <a:t>You find out from customers instead</a:t>
            </a:r>
            <a:endParaRPr lang="en-US" sz="1300" dirty="0"/>
          </a:p>
        </p:txBody>
      </p:sp>
      <p:sp>
        <p:nvSpPr>
          <p:cNvPr id="22" name="Shape 19"/>
          <p:cNvSpPr/>
          <p:nvPr/>
        </p:nvSpPr>
        <p:spPr>
          <a:xfrm>
            <a:off x="594360" y="4745736"/>
            <a:ext cx="10881360" cy="713232"/>
          </a:xfrm>
          <a:prstGeom prst="roundRect">
            <a:avLst>
              <a:gd name="adj" fmla="val 10256"/>
            </a:avLst>
          </a:prstGeom>
          <a:solidFill>
            <a:srgbClr val="E4E9F5"/>
          </a:solidFill>
          <a:ln w="12700">
            <a:solidFill>
              <a:srgbClr val="E4E9F5"/>
            </a:solidFill>
            <a:prstDash val="solid"/>
          </a:ln>
        </p:spPr>
      </p:sp>
      <p:sp>
        <p:nvSpPr>
          <p:cNvPr id="23" name="Text 20"/>
          <p:cNvSpPr/>
          <p:nvPr/>
        </p:nvSpPr>
        <p:spPr>
          <a:xfrm>
            <a:off x="914400" y="4745736"/>
            <a:ext cx="2468880" cy="713232"/>
          </a:xfrm>
          <a:prstGeom prst="rect">
            <a:avLst/>
          </a:prstGeom>
          <a:noFill/>
          <a:ln/>
        </p:spPr>
        <p:txBody>
          <a:bodyPr wrap="square" lIns="0" tIns="0" rIns="0" bIns="0" rtlCol="0" anchor="ctr"/>
          <a:lstStyle/>
          <a:p>
            <a:pPr indent="0" marL="0">
              <a:buNone/>
            </a:pPr>
            <a:r>
              <a:rPr lang="en-US" sz="1500" b="1" dirty="0">
                <a:solidFill>
                  <a:srgbClr val="0A1229"/>
                </a:solidFill>
                <a:latin typeface="Calibri" pitchFamily="34" charset="0"/>
                <a:ea typeface="Calibri" pitchFamily="34" charset="-122"/>
                <a:cs typeface="Calibri" pitchFamily="34" charset="-120"/>
              </a:rPr>
              <a:t>Scan</a:t>
            </a:r>
            <a:endParaRPr lang="en-US" sz="1500" dirty="0"/>
          </a:p>
        </p:txBody>
      </p:sp>
      <p:sp>
        <p:nvSpPr>
          <p:cNvPr id="24" name="Text 21"/>
          <p:cNvSpPr/>
          <p:nvPr/>
        </p:nvSpPr>
        <p:spPr>
          <a:xfrm>
            <a:off x="3474720" y="4745736"/>
            <a:ext cx="3840480" cy="713232"/>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Dependencies, secrets, licences, SBOM</a:t>
            </a:r>
            <a:endParaRPr lang="en-US" sz="1300" dirty="0"/>
          </a:p>
        </p:txBody>
      </p:sp>
      <p:sp>
        <p:nvSpPr>
          <p:cNvPr id="25" name="Text 22"/>
          <p:cNvSpPr/>
          <p:nvPr/>
        </p:nvSpPr>
        <p:spPr>
          <a:xfrm>
            <a:off x="7452360" y="4745736"/>
            <a:ext cx="3749040" cy="713232"/>
          </a:xfrm>
          <a:prstGeom prst="rect">
            <a:avLst/>
          </a:prstGeom>
          <a:noFill/>
          <a:ln/>
        </p:spPr>
        <p:txBody>
          <a:bodyPr wrap="square" lIns="0" tIns="0" rIns="0" bIns="0" rtlCol="0" anchor="ctr"/>
          <a:lstStyle/>
          <a:p>
            <a:pPr indent="0" marL="0">
              <a:buNone/>
            </a:pPr>
            <a:r>
              <a:rPr lang="en-US" sz="1300" dirty="0">
                <a:solidFill>
                  <a:srgbClr val="5A6890"/>
                </a:solidFill>
                <a:latin typeface="Calibri" pitchFamily="34" charset="0"/>
                <a:ea typeface="Calibri" pitchFamily="34" charset="-122"/>
                <a:cs typeface="Calibri" pitchFamily="34" charset="-120"/>
              </a:rPr>
              <a:t>You ship somebody else's vulnerability</a:t>
            </a:r>
            <a:endParaRPr lang="en-US" sz="1300" dirty="0"/>
          </a:p>
        </p:txBody>
      </p:sp>
      <p:sp>
        <p:nvSpPr>
          <p:cNvPr id="26" name="Shape 23"/>
          <p:cNvSpPr/>
          <p:nvPr/>
        </p:nvSpPr>
        <p:spPr>
          <a:xfrm>
            <a:off x="594360" y="5550408"/>
            <a:ext cx="10881360" cy="713232"/>
          </a:xfrm>
          <a:prstGeom prst="roundRect">
            <a:avLst>
              <a:gd name="adj" fmla="val 10256"/>
            </a:avLst>
          </a:prstGeom>
          <a:solidFill>
            <a:srgbClr val="E4E9F5"/>
          </a:solidFill>
          <a:ln w="12700">
            <a:solidFill>
              <a:srgbClr val="E4E9F5"/>
            </a:solidFill>
            <a:prstDash val="solid"/>
          </a:ln>
        </p:spPr>
      </p:sp>
      <p:sp>
        <p:nvSpPr>
          <p:cNvPr id="27" name="Text 24"/>
          <p:cNvSpPr/>
          <p:nvPr/>
        </p:nvSpPr>
        <p:spPr>
          <a:xfrm>
            <a:off x="914400" y="5550408"/>
            <a:ext cx="2468880" cy="713232"/>
          </a:xfrm>
          <a:prstGeom prst="rect">
            <a:avLst/>
          </a:prstGeom>
          <a:noFill/>
          <a:ln/>
        </p:spPr>
        <p:txBody>
          <a:bodyPr wrap="square" lIns="0" tIns="0" rIns="0" bIns="0" rtlCol="0" anchor="ctr"/>
          <a:lstStyle/>
          <a:p>
            <a:pPr indent="0" marL="0">
              <a:buNone/>
            </a:pPr>
            <a:r>
              <a:rPr lang="en-US" sz="1500" b="1" dirty="0">
                <a:solidFill>
                  <a:srgbClr val="0A1229"/>
                </a:solidFill>
                <a:latin typeface="Calibri" pitchFamily="34" charset="0"/>
                <a:ea typeface="Calibri" pitchFamily="34" charset="-122"/>
                <a:cs typeface="Calibri" pitchFamily="34" charset="-120"/>
              </a:rPr>
              <a:t>Package</a:t>
            </a:r>
            <a:endParaRPr lang="en-US" sz="1500" dirty="0"/>
          </a:p>
        </p:txBody>
      </p:sp>
      <p:sp>
        <p:nvSpPr>
          <p:cNvPr id="28" name="Text 25"/>
          <p:cNvSpPr/>
          <p:nvPr/>
        </p:nvSpPr>
        <p:spPr>
          <a:xfrm>
            <a:off x="3474720" y="5550408"/>
            <a:ext cx="3840480" cy="713232"/>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One immutable artifact, staged rollout</a:t>
            </a:r>
            <a:endParaRPr lang="en-US" sz="1300" dirty="0"/>
          </a:p>
        </p:txBody>
      </p:sp>
      <p:sp>
        <p:nvSpPr>
          <p:cNvPr id="29" name="Text 26"/>
          <p:cNvSpPr/>
          <p:nvPr/>
        </p:nvSpPr>
        <p:spPr>
          <a:xfrm>
            <a:off x="7452360" y="5550408"/>
            <a:ext cx="3749040" cy="713232"/>
          </a:xfrm>
          <a:prstGeom prst="rect">
            <a:avLst/>
          </a:prstGeom>
          <a:noFill/>
          <a:ln/>
        </p:spPr>
        <p:txBody>
          <a:bodyPr wrap="square" lIns="0" tIns="0" rIns="0" bIns="0" rtlCol="0" anchor="ctr"/>
          <a:lstStyle/>
          <a:p>
            <a:pPr indent="0" marL="0">
              <a:buNone/>
            </a:pPr>
            <a:r>
              <a:rPr lang="en-US" sz="1300" b="1" dirty="0">
                <a:solidFill>
                  <a:srgbClr val="EE4001"/>
                </a:solidFill>
                <a:latin typeface="Calibri" pitchFamily="34" charset="0"/>
                <a:ea typeface="Calibri" pitchFamily="34" charset="-122"/>
                <a:cs typeface="Calibri" pitchFamily="34" charset="-120"/>
              </a:rPr>
              <a:t>CrowdStrike. Every machine at once.</a:t>
            </a:r>
            <a:endParaRPr lang="en-US" sz="1300" dirty="0"/>
          </a:p>
        </p:txBody>
      </p:sp>
      <p:sp>
        <p:nvSpPr>
          <p:cNvPr id="30" name="Text 27"/>
          <p:cNvSpPr/>
          <p:nvPr/>
        </p:nvSpPr>
        <p:spPr>
          <a:xfrm>
            <a:off x="594360" y="6400800"/>
            <a:ext cx="10881360" cy="320040"/>
          </a:xfrm>
          <a:prstGeom prst="rect">
            <a:avLst/>
          </a:prstGeom>
          <a:noFill/>
          <a:ln/>
        </p:spPr>
        <p:txBody>
          <a:bodyPr wrap="square" lIns="0" tIns="0" rIns="0" bIns="0" rtlCol="0" anchor="ctr"/>
          <a:lstStyle/>
          <a:p>
            <a:pPr indent="0" marL="0">
              <a:buNone/>
            </a:pPr>
            <a:r>
              <a:rPr lang="en-US" sz="1300" i="1" dirty="0">
                <a:solidFill>
                  <a:srgbClr val="5A6890"/>
                </a:solidFill>
                <a:latin typeface="Calibri" pitchFamily="34" charset="0"/>
                <a:ea typeface="Calibri" pitchFamily="34" charset="-122"/>
                <a:cs typeface="Calibri" pitchFamily="34" charset="-120"/>
              </a:rPr>
              <a:t>Days 1 to 4 this week. You will build every row.</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B"/>
        </a:solidFill>
      </p:bgPr>
    </p:bg>
    <p:spTree>
      <p:nvGrpSpPr>
        <p:cNvPr id="1" name=""/>
        <p:cNvGrpSpPr/>
        <p:nvPr/>
      </p:nvGrpSpPr>
      <p:grpSpPr>
        <a:xfrm>
          <a:off x="0" y="0"/>
          <a:ext cx="0" cy="0"/>
          <a:chOff x="0" y="0"/>
          <a:chExt cx="0" cy="0"/>
        </a:xfrm>
      </p:grpSpPr>
      <p:sp>
        <p:nvSpPr>
          <p:cNvPr id="3" name="Shape 0"/>
          <p:cNvSpPr/>
          <p:nvPr/>
        </p:nvSpPr>
        <p:spPr>
          <a:xfrm>
            <a:off x="594360" y="384048"/>
            <a:ext cx="384048" cy="384048"/>
          </a:xfrm>
          <a:prstGeom prst="ellipse">
            <a:avLst/>
          </a:prstGeom>
          <a:solidFill>
            <a:srgbClr val="0755E9"/>
          </a:solidFill>
          <a:ln/>
        </p:spPr>
      </p:sp>
      <p:sp>
        <p:nvSpPr>
          <p:cNvPr id="4" name="Text 1"/>
          <p:cNvSpPr/>
          <p:nvPr/>
        </p:nvSpPr>
        <p:spPr>
          <a:xfrm>
            <a:off x="59436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5" name="Text 2"/>
          <p:cNvSpPr/>
          <p:nvPr/>
        </p:nvSpPr>
        <p:spPr>
          <a:xfrm>
            <a:off x="1097280" y="384048"/>
            <a:ext cx="7772400" cy="384048"/>
          </a:xfrm>
          <a:prstGeom prst="rect">
            <a:avLst/>
          </a:prstGeom>
          <a:noFill/>
          <a:ln/>
        </p:spPr>
        <p:txBody>
          <a:bodyPr wrap="square" lIns="0" tIns="0" rIns="0" bIns="0" rtlCol="0" anchor="ctr"/>
          <a:lstStyle/>
          <a:p>
            <a:pPr indent="0" marL="0">
              <a:buNone/>
            </a:pPr>
            <a:r>
              <a:rPr lang="en-US" sz="1100" b="1" spc="200" kern="0" dirty="0">
                <a:solidFill>
                  <a:srgbClr val="5A6890"/>
                </a:solidFill>
                <a:latin typeface="Calibri" pitchFamily="34" charset="0"/>
                <a:ea typeface="Calibri" pitchFamily="34" charset="-122"/>
                <a:cs typeface="Calibri" pitchFamily="34" charset="-120"/>
              </a:rPr>
              <a:t>ACT II</a:t>
            </a:r>
            <a:endParaRPr lang="en-US" sz="1100" dirty="0"/>
          </a:p>
        </p:txBody>
      </p:sp>
      <p:sp>
        <p:nvSpPr>
          <p:cNvPr id="6" name="Text 3"/>
          <p:cNvSpPr/>
          <p:nvPr/>
        </p:nvSpPr>
        <p:spPr>
          <a:xfrm>
            <a:off x="594360" y="960120"/>
            <a:ext cx="10881360" cy="914400"/>
          </a:xfrm>
          <a:prstGeom prst="rect">
            <a:avLst/>
          </a:prstGeom>
          <a:noFill/>
          <a:ln/>
        </p:spPr>
        <p:txBody>
          <a:bodyPr wrap="square" lIns="0" tIns="0" rIns="0" bIns="0" rtlCol="0" anchor="t"/>
          <a:lstStyle/>
          <a:p>
            <a:pPr indent="0" marL="0">
              <a:buNone/>
            </a:pPr>
            <a:r>
              <a:rPr lang="en-US" sz="3600" b="1" dirty="0">
                <a:solidFill>
                  <a:srgbClr val="0A1229"/>
                </a:solidFill>
                <a:latin typeface="Calibri" pitchFamily="34" charset="0"/>
                <a:ea typeface="Calibri" pitchFamily="34" charset="-122"/>
                <a:cs typeface="Calibri" pitchFamily="34" charset="-120"/>
              </a:rPr>
              <a:t>Production: the dial, not the switch</a:t>
            </a:r>
            <a:endParaRPr lang="en-US" sz="3600" dirty="0"/>
          </a:p>
        </p:txBody>
      </p:sp>
      <p:sp>
        <p:nvSpPr>
          <p:cNvPr id="7" name="Text 4"/>
          <p:cNvSpPr/>
          <p:nvPr/>
        </p:nvSpPr>
        <p:spPr>
          <a:xfrm>
            <a:off x="594360" y="1783080"/>
            <a:ext cx="10881360" cy="411480"/>
          </a:xfrm>
          <a:prstGeom prst="rect">
            <a:avLst/>
          </a:prstGeom>
          <a:noFill/>
          <a:ln/>
        </p:spPr>
        <p:txBody>
          <a:bodyPr wrap="square" lIns="0" tIns="0" rIns="0" bIns="0" rtlCol="0" anchor="ctr"/>
          <a:lstStyle/>
          <a:p>
            <a:pPr indent="0" marL="0">
              <a:buNone/>
            </a:pPr>
            <a:r>
              <a:rPr lang="en-US" sz="1700" dirty="0">
                <a:solidFill>
                  <a:srgbClr val="0755E9"/>
                </a:solidFill>
                <a:latin typeface="Calibri" pitchFamily="34" charset="0"/>
                <a:ea typeface="Calibri" pitchFamily="34" charset="-122"/>
                <a:cs typeface="Calibri" pitchFamily="34" charset="-120"/>
              </a:rPr>
              <a:t>Shipping to everyone at once is a choice - and almost never the right one.</a:t>
            </a:r>
            <a:endParaRPr lang="en-US" sz="1700" dirty="0"/>
          </a:p>
        </p:txBody>
      </p:sp>
      <p:sp>
        <p:nvSpPr>
          <p:cNvPr id="8" name="Shape 5"/>
          <p:cNvSpPr/>
          <p:nvPr/>
        </p:nvSpPr>
        <p:spPr>
          <a:xfrm>
            <a:off x="594360" y="2377440"/>
            <a:ext cx="2514600" cy="1691640"/>
          </a:xfrm>
          <a:prstGeom prst="roundRect">
            <a:avLst>
              <a:gd name="adj" fmla="val 4324"/>
            </a:avLst>
          </a:prstGeom>
          <a:solidFill>
            <a:srgbClr val="E4E9F5"/>
          </a:solidFill>
          <a:ln w="12700">
            <a:solidFill>
              <a:srgbClr val="E4E9F5"/>
            </a:solidFill>
            <a:prstDash val="solid"/>
          </a:ln>
        </p:spPr>
      </p:sp>
      <p:sp>
        <p:nvSpPr>
          <p:cNvPr id="9" name="Text 6"/>
          <p:cNvSpPr/>
          <p:nvPr/>
        </p:nvSpPr>
        <p:spPr>
          <a:xfrm>
            <a:off x="850392" y="2514600"/>
            <a:ext cx="2011680" cy="548640"/>
          </a:xfrm>
          <a:prstGeom prst="rect">
            <a:avLst/>
          </a:prstGeom>
          <a:noFill/>
          <a:ln/>
        </p:spPr>
        <p:txBody>
          <a:bodyPr wrap="square" lIns="0" tIns="0" rIns="0" bIns="0" rtlCol="0" anchor="ctr"/>
          <a:lstStyle/>
          <a:p>
            <a:pPr indent="0" marL="0">
              <a:buNone/>
            </a:pPr>
            <a:r>
              <a:rPr lang="en-US" sz="2600" b="1" dirty="0">
                <a:solidFill>
                  <a:srgbClr val="0755E9"/>
                </a:solidFill>
                <a:latin typeface="Calibri" pitchFamily="34" charset="0"/>
                <a:ea typeface="Calibri" pitchFamily="34" charset="-122"/>
                <a:cs typeface="Calibri" pitchFamily="34" charset="-120"/>
              </a:rPr>
              <a:t>1%</a:t>
            </a:r>
            <a:endParaRPr lang="en-US" sz="2600" dirty="0"/>
          </a:p>
        </p:txBody>
      </p:sp>
      <p:sp>
        <p:nvSpPr>
          <p:cNvPr id="10" name="Text 7"/>
          <p:cNvSpPr/>
          <p:nvPr/>
        </p:nvSpPr>
        <p:spPr>
          <a:xfrm>
            <a:off x="850392" y="3108960"/>
            <a:ext cx="2011680" cy="868680"/>
          </a:xfrm>
          <a:prstGeom prst="rect">
            <a:avLst/>
          </a:prstGeom>
          <a:noFill/>
          <a:ln/>
        </p:spPr>
        <p:txBody>
          <a:bodyPr wrap="square" lIns="0" tIns="0" rIns="0" bIns="0" rtlCol="0" anchor="ctr"/>
          <a:lstStyle/>
          <a:p>
            <a:pPr indent="0" marL="0">
              <a:buNone/>
            </a:pPr>
            <a:r>
              <a:rPr lang="en-US" sz="1200" dirty="0">
                <a:solidFill>
                  <a:srgbClr val="0A1229"/>
                </a:solidFill>
                <a:latin typeface="Calibri" pitchFamily="34" charset="0"/>
                <a:ea typeface="Calibri" pitchFamily="34" charset="-122"/>
                <a:cs typeface="Calibri" pitchFamily="34" charset="-120"/>
              </a:rPr>
              <a:t>Canary. If it is broken, 99 people out of 100 never notice.</a:t>
            </a:r>
            <a:endParaRPr lang="en-US" sz="1200" dirty="0"/>
          </a:p>
        </p:txBody>
      </p:sp>
      <p:sp>
        <p:nvSpPr>
          <p:cNvPr id="11" name="Shape 8"/>
          <p:cNvSpPr/>
          <p:nvPr/>
        </p:nvSpPr>
        <p:spPr>
          <a:xfrm>
            <a:off x="3337560" y="2377440"/>
            <a:ext cx="2514600" cy="1691640"/>
          </a:xfrm>
          <a:prstGeom prst="roundRect">
            <a:avLst>
              <a:gd name="adj" fmla="val 4324"/>
            </a:avLst>
          </a:prstGeom>
          <a:solidFill>
            <a:srgbClr val="E4E9F5"/>
          </a:solidFill>
          <a:ln w="12700">
            <a:solidFill>
              <a:srgbClr val="E4E9F5"/>
            </a:solidFill>
            <a:prstDash val="solid"/>
          </a:ln>
        </p:spPr>
      </p:sp>
      <p:sp>
        <p:nvSpPr>
          <p:cNvPr id="12" name="Text 9"/>
          <p:cNvSpPr/>
          <p:nvPr/>
        </p:nvSpPr>
        <p:spPr>
          <a:xfrm>
            <a:off x="3593592" y="2514600"/>
            <a:ext cx="2011680" cy="548640"/>
          </a:xfrm>
          <a:prstGeom prst="rect">
            <a:avLst/>
          </a:prstGeom>
          <a:noFill/>
          <a:ln/>
        </p:spPr>
        <p:txBody>
          <a:bodyPr wrap="square" lIns="0" tIns="0" rIns="0" bIns="0" rtlCol="0" anchor="ctr"/>
          <a:lstStyle/>
          <a:p>
            <a:pPr indent="0" marL="0">
              <a:buNone/>
            </a:pPr>
            <a:r>
              <a:rPr lang="en-US" sz="2600" b="1" dirty="0">
                <a:solidFill>
                  <a:srgbClr val="0755E9"/>
                </a:solidFill>
                <a:latin typeface="Calibri" pitchFamily="34" charset="0"/>
                <a:ea typeface="Calibri" pitchFamily="34" charset="-122"/>
                <a:cs typeface="Calibri" pitchFamily="34" charset="-120"/>
              </a:rPr>
              <a:t>5%</a:t>
            </a:r>
            <a:endParaRPr lang="en-US" sz="2600" dirty="0"/>
          </a:p>
        </p:txBody>
      </p:sp>
      <p:sp>
        <p:nvSpPr>
          <p:cNvPr id="13" name="Text 10"/>
          <p:cNvSpPr/>
          <p:nvPr/>
        </p:nvSpPr>
        <p:spPr>
          <a:xfrm>
            <a:off x="3593592" y="3108960"/>
            <a:ext cx="2011680" cy="868680"/>
          </a:xfrm>
          <a:prstGeom prst="rect">
            <a:avLst/>
          </a:prstGeom>
          <a:noFill/>
          <a:ln/>
        </p:spPr>
        <p:txBody>
          <a:bodyPr wrap="square" lIns="0" tIns="0" rIns="0" bIns="0" rtlCol="0" anchor="ctr"/>
          <a:lstStyle/>
          <a:p>
            <a:pPr indent="0" marL="0">
              <a:buNone/>
            </a:pPr>
            <a:r>
              <a:rPr lang="en-US" sz="1200" dirty="0">
                <a:solidFill>
                  <a:srgbClr val="0A1229"/>
                </a:solidFill>
                <a:latin typeface="Calibri" pitchFamily="34" charset="0"/>
                <a:ea typeface="Calibri" pitchFamily="34" charset="-122"/>
                <a:cs typeface="Calibri" pitchFamily="34" charset="-120"/>
              </a:rPr>
              <a:t>Still cheap to undo. Watch your error rate and latency.</a:t>
            </a:r>
            <a:endParaRPr lang="en-US" sz="1200" dirty="0"/>
          </a:p>
        </p:txBody>
      </p:sp>
      <p:sp>
        <p:nvSpPr>
          <p:cNvPr id="14" name="Shape 11"/>
          <p:cNvSpPr/>
          <p:nvPr/>
        </p:nvSpPr>
        <p:spPr>
          <a:xfrm>
            <a:off x="6080760" y="2377440"/>
            <a:ext cx="2514600" cy="1691640"/>
          </a:xfrm>
          <a:prstGeom prst="roundRect">
            <a:avLst>
              <a:gd name="adj" fmla="val 4324"/>
            </a:avLst>
          </a:prstGeom>
          <a:solidFill>
            <a:srgbClr val="E4E9F5"/>
          </a:solidFill>
          <a:ln w="12700">
            <a:solidFill>
              <a:srgbClr val="E4E9F5"/>
            </a:solidFill>
            <a:prstDash val="solid"/>
          </a:ln>
        </p:spPr>
      </p:sp>
      <p:sp>
        <p:nvSpPr>
          <p:cNvPr id="15" name="Text 12"/>
          <p:cNvSpPr/>
          <p:nvPr/>
        </p:nvSpPr>
        <p:spPr>
          <a:xfrm>
            <a:off x="6336792" y="2514600"/>
            <a:ext cx="2011680" cy="548640"/>
          </a:xfrm>
          <a:prstGeom prst="rect">
            <a:avLst/>
          </a:prstGeom>
          <a:noFill/>
          <a:ln/>
        </p:spPr>
        <p:txBody>
          <a:bodyPr wrap="square" lIns="0" tIns="0" rIns="0" bIns="0" rtlCol="0" anchor="ctr"/>
          <a:lstStyle/>
          <a:p>
            <a:pPr indent="0" marL="0">
              <a:buNone/>
            </a:pPr>
            <a:r>
              <a:rPr lang="en-US" sz="2600" b="1" dirty="0">
                <a:solidFill>
                  <a:srgbClr val="0755E9"/>
                </a:solidFill>
                <a:latin typeface="Calibri" pitchFamily="34" charset="0"/>
                <a:ea typeface="Calibri" pitchFamily="34" charset="-122"/>
                <a:cs typeface="Calibri" pitchFamily="34" charset="-120"/>
              </a:rPr>
              <a:t>50%</a:t>
            </a:r>
            <a:endParaRPr lang="en-US" sz="2600" dirty="0"/>
          </a:p>
        </p:txBody>
      </p:sp>
      <p:sp>
        <p:nvSpPr>
          <p:cNvPr id="16" name="Text 13"/>
          <p:cNvSpPr/>
          <p:nvPr/>
        </p:nvSpPr>
        <p:spPr>
          <a:xfrm>
            <a:off x="6336792" y="3108960"/>
            <a:ext cx="2011680" cy="868680"/>
          </a:xfrm>
          <a:prstGeom prst="rect">
            <a:avLst/>
          </a:prstGeom>
          <a:noFill/>
          <a:ln/>
        </p:spPr>
        <p:txBody>
          <a:bodyPr wrap="square" lIns="0" tIns="0" rIns="0" bIns="0" rtlCol="0" anchor="ctr"/>
          <a:lstStyle/>
          <a:p>
            <a:pPr indent="0" marL="0">
              <a:buNone/>
            </a:pPr>
            <a:r>
              <a:rPr lang="en-US" sz="1200" dirty="0">
                <a:solidFill>
                  <a:srgbClr val="0A1229"/>
                </a:solidFill>
                <a:latin typeface="Calibri" pitchFamily="34" charset="0"/>
                <a:ea typeface="Calibri" pitchFamily="34" charset="-122"/>
                <a:cs typeface="Calibri" pitchFamily="34" charset="-120"/>
              </a:rPr>
              <a:t>Now you have real signal. Compare the two halves.</a:t>
            </a:r>
            <a:endParaRPr lang="en-US" sz="1200" dirty="0"/>
          </a:p>
        </p:txBody>
      </p:sp>
      <p:sp>
        <p:nvSpPr>
          <p:cNvPr id="17" name="Shape 14"/>
          <p:cNvSpPr/>
          <p:nvPr/>
        </p:nvSpPr>
        <p:spPr>
          <a:xfrm>
            <a:off x="8823960" y="2377440"/>
            <a:ext cx="2514600" cy="1691640"/>
          </a:xfrm>
          <a:prstGeom prst="roundRect">
            <a:avLst>
              <a:gd name="adj" fmla="val 4324"/>
            </a:avLst>
          </a:prstGeom>
          <a:solidFill>
            <a:srgbClr val="E4E9F5"/>
          </a:solidFill>
          <a:ln w="12700">
            <a:solidFill>
              <a:srgbClr val="E4E9F5"/>
            </a:solidFill>
            <a:prstDash val="solid"/>
          </a:ln>
        </p:spPr>
      </p:sp>
      <p:sp>
        <p:nvSpPr>
          <p:cNvPr id="18" name="Text 15"/>
          <p:cNvSpPr/>
          <p:nvPr/>
        </p:nvSpPr>
        <p:spPr>
          <a:xfrm>
            <a:off x="9079992" y="2514600"/>
            <a:ext cx="2011680" cy="548640"/>
          </a:xfrm>
          <a:prstGeom prst="rect">
            <a:avLst/>
          </a:prstGeom>
          <a:noFill/>
          <a:ln/>
        </p:spPr>
        <p:txBody>
          <a:bodyPr wrap="square" lIns="0" tIns="0" rIns="0" bIns="0" rtlCol="0" anchor="ctr"/>
          <a:lstStyle/>
          <a:p>
            <a:pPr indent="0" marL="0">
              <a:buNone/>
            </a:pPr>
            <a:r>
              <a:rPr lang="en-US" sz="2600" b="1" dirty="0">
                <a:solidFill>
                  <a:srgbClr val="EE4001"/>
                </a:solidFill>
                <a:latin typeface="Calibri" pitchFamily="34" charset="0"/>
                <a:ea typeface="Calibri" pitchFamily="34" charset="-122"/>
                <a:cs typeface="Calibri" pitchFamily="34" charset="-120"/>
              </a:rPr>
              <a:t>100%</a:t>
            </a:r>
            <a:endParaRPr lang="en-US" sz="2600" dirty="0"/>
          </a:p>
        </p:txBody>
      </p:sp>
      <p:sp>
        <p:nvSpPr>
          <p:cNvPr id="19" name="Text 16"/>
          <p:cNvSpPr/>
          <p:nvPr/>
        </p:nvSpPr>
        <p:spPr>
          <a:xfrm>
            <a:off x="9079992" y="3108960"/>
            <a:ext cx="2011680" cy="868680"/>
          </a:xfrm>
          <a:prstGeom prst="rect">
            <a:avLst/>
          </a:prstGeom>
          <a:noFill/>
          <a:ln/>
        </p:spPr>
        <p:txBody>
          <a:bodyPr wrap="square" lIns="0" tIns="0" rIns="0" bIns="0" rtlCol="0" anchor="ctr"/>
          <a:lstStyle/>
          <a:p>
            <a:pPr indent="0" marL="0">
              <a:buNone/>
            </a:pPr>
            <a:r>
              <a:rPr lang="en-US" sz="1200" dirty="0">
                <a:solidFill>
                  <a:srgbClr val="0A1229"/>
                </a:solidFill>
                <a:latin typeface="Calibri" pitchFamily="34" charset="0"/>
                <a:ea typeface="Calibri" pitchFamily="34" charset="-122"/>
                <a:cs typeface="Calibri" pitchFamily="34" charset="-120"/>
              </a:rPr>
              <a:t>Only because the previous three steps told you it was safe.</a:t>
            </a:r>
            <a:endParaRPr lang="en-US" sz="1200" dirty="0"/>
          </a:p>
        </p:txBody>
      </p:sp>
      <p:sp>
        <p:nvSpPr>
          <p:cNvPr id="20" name="Shape 17"/>
          <p:cNvSpPr/>
          <p:nvPr/>
        </p:nvSpPr>
        <p:spPr>
          <a:xfrm>
            <a:off x="3108960" y="3200400"/>
            <a:ext cx="228600" cy="45720"/>
          </a:xfrm>
          <a:prstGeom prst="rect">
            <a:avLst/>
          </a:prstGeom>
          <a:solidFill>
            <a:srgbClr val="5A6890"/>
          </a:solidFill>
          <a:ln/>
        </p:spPr>
      </p:sp>
      <p:sp>
        <p:nvSpPr>
          <p:cNvPr id="21" name="Shape 18"/>
          <p:cNvSpPr/>
          <p:nvPr/>
        </p:nvSpPr>
        <p:spPr>
          <a:xfrm>
            <a:off x="5852160" y="3200400"/>
            <a:ext cx="228600" cy="45720"/>
          </a:xfrm>
          <a:prstGeom prst="rect">
            <a:avLst/>
          </a:prstGeom>
          <a:solidFill>
            <a:srgbClr val="5A6890"/>
          </a:solidFill>
          <a:ln/>
        </p:spPr>
      </p:sp>
      <p:sp>
        <p:nvSpPr>
          <p:cNvPr id="22" name="Shape 19"/>
          <p:cNvSpPr/>
          <p:nvPr/>
        </p:nvSpPr>
        <p:spPr>
          <a:xfrm>
            <a:off x="8595360" y="3200400"/>
            <a:ext cx="228600" cy="45720"/>
          </a:xfrm>
          <a:prstGeom prst="rect">
            <a:avLst/>
          </a:prstGeom>
          <a:solidFill>
            <a:srgbClr val="5A6890"/>
          </a:solidFill>
          <a:ln/>
        </p:spPr>
      </p:sp>
      <p:sp>
        <p:nvSpPr>
          <p:cNvPr id="23" name="Shape 20"/>
          <p:cNvSpPr/>
          <p:nvPr/>
        </p:nvSpPr>
        <p:spPr>
          <a:xfrm>
            <a:off x="594360" y="4297680"/>
            <a:ext cx="10881360" cy="621792"/>
          </a:xfrm>
          <a:prstGeom prst="roundRect">
            <a:avLst>
              <a:gd name="adj" fmla="val 11765"/>
            </a:avLst>
          </a:prstGeom>
          <a:solidFill>
            <a:srgbClr val="E4E9F5"/>
          </a:solidFill>
          <a:ln w="12700">
            <a:solidFill>
              <a:srgbClr val="E4E9F5"/>
            </a:solidFill>
            <a:prstDash val="solid"/>
          </a:ln>
        </p:spPr>
      </p:sp>
      <p:sp>
        <p:nvSpPr>
          <p:cNvPr id="24" name="Text 21"/>
          <p:cNvSpPr/>
          <p:nvPr/>
        </p:nvSpPr>
        <p:spPr>
          <a:xfrm>
            <a:off x="914400" y="4297680"/>
            <a:ext cx="2286000" cy="621792"/>
          </a:xfrm>
          <a:prstGeom prst="rect">
            <a:avLst/>
          </a:prstGeom>
          <a:noFill/>
          <a:ln/>
        </p:spPr>
        <p:txBody>
          <a:bodyPr wrap="square" lIns="0" tIns="0" rIns="0" bIns="0" rtlCol="0" anchor="ctr"/>
          <a:lstStyle/>
          <a:p>
            <a:pPr indent="0" marL="0">
              <a:buNone/>
            </a:pPr>
            <a:r>
              <a:rPr lang="en-US" sz="1400" b="1" dirty="0">
                <a:solidFill>
                  <a:srgbClr val="0755E9"/>
                </a:solidFill>
                <a:latin typeface="Calibri" pitchFamily="34" charset="0"/>
                <a:ea typeface="Calibri" pitchFamily="34" charset="-122"/>
                <a:cs typeface="Calibri" pitchFamily="34" charset="-120"/>
              </a:rPr>
              <a:t>Configuration</a:t>
            </a:r>
            <a:endParaRPr lang="en-US" sz="1400" dirty="0"/>
          </a:p>
        </p:txBody>
      </p:sp>
      <p:sp>
        <p:nvSpPr>
          <p:cNvPr id="25" name="Text 22"/>
          <p:cNvSpPr/>
          <p:nvPr/>
        </p:nvSpPr>
        <p:spPr>
          <a:xfrm>
            <a:off x="3337560" y="4297680"/>
            <a:ext cx="7863840" cy="621792"/>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Same artifact, different settings per environment. Never rebuild to change a value.</a:t>
            </a:r>
            <a:endParaRPr lang="en-US" sz="1300" dirty="0"/>
          </a:p>
        </p:txBody>
      </p:sp>
      <p:sp>
        <p:nvSpPr>
          <p:cNvPr id="26" name="Shape 23"/>
          <p:cNvSpPr/>
          <p:nvPr/>
        </p:nvSpPr>
        <p:spPr>
          <a:xfrm>
            <a:off x="594360" y="5010912"/>
            <a:ext cx="10881360" cy="621792"/>
          </a:xfrm>
          <a:prstGeom prst="roundRect">
            <a:avLst>
              <a:gd name="adj" fmla="val 11765"/>
            </a:avLst>
          </a:prstGeom>
          <a:solidFill>
            <a:srgbClr val="E4E9F5"/>
          </a:solidFill>
          <a:ln w="12700">
            <a:solidFill>
              <a:srgbClr val="E4E9F5"/>
            </a:solidFill>
            <a:prstDash val="solid"/>
          </a:ln>
        </p:spPr>
      </p:sp>
      <p:sp>
        <p:nvSpPr>
          <p:cNvPr id="27" name="Text 24"/>
          <p:cNvSpPr/>
          <p:nvPr/>
        </p:nvSpPr>
        <p:spPr>
          <a:xfrm>
            <a:off x="914400" y="5010912"/>
            <a:ext cx="2286000" cy="621792"/>
          </a:xfrm>
          <a:prstGeom prst="rect">
            <a:avLst/>
          </a:prstGeom>
          <a:noFill/>
          <a:ln/>
        </p:spPr>
        <p:txBody>
          <a:bodyPr wrap="square" lIns="0" tIns="0" rIns="0" bIns="0" rtlCol="0" anchor="ctr"/>
          <a:lstStyle/>
          <a:p>
            <a:pPr indent="0" marL="0">
              <a:buNone/>
            </a:pPr>
            <a:r>
              <a:rPr lang="en-US" sz="1400" b="1" dirty="0">
                <a:solidFill>
                  <a:srgbClr val="0755E9"/>
                </a:solidFill>
                <a:latin typeface="Calibri" pitchFamily="34" charset="0"/>
                <a:ea typeface="Calibri" pitchFamily="34" charset="-122"/>
                <a:cs typeface="Calibri" pitchFamily="34" charset="-120"/>
              </a:rPr>
              <a:t>Secrets</a:t>
            </a:r>
            <a:endParaRPr lang="en-US" sz="1400" dirty="0"/>
          </a:p>
        </p:txBody>
      </p:sp>
      <p:sp>
        <p:nvSpPr>
          <p:cNvPr id="28" name="Text 25"/>
          <p:cNvSpPr/>
          <p:nvPr/>
        </p:nvSpPr>
        <p:spPr>
          <a:xfrm>
            <a:off x="3337560" y="5010912"/>
            <a:ext cx="7863840" cy="621792"/>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Passwords and keys are not configuration and never live in Git.</a:t>
            </a:r>
            <a:endParaRPr lang="en-US" sz="1300" dirty="0"/>
          </a:p>
        </p:txBody>
      </p:sp>
      <p:sp>
        <p:nvSpPr>
          <p:cNvPr id="29" name="Shape 26"/>
          <p:cNvSpPr/>
          <p:nvPr/>
        </p:nvSpPr>
        <p:spPr>
          <a:xfrm>
            <a:off x="594360" y="5724144"/>
            <a:ext cx="10881360" cy="621792"/>
          </a:xfrm>
          <a:prstGeom prst="roundRect">
            <a:avLst>
              <a:gd name="adj" fmla="val 11765"/>
            </a:avLst>
          </a:prstGeom>
          <a:solidFill>
            <a:srgbClr val="E4E9F5"/>
          </a:solidFill>
          <a:ln w="12700">
            <a:solidFill>
              <a:srgbClr val="E4E9F5"/>
            </a:solidFill>
            <a:prstDash val="solid"/>
          </a:ln>
        </p:spPr>
      </p:sp>
      <p:sp>
        <p:nvSpPr>
          <p:cNvPr id="30" name="Text 27"/>
          <p:cNvSpPr/>
          <p:nvPr/>
        </p:nvSpPr>
        <p:spPr>
          <a:xfrm>
            <a:off x="914400" y="5724144"/>
            <a:ext cx="2286000" cy="621792"/>
          </a:xfrm>
          <a:prstGeom prst="rect">
            <a:avLst/>
          </a:prstGeom>
          <a:noFill/>
          <a:ln/>
        </p:spPr>
        <p:txBody>
          <a:bodyPr wrap="square" lIns="0" tIns="0" rIns="0" bIns="0" rtlCol="0" anchor="ctr"/>
          <a:lstStyle/>
          <a:p>
            <a:pPr indent="0" marL="0">
              <a:buNone/>
            </a:pPr>
            <a:r>
              <a:rPr lang="en-US" sz="1400" b="1" dirty="0">
                <a:solidFill>
                  <a:srgbClr val="0755E9"/>
                </a:solidFill>
                <a:latin typeface="Calibri" pitchFamily="34" charset="0"/>
                <a:ea typeface="Calibri" pitchFamily="34" charset="-122"/>
                <a:cs typeface="Calibri" pitchFamily="34" charset="-120"/>
              </a:rPr>
              <a:t>Scaling</a:t>
            </a:r>
            <a:endParaRPr lang="en-US" sz="1400" dirty="0"/>
          </a:p>
        </p:txBody>
      </p:sp>
      <p:sp>
        <p:nvSpPr>
          <p:cNvPr id="31" name="Text 28"/>
          <p:cNvSpPr/>
          <p:nvPr/>
        </p:nvSpPr>
        <p:spPr>
          <a:xfrm>
            <a:off x="3337560" y="5724144"/>
            <a:ext cx="7863840" cy="621792"/>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More copies when the iftar spike arrives. Fewer at 3am, so you can afford it.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9"/>
        </a:solidFill>
      </p:bgPr>
    </p:bg>
    <p:spTree>
      <p:nvGrpSpPr>
        <p:cNvPr id="1" name=""/>
        <p:cNvGrpSpPr/>
        <p:nvPr/>
      </p:nvGrpSpPr>
      <p:grpSpPr>
        <a:xfrm>
          <a:off x="0" y="0"/>
          <a:ext cx="0" cy="0"/>
          <a:chOff x="0" y="0"/>
          <a:chExt cx="0" cy="0"/>
        </a:xfrm>
      </p:grpSpPr>
      <p:sp>
        <p:nvSpPr>
          <p:cNvPr id="3" name="Shape 0"/>
          <p:cNvSpPr/>
          <p:nvPr/>
        </p:nvSpPr>
        <p:spPr>
          <a:xfrm>
            <a:off x="594360" y="384048"/>
            <a:ext cx="384048" cy="384048"/>
          </a:xfrm>
          <a:prstGeom prst="ellipse">
            <a:avLst/>
          </a:prstGeom>
          <a:solidFill>
            <a:srgbClr val="0755E9"/>
          </a:solidFill>
          <a:ln/>
        </p:spPr>
      </p:sp>
      <p:sp>
        <p:nvSpPr>
          <p:cNvPr id="4" name="Text 1"/>
          <p:cNvSpPr/>
          <p:nvPr/>
        </p:nvSpPr>
        <p:spPr>
          <a:xfrm>
            <a:off x="59436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5" name="Text 2"/>
          <p:cNvSpPr/>
          <p:nvPr/>
        </p:nvSpPr>
        <p:spPr>
          <a:xfrm>
            <a:off x="1097280" y="384048"/>
            <a:ext cx="7772400" cy="384048"/>
          </a:xfrm>
          <a:prstGeom prst="rect">
            <a:avLst/>
          </a:prstGeom>
          <a:noFill/>
          <a:ln/>
        </p:spPr>
        <p:txBody>
          <a:bodyPr wrap="square" lIns="0" tIns="0" rIns="0" bIns="0" rtlCol="0" anchor="ctr"/>
          <a:lstStyle/>
          <a:p>
            <a:pPr indent="0" marL="0">
              <a:buNone/>
            </a:pPr>
            <a:r>
              <a:rPr lang="en-US" sz="1100" b="1" spc="200" kern="0" dirty="0">
                <a:solidFill>
                  <a:srgbClr val="8A99BF"/>
                </a:solidFill>
                <a:latin typeface="Calibri" pitchFamily="34" charset="0"/>
                <a:ea typeface="Calibri" pitchFamily="34" charset="-122"/>
                <a:cs typeface="Calibri" pitchFamily="34" charset="-120"/>
              </a:rPr>
              <a:t>ACT III</a:t>
            </a:r>
            <a:endParaRPr lang="en-US" sz="1100" dirty="0"/>
          </a:p>
        </p:txBody>
      </p:sp>
      <p:sp>
        <p:nvSpPr>
          <p:cNvPr id="6" name="Text 3"/>
          <p:cNvSpPr/>
          <p:nvPr/>
        </p:nvSpPr>
        <p:spPr>
          <a:xfrm>
            <a:off x="594360" y="960120"/>
            <a:ext cx="10881360" cy="914400"/>
          </a:xfrm>
          <a:prstGeom prst="rect">
            <a:avLst/>
          </a:prstGeom>
          <a:noFill/>
          <a:ln/>
        </p:spPr>
        <p:txBody>
          <a:bodyPr wrap="square" lIns="0" tIns="0" rIns="0" bIns="0" rtlCol="0" anchor="t"/>
          <a:lstStyle/>
          <a:p>
            <a:pPr indent="0" marL="0">
              <a:buNone/>
            </a:pPr>
            <a:r>
              <a:rPr lang="en-US" sz="3600" b="1" dirty="0">
                <a:solidFill>
                  <a:srgbClr val="F4F6FB"/>
                </a:solidFill>
                <a:latin typeface="Calibri" pitchFamily="34" charset="0"/>
                <a:ea typeface="Calibri" pitchFamily="34" charset="-122"/>
                <a:cs typeface="Calibri" pitchFamily="34" charset="-120"/>
              </a:rPr>
              <a:t>Post-production: the half nobody shows you</a:t>
            </a:r>
            <a:endParaRPr lang="en-US" sz="3600" dirty="0"/>
          </a:p>
        </p:txBody>
      </p:sp>
      <p:sp>
        <p:nvSpPr>
          <p:cNvPr id="7" name="Text 4"/>
          <p:cNvSpPr/>
          <p:nvPr/>
        </p:nvSpPr>
        <p:spPr>
          <a:xfrm>
            <a:off x="594360" y="1783080"/>
            <a:ext cx="10881360" cy="411480"/>
          </a:xfrm>
          <a:prstGeom prst="rect">
            <a:avLst/>
          </a:prstGeom>
          <a:noFill/>
          <a:ln/>
        </p:spPr>
        <p:txBody>
          <a:bodyPr wrap="square" lIns="0" tIns="0" rIns="0" bIns="0" rtlCol="0" anchor="ctr"/>
          <a:lstStyle/>
          <a:p>
            <a:pPr indent="0" marL="0">
              <a:buNone/>
            </a:pPr>
            <a:r>
              <a:rPr lang="en-US" sz="1700" dirty="0">
                <a:solidFill>
                  <a:srgbClr val="EE4001"/>
                </a:solidFill>
                <a:latin typeface="Calibri" pitchFamily="34" charset="0"/>
                <a:ea typeface="Calibri" pitchFamily="34" charset="-122"/>
                <a:cs typeface="Calibri" pitchFamily="34" charset="-120"/>
              </a:rPr>
              <a:t>You have all written code. None of you has been woken at 3am by code.</a:t>
            </a:r>
            <a:endParaRPr lang="en-US" sz="1700" dirty="0"/>
          </a:p>
        </p:txBody>
      </p:sp>
      <p:sp>
        <p:nvSpPr>
          <p:cNvPr id="8" name="Shape 5"/>
          <p:cNvSpPr/>
          <p:nvPr/>
        </p:nvSpPr>
        <p:spPr>
          <a:xfrm>
            <a:off x="594360" y="2377440"/>
            <a:ext cx="3383280" cy="1508760"/>
          </a:xfrm>
          <a:prstGeom prst="roundRect">
            <a:avLst>
              <a:gd name="adj" fmla="val 4848"/>
            </a:avLst>
          </a:prstGeom>
          <a:solidFill>
            <a:srgbClr val="17224A"/>
          </a:solidFill>
          <a:ln w="12700">
            <a:solidFill>
              <a:srgbClr val="17224A"/>
            </a:solidFill>
            <a:prstDash val="solid"/>
          </a:ln>
        </p:spPr>
      </p:sp>
      <p:sp>
        <p:nvSpPr>
          <p:cNvPr id="9" name="Text 6"/>
          <p:cNvSpPr/>
          <p:nvPr/>
        </p:nvSpPr>
        <p:spPr>
          <a:xfrm>
            <a:off x="868680" y="2542032"/>
            <a:ext cx="2834640" cy="411480"/>
          </a:xfrm>
          <a:prstGeom prst="rect">
            <a:avLst/>
          </a:prstGeom>
          <a:noFill/>
          <a:ln/>
        </p:spPr>
        <p:txBody>
          <a:bodyPr wrap="square" lIns="0" tIns="0" rIns="0" bIns="0" rtlCol="0" anchor="ctr"/>
          <a:lstStyle/>
          <a:p>
            <a:pPr indent="0" marL="0">
              <a:buNone/>
            </a:pPr>
            <a:r>
              <a:rPr lang="en-US" sz="1800" b="1" dirty="0">
                <a:solidFill>
                  <a:srgbClr val="5B8CF0"/>
                </a:solidFill>
                <a:latin typeface="Calibri" pitchFamily="34" charset="0"/>
                <a:ea typeface="Calibri" pitchFamily="34" charset="-122"/>
                <a:cs typeface="Calibri" pitchFamily="34" charset="-120"/>
              </a:rPr>
              <a:t>Observe</a:t>
            </a:r>
            <a:endParaRPr lang="en-US" sz="1800" dirty="0"/>
          </a:p>
        </p:txBody>
      </p:sp>
      <p:sp>
        <p:nvSpPr>
          <p:cNvPr id="10" name="Text 7"/>
          <p:cNvSpPr/>
          <p:nvPr/>
        </p:nvSpPr>
        <p:spPr>
          <a:xfrm>
            <a:off x="868680" y="2999232"/>
            <a:ext cx="2834640" cy="777240"/>
          </a:xfrm>
          <a:prstGeom prst="rect">
            <a:avLst/>
          </a:prstGeom>
          <a:noFill/>
          <a:ln/>
        </p:spPr>
        <p:txBody>
          <a:bodyPr wrap="square" lIns="0" tIns="0" rIns="0" bIns="0" rtlCol="0" anchor="ctr"/>
          <a:lstStyle/>
          <a:p>
            <a:pPr indent="0" marL="0">
              <a:buNone/>
            </a:pPr>
            <a:r>
              <a:rPr lang="en-US" sz="1200" dirty="0">
                <a:solidFill>
                  <a:srgbClr val="F4F6FB"/>
                </a:solidFill>
                <a:latin typeface="Calibri" pitchFamily="34" charset="0"/>
                <a:ea typeface="Calibri" pitchFamily="34" charset="-122"/>
                <a:cs typeface="Calibri" pitchFamily="34" charset="-120"/>
              </a:rPr>
              <a:t>Logs, metrics, traces, profiles. Four questions, one request.</a:t>
            </a:r>
            <a:endParaRPr lang="en-US" sz="1200" dirty="0"/>
          </a:p>
        </p:txBody>
      </p:sp>
      <p:sp>
        <p:nvSpPr>
          <p:cNvPr id="11" name="Shape 8"/>
          <p:cNvSpPr/>
          <p:nvPr/>
        </p:nvSpPr>
        <p:spPr>
          <a:xfrm>
            <a:off x="4251960" y="2377440"/>
            <a:ext cx="3383280" cy="1508760"/>
          </a:xfrm>
          <a:prstGeom prst="roundRect">
            <a:avLst>
              <a:gd name="adj" fmla="val 4848"/>
            </a:avLst>
          </a:prstGeom>
          <a:solidFill>
            <a:srgbClr val="17224A"/>
          </a:solidFill>
          <a:ln w="12700">
            <a:solidFill>
              <a:srgbClr val="17224A"/>
            </a:solidFill>
            <a:prstDash val="solid"/>
          </a:ln>
        </p:spPr>
      </p:sp>
      <p:sp>
        <p:nvSpPr>
          <p:cNvPr id="12" name="Text 9"/>
          <p:cNvSpPr/>
          <p:nvPr/>
        </p:nvSpPr>
        <p:spPr>
          <a:xfrm>
            <a:off x="4526280" y="2542032"/>
            <a:ext cx="2834640" cy="411480"/>
          </a:xfrm>
          <a:prstGeom prst="rect">
            <a:avLst/>
          </a:prstGeom>
          <a:noFill/>
          <a:ln/>
        </p:spPr>
        <p:txBody>
          <a:bodyPr wrap="square" lIns="0" tIns="0" rIns="0" bIns="0" rtlCol="0" anchor="ctr"/>
          <a:lstStyle/>
          <a:p>
            <a:pPr indent="0" marL="0">
              <a:buNone/>
            </a:pPr>
            <a:r>
              <a:rPr lang="en-US" sz="1800" b="1" dirty="0">
                <a:solidFill>
                  <a:srgbClr val="5B8CF0"/>
                </a:solidFill>
                <a:latin typeface="Calibri" pitchFamily="34" charset="0"/>
                <a:ea typeface="Calibri" pitchFamily="34" charset="-122"/>
                <a:cs typeface="Calibri" pitchFamily="34" charset="-120"/>
              </a:rPr>
              <a:t>Alert</a:t>
            </a:r>
            <a:endParaRPr lang="en-US" sz="1800" dirty="0"/>
          </a:p>
        </p:txBody>
      </p:sp>
      <p:sp>
        <p:nvSpPr>
          <p:cNvPr id="13" name="Text 10"/>
          <p:cNvSpPr/>
          <p:nvPr/>
        </p:nvSpPr>
        <p:spPr>
          <a:xfrm>
            <a:off x="4526280" y="2999232"/>
            <a:ext cx="2834640" cy="777240"/>
          </a:xfrm>
          <a:prstGeom prst="rect">
            <a:avLst/>
          </a:prstGeom>
          <a:noFill/>
          <a:ln/>
        </p:spPr>
        <p:txBody>
          <a:bodyPr wrap="square" lIns="0" tIns="0" rIns="0" bIns="0" rtlCol="0" anchor="ctr"/>
          <a:lstStyle/>
          <a:p>
            <a:pPr indent="0" marL="0">
              <a:buNone/>
            </a:pPr>
            <a:r>
              <a:rPr lang="en-US" sz="1200" dirty="0">
                <a:solidFill>
                  <a:srgbClr val="F4F6FB"/>
                </a:solidFill>
                <a:latin typeface="Calibri" pitchFamily="34" charset="0"/>
                <a:ea typeface="Calibri" pitchFamily="34" charset="-122"/>
                <a:cs typeface="Calibri" pitchFamily="34" charset="-120"/>
              </a:rPr>
              <a:t>Waking a human is expensive. Alert on symptoms, not causes.</a:t>
            </a:r>
            <a:endParaRPr lang="en-US" sz="1200" dirty="0"/>
          </a:p>
        </p:txBody>
      </p:sp>
      <p:sp>
        <p:nvSpPr>
          <p:cNvPr id="14" name="Shape 11"/>
          <p:cNvSpPr/>
          <p:nvPr/>
        </p:nvSpPr>
        <p:spPr>
          <a:xfrm>
            <a:off x="7909560" y="2377440"/>
            <a:ext cx="3383280" cy="1508760"/>
          </a:xfrm>
          <a:prstGeom prst="roundRect">
            <a:avLst>
              <a:gd name="adj" fmla="val 4848"/>
            </a:avLst>
          </a:prstGeom>
          <a:solidFill>
            <a:srgbClr val="17224A"/>
          </a:solidFill>
          <a:ln w="12700">
            <a:solidFill>
              <a:srgbClr val="17224A"/>
            </a:solidFill>
            <a:prstDash val="solid"/>
          </a:ln>
        </p:spPr>
      </p:sp>
      <p:sp>
        <p:nvSpPr>
          <p:cNvPr id="15" name="Text 12"/>
          <p:cNvSpPr/>
          <p:nvPr/>
        </p:nvSpPr>
        <p:spPr>
          <a:xfrm>
            <a:off x="8183880" y="2542032"/>
            <a:ext cx="2834640" cy="411480"/>
          </a:xfrm>
          <a:prstGeom prst="rect">
            <a:avLst/>
          </a:prstGeom>
          <a:noFill/>
          <a:ln/>
        </p:spPr>
        <p:txBody>
          <a:bodyPr wrap="square" lIns="0" tIns="0" rIns="0" bIns="0" rtlCol="0" anchor="ctr"/>
          <a:lstStyle/>
          <a:p>
            <a:pPr indent="0" marL="0">
              <a:buNone/>
            </a:pPr>
            <a:r>
              <a:rPr lang="en-US" sz="1800" b="1" dirty="0">
                <a:solidFill>
                  <a:srgbClr val="5B8CF0"/>
                </a:solidFill>
                <a:latin typeface="Calibri" pitchFamily="34" charset="0"/>
                <a:ea typeface="Calibri" pitchFamily="34" charset="-122"/>
                <a:cs typeface="Calibri" pitchFamily="34" charset="-120"/>
              </a:rPr>
              <a:t>On-call</a:t>
            </a:r>
            <a:endParaRPr lang="en-US" sz="1800" dirty="0"/>
          </a:p>
        </p:txBody>
      </p:sp>
      <p:sp>
        <p:nvSpPr>
          <p:cNvPr id="16" name="Text 13"/>
          <p:cNvSpPr/>
          <p:nvPr/>
        </p:nvSpPr>
        <p:spPr>
          <a:xfrm>
            <a:off x="8183880" y="2999232"/>
            <a:ext cx="2834640" cy="777240"/>
          </a:xfrm>
          <a:prstGeom prst="rect">
            <a:avLst/>
          </a:prstGeom>
          <a:noFill/>
          <a:ln/>
        </p:spPr>
        <p:txBody>
          <a:bodyPr wrap="square" lIns="0" tIns="0" rIns="0" bIns="0" rtlCol="0" anchor="ctr"/>
          <a:lstStyle/>
          <a:p>
            <a:pPr indent="0" marL="0">
              <a:buNone/>
            </a:pPr>
            <a:r>
              <a:rPr lang="en-US" sz="1200" dirty="0">
                <a:solidFill>
                  <a:srgbClr val="F4F6FB"/>
                </a:solidFill>
                <a:latin typeface="Calibri" pitchFamily="34" charset="0"/>
                <a:ea typeface="Calibri" pitchFamily="34" charset="-122"/>
                <a:cs typeface="Calibri" pitchFamily="34" charset="-120"/>
              </a:rPr>
              <a:t>Someone is responsible right now. This week, that is a rota, not a hero.</a:t>
            </a:r>
            <a:endParaRPr lang="en-US" sz="1200" dirty="0"/>
          </a:p>
        </p:txBody>
      </p:sp>
      <p:sp>
        <p:nvSpPr>
          <p:cNvPr id="17" name="Shape 14"/>
          <p:cNvSpPr/>
          <p:nvPr/>
        </p:nvSpPr>
        <p:spPr>
          <a:xfrm>
            <a:off x="594360" y="4069080"/>
            <a:ext cx="3383280" cy="1508760"/>
          </a:xfrm>
          <a:prstGeom prst="roundRect">
            <a:avLst>
              <a:gd name="adj" fmla="val 4848"/>
            </a:avLst>
          </a:prstGeom>
          <a:solidFill>
            <a:srgbClr val="17224A"/>
          </a:solidFill>
          <a:ln w="12700">
            <a:solidFill>
              <a:srgbClr val="17224A"/>
            </a:solidFill>
            <a:prstDash val="solid"/>
          </a:ln>
        </p:spPr>
      </p:sp>
      <p:sp>
        <p:nvSpPr>
          <p:cNvPr id="18" name="Text 15"/>
          <p:cNvSpPr/>
          <p:nvPr/>
        </p:nvSpPr>
        <p:spPr>
          <a:xfrm>
            <a:off x="868680" y="4233672"/>
            <a:ext cx="2834640" cy="411480"/>
          </a:xfrm>
          <a:prstGeom prst="rect">
            <a:avLst/>
          </a:prstGeom>
          <a:noFill/>
          <a:ln/>
        </p:spPr>
        <p:txBody>
          <a:bodyPr wrap="square" lIns="0" tIns="0" rIns="0" bIns="0" rtlCol="0" anchor="ctr"/>
          <a:lstStyle/>
          <a:p>
            <a:pPr indent="0" marL="0">
              <a:buNone/>
            </a:pPr>
            <a:r>
              <a:rPr lang="en-US" sz="1800" b="1" dirty="0">
                <a:solidFill>
                  <a:srgbClr val="5B8CF0"/>
                </a:solidFill>
                <a:latin typeface="Calibri" pitchFamily="34" charset="0"/>
                <a:ea typeface="Calibri" pitchFamily="34" charset="-122"/>
                <a:cs typeface="Calibri" pitchFamily="34" charset="-120"/>
              </a:rPr>
              <a:t>Incident</a:t>
            </a:r>
            <a:endParaRPr lang="en-US" sz="1800" dirty="0"/>
          </a:p>
        </p:txBody>
      </p:sp>
      <p:sp>
        <p:nvSpPr>
          <p:cNvPr id="19" name="Text 16"/>
          <p:cNvSpPr/>
          <p:nvPr/>
        </p:nvSpPr>
        <p:spPr>
          <a:xfrm>
            <a:off x="868680" y="4690872"/>
            <a:ext cx="2834640" cy="777240"/>
          </a:xfrm>
          <a:prstGeom prst="rect">
            <a:avLst/>
          </a:prstGeom>
          <a:noFill/>
          <a:ln/>
        </p:spPr>
        <p:txBody>
          <a:bodyPr wrap="square" lIns="0" tIns="0" rIns="0" bIns="0" rtlCol="0" anchor="ctr"/>
          <a:lstStyle/>
          <a:p>
            <a:pPr indent="0" marL="0">
              <a:buNone/>
            </a:pPr>
            <a:r>
              <a:rPr lang="en-US" sz="1200" dirty="0">
                <a:solidFill>
                  <a:srgbClr val="F4F6FB"/>
                </a:solidFill>
                <a:latin typeface="Calibri" pitchFamily="34" charset="0"/>
                <a:ea typeface="Calibri" pitchFamily="34" charset="-122"/>
                <a:cs typeface="Calibri" pitchFamily="34" charset="-120"/>
              </a:rPr>
              <a:t>Roles, comms, decisions under pressure. Practised, not improvised.</a:t>
            </a:r>
            <a:endParaRPr lang="en-US" sz="1200" dirty="0"/>
          </a:p>
        </p:txBody>
      </p:sp>
      <p:sp>
        <p:nvSpPr>
          <p:cNvPr id="20" name="Shape 17"/>
          <p:cNvSpPr/>
          <p:nvPr/>
        </p:nvSpPr>
        <p:spPr>
          <a:xfrm>
            <a:off x="4251960" y="4069080"/>
            <a:ext cx="3383280" cy="1508760"/>
          </a:xfrm>
          <a:prstGeom prst="roundRect">
            <a:avLst>
              <a:gd name="adj" fmla="val 4848"/>
            </a:avLst>
          </a:prstGeom>
          <a:solidFill>
            <a:srgbClr val="17224A"/>
          </a:solidFill>
          <a:ln w="12700">
            <a:solidFill>
              <a:srgbClr val="17224A"/>
            </a:solidFill>
            <a:prstDash val="solid"/>
          </a:ln>
        </p:spPr>
      </p:sp>
      <p:sp>
        <p:nvSpPr>
          <p:cNvPr id="21" name="Text 18"/>
          <p:cNvSpPr/>
          <p:nvPr/>
        </p:nvSpPr>
        <p:spPr>
          <a:xfrm>
            <a:off x="4526280" y="4233672"/>
            <a:ext cx="2834640" cy="411480"/>
          </a:xfrm>
          <a:prstGeom prst="rect">
            <a:avLst/>
          </a:prstGeom>
          <a:noFill/>
          <a:ln/>
        </p:spPr>
        <p:txBody>
          <a:bodyPr wrap="square" lIns="0" tIns="0" rIns="0" bIns="0" rtlCol="0" anchor="ctr"/>
          <a:lstStyle/>
          <a:p>
            <a:pPr indent="0" marL="0">
              <a:buNone/>
            </a:pPr>
            <a:r>
              <a:rPr lang="en-US" sz="1800" b="1" dirty="0">
                <a:solidFill>
                  <a:srgbClr val="EE4001"/>
                </a:solidFill>
                <a:latin typeface="Calibri" pitchFamily="34" charset="0"/>
                <a:ea typeface="Calibri" pitchFamily="34" charset="-122"/>
                <a:cs typeface="Calibri" pitchFamily="34" charset="-120"/>
              </a:rPr>
              <a:t>Postmortem</a:t>
            </a:r>
            <a:endParaRPr lang="en-US" sz="1800" dirty="0"/>
          </a:p>
        </p:txBody>
      </p:sp>
      <p:sp>
        <p:nvSpPr>
          <p:cNvPr id="22" name="Text 19"/>
          <p:cNvSpPr/>
          <p:nvPr/>
        </p:nvSpPr>
        <p:spPr>
          <a:xfrm>
            <a:off x="4526280" y="4690872"/>
            <a:ext cx="2834640" cy="777240"/>
          </a:xfrm>
          <a:prstGeom prst="rect">
            <a:avLst/>
          </a:prstGeom>
          <a:noFill/>
          <a:ln/>
        </p:spPr>
        <p:txBody>
          <a:bodyPr wrap="square" lIns="0" tIns="0" rIns="0" bIns="0" rtlCol="0" anchor="ctr"/>
          <a:lstStyle/>
          <a:p>
            <a:pPr indent="0" marL="0">
              <a:buNone/>
            </a:pPr>
            <a:r>
              <a:rPr lang="en-US" sz="1200" dirty="0">
                <a:solidFill>
                  <a:srgbClr val="F4F6FB"/>
                </a:solidFill>
                <a:latin typeface="Calibri" pitchFamily="34" charset="0"/>
                <a:ea typeface="Calibri" pitchFamily="34" charset="-122"/>
                <a:cs typeface="Calibri" pitchFamily="34" charset="-120"/>
              </a:rPr>
              <a:t>Blameless. Chase the system, not the person.</a:t>
            </a:r>
            <a:endParaRPr lang="en-US" sz="1200" dirty="0"/>
          </a:p>
        </p:txBody>
      </p:sp>
      <p:sp>
        <p:nvSpPr>
          <p:cNvPr id="23" name="Shape 20"/>
          <p:cNvSpPr/>
          <p:nvPr/>
        </p:nvSpPr>
        <p:spPr>
          <a:xfrm>
            <a:off x="7909560" y="4069080"/>
            <a:ext cx="3383280" cy="1508760"/>
          </a:xfrm>
          <a:prstGeom prst="roundRect">
            <a:avLst>
              <a:gd name="adj" fmla="val 4848"/>
            </a:avLst>
          </a:prstGeom>
          <a:solidFill>
            <a:srgbClr val="17224A"/>
          </a:solidFill>
          <a:ln w="12700">
            <a:solidFill>
              <a:srgbClr val="17224A"/>
            </a:solidFill>
            <a:prstDash val="solid"/>
          </a:ln>
        </p:spPr>
      </p:sp>
      <p:sp>
        <p:nvSpPr>
          <p:cNvPr id="24" name="Text 21"/>
          <p:cNvSpPr/>
          <p:nvPr/>
        </p:nvSpPr>
        <p:spPr>
          <a:xfrm>
            <a:off x="8183880" y="4233672"/>
            <a:ext cx="2834640" cy="411480"/>
          </a:xfrm>
          <a:prstGeom prst="rect">
            <a:avLst/>
          </a:prstGeom>
          <a:noFill/>
          <a:ln/>
        </p:spPr>
        <p:txBody>
          <a:bodyPr wrap="square" lIns="0" tIns="0" rIns="0" bIns="0" rtlCol="0" anchor="ctr"/>
          <a:lstStyle/>
          <a:p>
            <a:pPr indent="0" marL="0">
              <a:buNone/>
            </a:pPr>
            <a:r>
              <a:rPr lang="en-US" sz="1800" b="1" dirty="0">
                <a:solidFill>
                  <a:srgbClr val="5B8CF0"/>
                </a:solidFill>
                <a:latin typeface="Calibri" pitchFamily="34" charset="0"/>
                <a:ea typeface="Calibri" pitchFamily="34" charset="-122"/>
                <a:cs typeface="Calibri" pitchFamily="34" charset="-120"/>
              </a:rPr>
              <a:t>Cost &amp; capacity</a:t>
            </a:r>
            <a:endParaRPr lang="en-US" sz="1800" dirty="0"/>
          </a:p>
        </p:txBody>
      </p:sp>
      <p:sp>
        <p:nvSpPr>
          <p:cNvPr id="25" name="Text 22"/>
          <p:cNvSpPr/>
          <p:nvPr/>
        </p:nvSpPr>
        <p:spPr>
          <a:xfrm>
            <a:off x="8183880" y="4690872"/>
            <a:ext cx="2834640" cy="777240"/>
          </a:xfrm>
          <a:prstGeom prst="rect">
            <a:avLst/>
          </a:prstGeom>
          <a:noFill/>
          <a:ln/>
        </p:spPr>
        <p:txBody>
          <a:bodyPr wrap="square" lIns="0" tIns="0" rIns="0" bIns="0" rtlCol="0" anchor="ctr"/>
          <a:lstStyle/>
          <a:p>
            <a:pPr indent="0" marL="0">
              <a:buNone/>
            </a:pPr>
            <a:r>
              <a:rPr lang="en-US" sz="1200" dirty="0">
                <a:solidFill>
                  <a:srgbClr val="F4F6FB"/>
                </a:solidFill>
                <a:latin typeface="Calibri" pitchFamily="34" charset="0"/>
                <a:ea typeface="Calibri" pitchFamily="34" charset="-122"/>
                <a:cs typeface="Calibri" pitchFamily="34" charset="-120"/>
              </a:rPr>
              <a:t>Reliability you cannot afford is not reliability.</a:t>
            </a:r>
            <a:endParaRPr lang="en-US" sz="1200" dirty="0"/>
          </a:p>
        </p:txBody>
      </p:sp>
      <p:sp>
        <p:nvSpPr>
          <p:cNvPr id="26" name="Text 23"/>
          <p:cNvSpPr/>
          <p:nvPr/>
        </p:nvSpPr>
        <p:spPr>
          <a:xfrm>
            <a:off x="594360" y="5943600"/>
            <a:ext cx="10881360" cy="365760"/>
          </a:xfrm>
          <a:prstGeom prst="rect">
            <a:avLst/>
          </a:prstGeom>
          <a:noFill/>
          <a:ln/>
        </p:spPr>
        <p:txBody>
          <a:bodyPr wrap="square" lIns="0" tIns="0" rIns="0" bIns="0" rtlCol="0" anchor="ctr"/>
          <a:lstStyle/>
          <a:p>
            <a:pPr indent="0" marL="0">
              <a:buNone/>
            </a:pPr>
            <a:r>
              <a:rPr lang="en-US" sz="1400" i="1" dirty="0">
                <a:solidFill>
                  <a:srgbClr val="8A99BF"/>
                </a:solidFill>
                <a:latin typeface="Calibri" pitchFamily="34" charset="0"/>
                <a:ea typeface="Calibri" pitchFamily="34" charset="-122"/>
                <a:cs typeface="Calibri" pitchFamily="34" charset="-120"/>
              </a:rPr>
              <a:t>Thursday afternoon and Friday. Also the rest of your career.</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B"/>
        </a:solidFill>
      </p:bgPr>
    </p:bg>
    <p:spTree>
      <p:nvGrpSpPr>
        <p:cNvPr id="1" name=""/>
        <p:cNvGrpSpPr/>
        <p:nvPr/>
      </p:nvGrpSpPr>
      <p:grpSpPr>
        <a:xfrm>
          <a:off x="0" y="0"/>
          <a:ext cx="0" cy="0"/>
          <a:chOff x="0" y="0"/>
          <a:chExt cx="0" cy="0"/>
        </a:xfrm>
      </p:grpSpPr>
      <p:sp>
        <p:nvSpPr>
          <p:cNvPr id="3" name="Shape 0"/>
          <p:cNvSpPr/>
          <p:nvPr/>
        </p:nvSpPr>
        <p:spPr>
          <a:xfrm>
            <a:off x="594360" y="384048"/>
            <a:ext cx="384048" cy="384048"/>
          </a:xfrm>
          <a:prstGeom prst="ellipse">
            <a:avLst/>
          </a:prstGeom>
          <a:solidFill>
            <a:srgbClr val="0755E9"/>
          </a:solidFill>
          <a:ln/>
        </p:spPr>
      </p:sp>
      <p:sp>
        <p:nvSpPr>
          <p:cNvPr id="4" name="Text 1"/>
          <p:cNvSpPr/>
          <p:nvPr/>
        </p:nvSpPr>
        <p:spPr>
          <a:xfrm>
            <a:off x="59436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5" name="Text 2"/>
          <p:cNvSpPr/>
          <p:nvPr/>
        </p:nvSpPr>
        <p:spPr>
          <a:xfrm>
            <a:off x="1097280" y="384048"/>
            <a:ext cx="7772400" cy="384048"/>
          </a:xfrm>
          <a:prstGeom prst="rect">
            <a:avLst/>
          </a:prstGeom>
          <a:noFill/>
          <a:ln/>
        </p:spPr>
        <p:txBody>
          <a:bodyPr wrap="square" lIns="0" tIns="0" rIns="0" bIns="0" rtlCol="0" anchor="ctr"/>
          <a:lstStyle/>
          <a:p>
            <a:pPr indent="0" marL="0">
              <a:buNone/>
            </a:pPr>
            <a:r>
              <a:rPr lang="en-US" sz="1100" b="1" spc="200" kern="0" dirty="0">
                <a:solidFill>
                  <a:srgbClr val="5A6890"/>
                </a:solidFill>
                <a:latin typeface="Calibri" pitchFamily="34" charset="0"/>
                <a:ea typeface="Calibri" pitchFamily="34" charset="-122"/>
                <a:cs typeface="Calibri" pitchFamily="34" charset="-120"/>
              </a:rPr>
              <a:t>HOW MUCH FAILURE IS ALLOWED</a:t>
            </a:r>
            <a:endParaRPr lang="en-US" sz="1100" dirty="0"/>
          </a:p>
        </p:txBody>
      </p:sp>
      <p:sp>
        <p:nvSpPr>
          <p:cNvPr id="6" name="Text 3"/>
          <p:cNvSpPr/>
          <p:nvPr/>
        </p:nvSpPr>
        <p:spPr>
          <a:xfrm>
            <a:off x="594360" y="960120"/>
            <a:ext cx="10881360" cy="914400"/>
          </a:xfrm>
          <a:prstGeom prst="rect">
            <a:avLst/>
          </a:prstGeom>
          <a:noFill/>
          <a:ln/>
        </p:spPr>
        <p:txBody>
          <a:bodyPr wrap="square" lIns="0" tIns="0" rIns="0" bIns="0" rtlCol="0" anchor="t"/>
          <a:lstStyle/>
          <a:p>
            <a:pPr indent="0" marL="0">
              <a:buNone/>
            </a:pPr>
            <a:r>
              <a:rPr lang="en-US" sz="3600" b="1" dirty="0">
                <a:solidFill>
                  <a:srgbClr val="0A1229"/>
                </a:solidFill>
                <a:latin typeface="Calibri" pitchFamily="34" charset="0"/>
                <a:ea typeface="Calibri" pitchFamily="34" charset="-122"/>
                <a:cs typeface="Calibri" pitchFamily="34" charset="-120"/>
              </a:rPr>
              <a:t>Reliability is a budget, not a virtue</a:t>
            </a:r>
            <a:endParaRPr lang="en-US" sz="3600" dirty="0"/>
          </a:p>
        </p:txBody>
      </p:sp>
      <p:sp>
        <p:nvSpPr>
          <p:cNvPr id="7" name="Shape 4"/>
          <p:cNvSpPr/>
          <p:nvPr/>
        </p:nvSpPr>
        <p:spPr>
          <a:xfrm>
            <a:off x="594360" y="1965960"/>
            <a:ext cx="3383280" cy="1737360"/>
          </a:xfrm>
          <a:prstGeom prst="roundRect">
            <a:avLst>
              <a:gd name="adj" fmla="val 4211"/>
            </a:avLst>
          </a:prstGeom>
          <a:solidFill>
            <a:srgbClr val="E4E9F5"/>
          </a:solidFill>
          <a:ln w="12700">
            <a:solidFill>
              <a:srgbClr val="E4E9F5"/>
            </a:solidFill>
            <a:prstDash val="solid"/>
          </a:ln>
        </p:spPr>
      </p:sp>
      <p:sp>
        <p:nvSpPr>
          <p:cNvPr id="8" name="Text 5"/>
          <p:cNvSpPr/>
          <p:nvPr/>
        </p:nvSpPr>
        <p:spPr>
          <a:xfrm>
            <a:off x="868680" y="2103120"/>
            <a:ext cx="2834640" cy="548640"/>
          </a:xfrm>
          <a:prstGeom prst="rect">
            <a:avLst/>
          </a:prstGeom>
          <a:noFill/>
          <a:ln/>
        </p:spPr>
        <p:txBody>
          <a:bodyPr wrap="square" lIns="0" tIns="0" rIns="0" bIns="0" rtlCol="0" anchor="ctr"/>
          <a:lstStyle/>
          <a:p>
            <a:pPr indent="0" marL="0">
              <a:buNone/>
            </a:pPr>
            <a:r>
              <a:rPr lang="en-US" sz="3000" b="1" dirty="0">
                <a:solidFill>
                  <a:srgbClr val="0755E9"/>
                </a:solidFill>
                <a:latin typeface="Calibri" pitchFamily="34" charset="0"/>
                <a:ea typeface="Calibri" pitchFamily="34" charset="-122"/>
                <a:cs typeface="Calibri" pitchFamily="34" charset="-120"/>
              </a:rPr>
              <a:t>99%</a:t>
            </a:r>
            <a:endParaRPr lang="en-US" sz="3000" dirty="0"/>
          </a:p>
        </p:txBody>
      </p:sp>
      <p:sp>
        <p:nvSpPr>
          <p:cNvPr id="9" name="Text 6"/>
          <p:cNvSpPr/>
          <p:nvPr/>
        </p:nvSpPr>
        <p:spPr>
          <a:xfrm>
            <a:off x="868680" y="2697480"/>
            <a:ext cx="2834640" cy="411480"/>
          </a:xfrm>
          <a:prstGeom prst="rect">
            <a:avLst/>
          </a:prstGeom>
          <a:noFill/>
          <a:ln/>
        </p:spPr>
        <p:txBody>
          <a:bodyPr wrap="square" lIns="0" tIns="0" rIns="0" bIns="0" rtlCol="0" anchor="ctr"/>
          <a:lstStyle/>
          <a:p>
            <a:pPr indent="0" marL="0">
              <a:buNone/>
            </a:pPr>
            <a:r>
              <a:rPr lang="en-US" sz="1800" b="1" dirty="0">
                <a:solidFill>
                  <a:srgbClr val="0A1229"/>
                </a:solidFill>
                <a:latin typeface="Calibri" pitchFamily="34" charset="0"/>
                <a:ea typeface="Calibri" pitchFamily="34" charset="-122"/>
                <a:cs typeface="Calibri" pitchFamily="34" charset="-120"/>
              </a:rPr>
              <a:t>7 hours 18 min</a:t>
            </a:r>
            <a:endParaRPr lang="en-US" sz="1800" dirty="0"/>
          </a:p>
        </p:txBody>
      </p:sp>
      <p:sp>
        <p:nvSpPr>
          <p:cNvPr id="10" name="Text 7"/>
          <p:cNvSpPr/>
          <p:nvPr/>
        </p:nvSpPr>
        <p:spPr>
          <a:xfrm>
            <a:off x="868680" y="3108960"/>
            <a:ext cx="2834640" cy="320040"/>
          </a:xfrm>
          <a:prstGeom prst="rect">
            <a:avLst/>
          </a:prstGeom>
          <a:noFill/>
          <a:ln/>
        </p:spPr>
        <p:txBody>
          <a:bodyPr wrap="square" lIns="0" tIns="0" rIns="0" bIns="0" rtlCol="0" anchor="ctr"/>
          <a:lstStyle/>
          <a:p>
            <a:pPr indent="0" marL="0">
              <a:buNone/>
            </a:pPr>
            <a:r>
              <a:rPr lang="en-US" sz="1200" dirty="0">
                <a:solidFill>
                  <a:srgbClr val="5A6890"/>
                </a:solidFill>
                <a:latin typeface="Calibri" pitchFamily="34" charset="0"/>
                <a:ea typeface="Calibri" pitchFamily="34" charset="-122"/>
                <a:cs typeface="Calibri" pitchFamily="34" charset="-120"/>
              </a:rPr>
              <a:t>per month</a:t>
            </a:r>
            <a:endParaRPr lang="en-US" sz="1200" dirty="0"/>
          </a:p>
        </p:txBody>
      </p:sp>
      <p:sp>
        <p:nvSpPr>
          <p:cNvPr id="11" name="Shape 8"/>
          <p:cNvSpPr/>
          <p:nvPr/>
        </p:nvSpPr>
        <p:spPr>
          <a:xfrm>
            <a:off x="4251960" y="1965960"/>
            <a:ext cx="3383280" cy="1737360"/>
          </a:xfrm>
          <a:prstGeom prst="roundRect">
            <a:avLst>
              <a:gd name="adj" fmla="val 4211"/>
            </a:avLst>
          </a:prstGeom>
          <a:solidFill>
            <a:srgbClr val="E4E9F5"/>
          </a:solidFill>
          <a:ln w="12700">
            <a:solidFill>
              <a:srgbClr val="E4E9F5"/>
            </a:solidFill>
            <a:prstDash val="solid"/>
          </a:ln>
        </p:spPr>
      </p:sp>
      <p:sp>
        <p:nvSpPr>
          <p:cNvPr id="12" name="Text 9"/>
          <p:cNvSpPr/>
          <p:nvPr/>
        </p:nvSpPr>
        <p:spPr>
          <a:xfrm>
            <a:off x="4526280" y="2103120"/>
            <a:ext cx="2834640" cy="548640"/>
          </a:xfrm>
          <a:prstGeom prst="rect">
            <a:avLst/>
          </a:prstGeom>
          <a:noFill/>
          <a:ln/>
        </p:spPr>
        <p:txBody>
          <a:bodyPr wrap="square" lIns="0" tIns="0" rIns="0" bIns="0" rtlCol="0" anchor="ctr"/>
          <a:lstStyle/>
          <a:p>
            <a:pPr indent="0" marL="0">
              <a:buNone/>
            </a:pPr>
            <a:r>
              <a:rPr lang="en-US" sz="3000" b="1" dirty="0">
                <a:solidFill>
                  <a:srgbClr val="EE4001"/>
                </a:solidFill>
                <a:latin typeface="Calibri" pitchFamily="34" charset="0"/>
                <a:ea typeface="Calibri" pitchFamily="34" charset="-122"/>
                <a:cs typeface="Calibri" pitchFamily="34" charset="-120"/>
              </a:rPr>
              <a:t>99.9%</a:t>
            </a:r>
            <a:endParaRPr lang="en-US" sz="3000" dirty="0"/>
          </a:p>
        </p:txBody>
      </p:sp>
      <p:sp>
        <p:nvSpPr>
          <p:cNvPr id="13" name="Text 10"/>
          <p:cNvSpPr/>
          <p:nvPr/>
        </p:nvSpPr>
        <p:spPr>
          <a:xfrm>
            <a:off x="4526280" y="2697480"/>
            <a:ext cx="2834640" cy="411480"/>
          </a:xfrm>
          <a:prstGeom prst="rect">
            <a:avLst/>
          </a:prstGeom>
          <a:noFill/>
          <a:ln/>
        </p:spPr>
        <p:txBody>
          <a:bodyPr wrap="square" lIns="0" tIns="0" rIns="0" bIns="0" rtlCol="0" anchor="ctr"/>
          <a:lstStyle/>
          <a:p>
            <a:pPr indent="0" marL="0">
              <a:buNone/>
            </a:pPr>
            <a:r>
              <a:rPr lang="en-US" sz="1800" b="1" dirty="0">
                <a:solidFill>
                  <a:srgbClr val="0A1229"/>
                </a:solidFill>
                <a:latin typeface="Calibri" pitchFamily="34" charset="0"/>
                <a:ea typeface="Calibri" pitchFamily="34" charset="-122"/>
                <a:cs typeface="Calibri" pitchFamily="34" charset="-120"/>
              </a:rPr>
              <a:t>43 minutes</a:t>
            </a:r>
            <a:endParaRPr lang="en-US" sz="1800" dirty="0"/>
          </a:p>
        </p:txBody>
      </p:sp>
      <p:sp>
        <p:nvSpPr>
          <p:cNvPr id="14" name="Text 11"/>
          <p:cNvSpPr/>
          <p:nvPr/>
        </p:nvSpPr>
        <p:spPr>
          <a:xfrm>
            <a:off x="4526280" y="3108960"/>
            <a:ext cx="2834640" cy="320040"/>
          </a:xfrm>
          <a:prstGeom prst="rect">
            <a:avLst/>
          </a:prstGeom>
          <a:noFill/>
          <a:ln/>
        </p:spPr>
        <p:txBody>
          <a:bodyPr wrap="square" lIns="0" tIns="0" rIns="0" bIns="0" rtlCol="0" anchor="ctr"/>
          <a:lstStyle/>
          <a:p>
            <a:pPr indent="0" marL="0">
              <a:buNone/>
            </a:pPr>
            <a:r>
              <a:rPr lang="en-US" sz="1200" dirty="0">
                <a:solidFill>
                  <a:srgbClr val="5A6890"/>
                </a:solidFill>
                <a:latin typeface="Calibri" pitchFamily="34" charset="0"/>
                <a:ea typeface="Calibri" pitchFamily="34" charset="-122"/>
                <a:cs typeface="Calibri" pitchFamily="34" charset="-120"/>
              </a:rPr>
              <a:t>per month</a:t>
            </a:r>
            <a:endParaRPr lang="en-US" sz="1200" dirty="0"/>
          </a:p>
        </p:txBody>
      </p:sp>
      <p:sp>
        <p:nvSpPr>
          <p:cNvPr id="15" name="Shape 12"/>
          <p:cNvSpPr/>
          <p:nvPr/>
        </p:nvSpPr>
        <p:spPr>
          <a:xfrm>
            <a:off x="7909560" y="1965960"/>
            <a:ext cx="3383280" cy="1737360"/>
          </a:xfrm>
          <a:prstGeom prst="roundRect">
            <a:avLst>
              <a:gd name="adj" fmla="val 4211"/>
            </a:avLst>
          </a:prstGeom>
          <a:solidFill>
            <a:srgbClr val="E4E9F5"/>
          </a:solidFill>
          <a:ln w="12700">
            <a:solidFill>
              <a:srgbClr val="E4E9F5"/>
            </a:solidFill>
            <a:prstDash val="solid"/>
          </a:ln>
        </p:spPr>
      </p:sp>
      <p:sp>
        <p:nvSpPr>
          <p:cNvPr id="16" name="Text 13"/>
          <p:cNvSpPr/>
          <p:nvPr/>
        </p:nvSpPr>
        <p:spPr>
          <a:xfrm>
            <a:off x="8183880" y="2103120"/>
            <a:ext cx="2834640" cy="548640"/>
          </a:xfrm>
          <a:prstGeom prst="rect">
            <a:avLst/>
          </a:prstGeom>
          <a:noFill/>
          <a:ln/>
        </p:spPr>
        <p:txBody>
          <a:bodyPr wrap="square" lIns="0" tIns="0" rIns="0" bIns="0" rtlCol="0" anchor="ctr"/>
          <a:lstStyle/>
          <a:p>
            <a:pPr indent="0" marL="0">
              <a:buNone/>
            </a:pPr>
            <a:r>
              <a:rPr lang="en-US" sz="3000" b="1" dirty="0">
                <a:solidFill>
                  <a:srgbClr val="0755E9"/>
                </a:solidFill>
                <a:latin typeface="Calibri" pitchFamily="34" charset="0"/>
                <a:ea typeface="Calibri" pitchFamily="34" charset="-122"/>
                <a:cs typeface="Calibri" pitchFamily="34" charset="-120"/>
              </a:rPr>
              <a:t>99.99%</a:t>
            </a:r>
            <a:endParaRPr lang="en-US" sz="3000" dirty="0"/>
          </a:p>
        </p:txBody>
      </p:sp>
      <p:sp>
        <p:nvSpPr>
          <p:cNvPr id="17" name="Text 14"/>
          <p:cNvSpPr/>
          <p:nvPr/>
        </p:nvSpPr>
        <p:spPr>
          <a:xfrm>
            <a:off x="8183880" y="2697480"/>
            <a:ext cx="2834640" cy="411480"/>
          </a:xfrm>
          <a:prstGeom prst="rect">
            <a:avLst/>
          </a:prstGeom>
          <a:noFill/>
          <a:ln/>
        </p:spPr>
        <p:txBody>
          <a:bodyPr wrap="square" lIns="0" tIns="0" rIns="0" bIns="0" rtlCol="0" anchor="ctr"/>
          <a:lstStyle/>
          <a:p>
            <a:pPr indent="0" marL="0">
              <a:buNone/>
            </a:pPr>
            <a:r>
              <a:rPr lang="en-US" sz="1800" b="1" dirty="0">
                <a:solidFill>
                  <a:srgbClr val="0A1229"/>
                </a:solidFill>
                <a:latin typeface="Calibri" pitchFamily="34" charset="0"/>
                <a:ea typeface="Calibri" pitchFamily="34" charset="-122"/>
                <a:cs typeface="Calibri" pitchFamily="34" charset="-120"/>
              </a:rPr>
              <a:t>4 minutes 20 sec</a:t>
            </a:r>
            <a:endParaRPr lang="en-US" sz="1800" dirty="0"/>
          </a:p>
        </p:txBody>
      </p:sp>
      <p:sp>
        <p:nvSpPr>
          <p:cNvPr id="18" name="Text 15"/>
          <p:cNvSpPr/>
          <p:nvPr/>
        </p:nvSpPr>
        <p:spPr>
          <a:xfrm>
            <a:off x="8183880" y="3108960"/>
            <a:ext cx="2834640" cy="320040"/>
          </a:xfrm>
          <a:prstGeom prst="rect">
            <a:avLst/>
          </a:prstGeom>
          <a:noFill/>
          <a:ln/>
        </p:spPr>
        <p:txBody>
          <a:bodyPr wrap="square" lIns="0" tIns="0" rIns="0" bIns="0" rtlCol="0" anchor="ctr"/>
          <a:lstStyle/>
          <a:p>
            <a:pPr indent="0" marL="0">
              <a:buNone/>
            </a:pPr>
            <a:r>
              <a:rPr lang="en-US" sz="1200" dirty="0">
                <a:solidFill>
                  <a:srgbClr val="5A6890"/>
                </a:solidFill>
                <a:latin typeface="Calibri" pitchFamily="34" charset="0"/>
                <a:ea typeface="Calibri" pitchFamily="34" charset="-122"/>
                <a:cs typeface="Calibri" pitchFamily="34" charset="-120"/>
              </a:rPr>
              <a:t>per month</a:t>
            </a:r>
            <a:endParaRPr lang="en-US" sz="1200" dirty="0"/>
          </a:p>
        </p:txBody>
      </p:sp>
      <p:sp>
        <p:nvSpPr>
          <p:cNvPr id="19" name="Shape 16"/>
          <p:cNvSpPr/>
          <p:nvPr/>
        </p:nvSpPr>
        <p:spPr>
          <a:xfrm>
            <a:off x="594360" y="3977640"/>
            <a:ext cx="10881360" cy="1371600"/>
          </a:xfrm>
          <a:prstGeom prst="roundRect">
            <a:avLst>
              <a:gd name="adj" fmla="val 5333"/>
            </a:avLst>
          </a:prstGeom>
          <a:solidFill>
            <a:srgbClr val="E4E9F5"/>
          </a:solidFill>
          <a:ln w="12700">
            <a:solidFill>
              <a:srgbClr val="E4E9F5"/>
            </a:solidFill>
            <a:prstDash val="solid"/>
          </a:ln>
        </p:spPr>
      </p:sp>
      <p:sp>
        <p:nvSpPr>
          <p:cNvPr id="20" name="Text 17"/>
          <p:cNvSpPr/>
          <p:nvPr/>
        </p:nvSpPr>
        <p:spPr>
          <a:xfrm>
            <a:off x="960120" y="3977640"/>
            <a:ext cx="10149840" cy="1371600"/>
          </a:xfrm>
          <a:prstGeom prst="rect">
            <a:avLst/>
          </a:prstGeom>
          <a:noFill/>
          <a:ln/>
        </p:spPr>
        <p:txBody>
          <a:bodyPr wrap="square" lIns="0" tIns="0" rIns="0" bIns="0" rtlCol="0" anchor="ctr"/>
          <a:lstStyle/>
          <a:p>
            <a:pPr indent="0" marL="0">
              <a:buNone/>
            </a:pPr>
            <a:r>
              <a:rPr lang="en-US" sz="1700" b="1" dirty="0">
                <a:solidFill>
                  <a:srgbClr val="0A1229"/>
                </a:solidFill>
                <a:latin typeface="Calibri" pitchFamily="34" charset="0"/>
                <a:ea typeface="Calibri" pitchFamily="34" charset="-122"/>
                <a:cs typeface="Calibri" pitchFamily="34" charset="-120"/>
              </a:rPr>
              <a:t>Daig targets 99.9%. That is 43 minutes a month.</a:t>
            </a:r>
            <a:endParaRPr lang="en-US" sz="1700" dirty="0"/>
          </a:p>
          <a:p>
            <a:pPr indent="0" marL="0">
              <a:buNone/>
            </a:pPr>
            <a:r>
              <a:rPr lang="en-US" sz="1700" b="1" dirty="0">
                <a:solidFill>
                  <a:srgbClr val="0A1229"/>
                </a:solidFill>
                <a:latin typeface="Calibri" pitchFamily="34" charset="0"/>
                <a:ea typeface="Calibri" pitchFamily="34" charset="-122"/>
                <a:cs typeface="Calibri" pitchFamily="34" charset="-120"/>
              </a:rPr>
              <a:t>Tonight's incident: 14 minutes. One bad Thursday just spent a third of the month.</a:t>
            </a:r>
            <a:endParaRPr lang="en-US" sz="1700" dirty="0"/>
          </a:p>
        </p:txBody>
      </p:sp>
      <p:sp>
        <p:nvSpPr>
          <p:cNvPr id="21" name="Text 18"/>
          <p:cNvSpPr/>
          <p:nvPr/>
        </p:nvSpPr>
        <p:spPr>
          <a:xfrm>
            <a:off x="594360" y="5577840"/>
            <a:ext cx="10881360" cy="640080"/>
          </a:xfrm>
          <a:prstGeom prst="rect">
            <a:avLst/>
          </a:prstGeom>
          <a:noFill/>
          <a:ln/>
        </p:spPr>
        <p:txBody>
          <a:bodyPr wrap="square" lIns="0" tIns="0" rIns="0" bIns="0" rtlCol="0" anchor="ctr"/>
          <a:lstStyle/>
          <a:p>
            <a:pPr indent="0" marL="0">
              <a:buNone/>
            </a:pPr>
            <a:r>
              <a:rPr lang="en-US" sz="1500" dirty="0">
                <a:solidFill>
                  <a:srgbClr val="5A6890"/>
                </a:solidFill>
                <a:latin typeface="Calibri" pitchFamily="34" charset="0"/>
                <a:ea typeface="Calibri" pitchFamily="34" charset="-122"/>
                <a:cs typeface="Calibri" pitchFamily="34" charset="-120"/>
              </a:rPr>
              <a:t>Spend it all and you stop shipping features until the window resets. That is not a punishment - it is the system telling you to fix things before you add things.</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9"/>
        </a:solidFill>
      </p:bgPr>
    </p:bg>
    <p:spTree>
      <p:nvGrpSpPr>
        <p:cNvPr id="1" name=""/>
        <p:cNvGrpSpPr/>
        <p:nvPr/>
      </p:nvGrpSpPr>
      <p:grpSpPr>
        <a:xfrm>
          <a:off x="0" y="0"/>
          <a:ext cx="0" cy="0"/>
          <a:chOff x="0" y="0"/>
          <a:chExt cx="0" cy="0"/>
        </a:xfrm>
      </p:grpSpPr>
      <p:sp>
        <p:nvSpPr>
          <p:cNvPr id="3" name="Shape 0"/>
          <p:cNvSpPr/>
          <p:nvPr/>
        </p:nvSpPr>
        <p:spPr>
          <a:xfrm>
            <a:off x="9509760" y="4206240"/>
            <a:ext cx="3108960" cy="3108960"/>
          </a:xfrm>
          <a:prstGeom prst="ellipse">
            <a:avLst/>
          </a:prstGeom>
          <a:solidFill>
            <a:srgbClr val="0755E9"/>
          </a:solidFill>
          <a:ln/>
        </p:spPr>
      </p:sp>
      <p:sp>
        <p:nvSpPr>
          <p:cNvPr id="4" name="Text 1"/>
          <p:cNvSpPr/>
          <p:nvPr/>
        </p:nvSpPr>
        <p:spPr>
          <a:xfrm>
            <a:off x="594360" y="2377440"/>
            <a:ext cx="8229600" cy="1280160"/>
          </a:xfrm>
          <a:prstGeom prst="rect">
            <a:avLst/>
          </a:prstGeom>
          <a:noFill/>
          <a:ln/>
        </p:spPr>
        <p:txBody>
          <a:bodyPr wrap="square" lIns="0" tIns="0" rIns="0" bIns="0" rtlCol="0" anchor="ctr"/>
          <a:lstStyle/>
          <a:p>
            <a:pPr indent="0" marL="0">
              <a:buNone/>
            </a:pPr>
            <a:r>
              <a:rPr lang="en-US" sz="6800" b="1" dirty="0">
                <a:solidFill>
                  <a:srgbClr val="F4F6FB"/>
                </a:solidFill>
                <a:latin typeface="Calibri" pitchFamily="34" charset="0"/>
                <a:ea typeface="Calibri" pitchFamily="34" charset="-122"/>
                <a:cs typeface="Calibri" pitchFamily="34" charset="-120"/>
              </a:rPr>
              <a:t>Break</a:t>
            </a:r>
            <a:endParaRPr lang="en-US" sz="6800" dirty="0"/>
          </a:p>
        </p:txBody>
      </p:sp>
      <p:sp>
        <p:nvSpPr>
          <p:cNvPr id="5" name="Text 2"/>
          <p:cNvSpPr/>
          <p:nvPr/>
        </p:nvSpPr>
        <p:spPr>
          <a:xfrm>
            <a:off x="594360" y="3703320"/>
            <a:ext cx="8229600" cy="822960"/>
          </a:xfrm>
          <a:prstGeom prst="rect">
            <a:avLst/>
          </a:prstGeom>
          <a:noFill/>
          <a:ln/>
        </p:spPr>
        <p:txBody>
          <a:bodyPr wrap="square" lIns="0" tIns="0" rIns="0" bIns="0" rtlCol="0" anchor="ctr"/>
          <a:lstStyle/>
          <a:p>
            <a:pPr indent="0" marL="0">
              <a:buNone/>
            </a:pPr>
            <a:r>
              <a:rPr lang="en-US" sz="1900" dirty="0">
                <a:solidFill>
                  <a:srgbClr val="8A99BF"/>
                </a:solidFill>
                <a:latin typeface="Calibri" pitchFamily="34" charset="0"/>
                <a:ea typeface="Calibri" pitchFamily="34" charset="-122"/>
                <a:cs typeface="Calibri" pitchFamily="34" charset="-120"/>
              </a:rPr>
              <a:t>Eight minutes. We start again on the clock -</a:t>
            </a:r>
            <a:endParaRPr lang="en-US" sz="1900" dirty="0"/>
          </a:p>
          <a:p>
            <a:pPr indent="0" marL="0">
              <a:buNone/>
            </a:pPr>
            <a:r>
              <a:rPr lang="en-US" sz="1900" dirty="0">
                <a:solidFill>
                  <a:srgbClr val="8A99BF"/>
                </a:solidFill>
                <a:latin typeface="Calibri" pitchFamily="34" charset="0"/>
                <a:ea typeface="Calibri" pitchFamily="34" charset="-122"/>
                <a:cs typeface="Calibri" pitchFamily="34" charset="-120"/>
              </a:rPr>
              <a:t>which is a habit worth having this week.</a:t>
            </a:r>
            <a:endParaRPr lang="en-US" sz="1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9"/>
        </a:solidFill>
      </p:bgPr>
    </p:bg>
    <p:spTree>
      <p:nvGrpSpPr>
        <p:cNvPr id="1" name=""/>
        <p:cNvGrpSpPr/>
        <p:nvPr/>
      </p:nvGrpSpPr>
      <p:grpSpPr>
        <a:xfrm>
          <a:off x="0" y="0"/>
          <a:ext cx="0" cy="0"/>
          <a:chOff x="0" y="0"/>
          <a:chExt cx="0" cy="0"/>
        </a:xfrm>
      </p:grpSpPr>
      <p:sp>
        <p:nvSpPr>
          <p:cNvPr id="3" name="Shape 0"/>
          <p:cNvSpPr/>
          <p:nvPr/>
        </p:nvSpPr>
        <p:spPr>
          <a:xfrm>
            <a:off x="594360" y="384048"/>
            <a:ext cx="384048" cy="384048"/>
          </a:xfrm>
          <a:prstGeom prst="ellipse">
            <a:avLst/>
          </a:prstGeom>
          <a:solidFill>
            <a:srgbClr val="0755E9"/>
          </a:solidFill>
          <a:ln/>
        </p:spPr>
      </p:sp>
      <p:sp>
        <p:nvSpPr>
          <p:cNvPr id="4" name="Text 1"/>
          <p:cNvSpPr/>
          <p:nvPr/>
        </p:nvSpPr>
        <p:spPr>
          <a:xfrm>
            <a:off x="59436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5" name="Text 2"/>
          <p:cNvSpPr/>
          <p:nvPr/>
        </p:nvSpPr>
        <p:spPr>
          <a:xfrm>
            <a:off x="1097280" y="384048"/>
            <a:ext cx="7772400" cy="384048"/>
          </a:xfrm>
          <a:prstGeom prst="rect">
            <a:avLst/>
          </a:prstGeom>
          <a:noFill/>
          <a:ln/>
        </p:spPr>
        <p:txBody>
          <a:bodyPr wrap="square" lIns="0" tIns="0" rIns="0" bIns="0" rtlCol="0" anchor="ctr"/>
          <a:lstStyle/>
          <a:p>
            <a:pPr indent="0" marL="0">
              <a:buNone/>
            </a:pPr>
            <a:r>
              <a:rPr lang="en-US" sz="1100" b="1" spc="200" kern="0" dirty="0">
                <a:solidFill>
                  <a:srgbClr val="8A99BF"/>
                </a:solidFill>
                <a:latin typeface="Calibri" pitchFamily="34" charset="0"/>
                <a:ea typeface="Calibri" pitchFamily="34" charset="-122"/>
                <a:cs typeface="Calibri" pitchFamily="34" charset="-120"/>
              </a:rPr>
              <a:t>FOUR DISCIPLINES, ONE INCIDENT</a:t>
            </a:r>
            <a:endParaRPr lang="en-US" sz="1100" dirty="0"/>
          </a:p>
        </p:txBody>
      </p:sp>
      <p:sp>
        <p:nvSpPr>
          <p:cNvPr id="6" name="Text 3"/>
          <p:cNvSpPr/>
          <p:nvPr/>
        </p:nvSpPr>
        <p:spPr>
          <a:xfrm>
            <a:off x="594360" y="1691640"/>
            <a:ext cx="10881360" cy="1508760"/>
          </a:xfrm>
          <a:prstGeom prst="rect">
            <a:avLst/>
          </a:prstGeom>
          <a:noFill/>
          <a:ln/>
        </p:spPr>
        <p:txBody>
          <a:bodyPr wrap="square" lIns="0" tIns="0" rIns="0" bIns="0" rtlCol="0" anchor="ctr"/>
          <a:lstStyle/>
          <a:p>
            <a:pPr indent="0" marL="0">
              <a:buNone/>
            </a:pPr>
            <a:r>
              <a:rPr lang="en-US" sz="8400" b="1" dirty="0">
                <a:solidFill>
                  <a:srgbClr val="EE4001"/>
                </a:solidFill>
                <a:latin typeface="Calibri" pitchFamily="34" charset="0"/>
                <a:ea typeface="Calibri" pitchFamily="34" charset="-122"/>
                <a:cs typeface="Calibri" pitchFamily="34" charset="-120"/>
              </a:rPr>
              <a:t>18:42</a:t>
            </a:r>
            <a:endParaRPr lang="en-US" sz="8400" dirty="0"/>
          </a:p>
        </p:txBody>
      </p:sp>
      <p:sp>
        <p:nvSpPr>
          <p:cNvPr id="7" name="Text 4"/>
          <p:cNvSpPr/>
          <p:nvPr/>
        </p:nvSpPr>
        <p:spPr>
          <a:xfrm>
            <a:off x="594360" y="3017520"/>
            <a:ext cx="10881360" cy="548640"/>
          </a:xfrm>
          <a:prstGeom prst="rect">
            <a:avLst/>
          </a:prstGeom>
          <a:noFill/>
          <a:ln/>
        </p:spPr>
        <p:txBody>
          <a:bodyPr wrap="square" lIns="0" tIns="0" rIns="0" bIns="0" rtlCol="0" anchor="ctr"/>
          <a:lstStyle/>
          <a:p>
            <a:pPr indent="0" marL="0">
              <a:buNone/>
            </a:pPr>
            <a:r>
              <a:rPr lang="en-US" sz="2800" b="1" dirty="0">
                <a:solidFill>
                  <a:srgbClr val="F4F6FB"/>
                </a:solidFill>
                <a:latin typeface="Calibri" pitchFamily="34" charset="0"/>
                <a:ea typeface="Calibri" pitchFamily="34" charset="-122"/>
                <a:cs typeface="Calibri" pitchFamily="34" charset="-120"/>
              </a:rPr>
              <a:t>Iftar in eighteen minutes.</a:t>
            </a:r>
            <a:endParaRPr lang="en-US" sz="2800" dirty="0"/>
          </a:p>
        </p:txBody>
      </p:sp>
      <p:sp>
        <p:nvSpPr>
          <p:cNvPr id="8" name="Text 5"/>
          <p:cNvSpPr/>
          <p:nvPr/>
        </p:nvSpPr>
        <p:spPr>
          <a:xfrm>
            <a:off x="594360" y="3657600"/>
            <a:ext cx="10881360" cy="914400"/>
          </a:xfrm>
          <a:prstGeom prst="rect">
            <a:avLst/>
          </a:prstGeom>
          <a:noFill/>
          <a:ln/>
        </p:spPr>
        <p:txBody>
          <a:bodyPr wrap="square" lIns="0" tIns="0" rIns="0" bIns="0" rtlCol="0" anchor="ctr"/>
          <a:lstStyle/>
          <a:p>
            <a:pPr indent="0" marL="0">
              <a:buNone/>
            </a:pPr>
            <a:r>
              <a:rPr lang="en-US" sz="2200" dirty="0">
                <a:solidFill>
                  <a:srgbClr val="8A99BF"/>
                </a:solidFill>
                <a:latin typeface="Calibri" pitchFamily="34" charset="0"/>
                <a:ea typeface="Calibri" pitchFamily="34" charset="-122"/>
                <a:cs typeface="Calibri" pitchFamily="34" charset="-120"/>
              </a:rPr>
              <a:t>Daig's order service starts returning 503s.</a:t>
            </a:r>
            <a:endParaRPr lang="en-US" sz="2200" dirty="0"/>
          </a:p>
          <a:p>
            <a:pPr indent="0" marL="0">
              <a:buNone/>
            </a:pPr>
            <a:r>
              <a:rPr lang="en-US" sz="2200" dirty="0">
                <a:solidFill>
                  <a:srgbClr val="8A99BF"/>
                </a:solidFill>
                <a:latin typeface="Calibri" pitchFamily="34" charset="0"/>
                <a:ea typeface="Calibri" pitchFamily="34" charset="-122"/>
                <a:cs typeface="Calibri" pitchFamily="34" charset="-120"/>
              </a:rPr>
              <a:t>The pager goes off.</a:t>
            </a:r>
            <a:endParaRPr lang="en-US" sz="2200" dirty="0"/>
          </a:p>
        </p:txBody>
      </p:sp>
      <p:sp>
        <p:nvSpPr>
          <p:cNvPr id="9" name="Shape 6"/>
          <p:cNvSpPr/>
          <p:nvPr/>
        </p:nvSpPr>
        <p:spPr>
          <a:xfrm>
            <a:off x="594360" y="5029200"/>
            <a:ext cx="10881360" cy="1051560"/>
          </a:xfrm>
          <a:prstGeom prst="roundRect">
            <a:avLst>
              <a:gd name="adj" fmla="val 6957"/>
            </a:avLst>
          </a:prstGeom>
          <a:solidFill>
            <a:srgbClr val="17224A"/>
          </a:solidFill>
          <a:ln w="12700">
            <a:solidFill>
              <a:srgbClr val="17224A"/>
            </a:solidFill>
            <a:prstDash val="solid"/>
          </a:ln>
        </p:spPr>
      </p:sp>
      <p:sp>
        <p:nvSpPr>
          <p:cNvPr id="10" name="Text 7"/>
          <p:cNvSpPr/>
          <p:nvPr/>
        </p:nvSpPr>
        <p:spPr>
          <a:xfrm>
            <a:off x="960120" y="5029200"/>
            <a:ext cx="10149840" cy="1051560"/>
          </a:xfrm>
          <a:prstGeom prst="rect">
            <a:avLst/>
          </a:prstGeom>
          <a:noFill/>
          <a:ln/>
        </p:spPr>
        <p:txBody>
          <a:bodyPr wrap="square" lIns="0" tIns="0" rIns="0" bIns="0" rtlCol="0" anchor="ctr"/>
          <a:lstStyle/>
          <a:p>
            <a:pPr indent="0" marL="0">
              <a:buNone/>
            </a:pPr>
            <a:r>
              <a:rPr lang="en-US" sz="1900" b="1" dirty="0">
                <a:solidFill>
                  <a:srgbClr val="5B8CF0"/>
                </a:solidFill>
                <a:latin typeface="Calibri" pitchFamily="34" charset="0"/>
                <a:ea typeface="Calibri" pitchFamily="34" charset="-122"/>
                <a:cs typeface="Calibri" pitchFamily="34" charset="-120"/>
              </a:rPr>
              <a:t>Four people pick it up. They ask four completely different questions.</a:t>
            </a:r>
            <a:endParaRPr lang="en-US" sz="1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B"/>
        </a:solidFill>
      </p:bgPr>
    </p:bg>
    <p:spTree>
      <p:nvGrpSpPr>
        <p:cNvPr id="1" name=""/>
        <p:cNvGrpSpPr/>
        <p:nvPr/>
      </p:nvGrpSpPr>
      <p:grpSpPr>
        <a:xfrm>
          <a:off x="0" y="0"/>
          <a:ext cx="0" cy="0"/>
          <a:chOff x="0" y="0"/>
          <a:chExt cx="0" cy="0"/>
        </a:xfrm>
      </p:grpSpPr>
      <p:sp>
        <p:nvSpPr>
          <p:cNvPr id="3" name="Shape 0"/>
          <p:cNvSpPr/>
          <p:nvPr/>
        </p:nvSpPr>
        <p:spPr>
          <a:xfrm>
            <a:off x="594360" y="384048"/>
            <a:ext cx="384048" cy="384048"/>
          </a:xfrm>
          <a:prstGeom prst="ellipse">
            <a:avLst/>
          </a:prstGeom>
          <a:solidFill>
            <a:srgbClr val="0755E9"/>
          </a:solidFill>
          <a:ln/>
        </p:spPr>
      </p:sp>
      <p:sp>
        <p:nvSpPr>
          <p:cNvPr id="4" name="Text 1"/>
          <p:cNvSpPr/>
          <p:nvPr/>
        </p:nvSpPr>
        <p:spPr>
          <a:xfrm>
            <a:off x="59436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5" name="Text 2"/>
          <p:cNvSpPr/>
          <p:nvPr/>
        </p:nvSpPr>
        <p:spPr>
          <a:xfrm>
            <a:off x="1097280" y="384048"/>
            <a:ext cx="7772400" cy="384048"/>
          </a:xfrm>
          <a:prstGeom prst="rect">
            <a:avLst/>
          </a:prstGeom>
          <a:noFill/>
          <a:ln/>
        </p:spPr>
        <p:txBody>
          <a:bodyPr wrap="square" lIns="0" tIns="0" rIns="0" bIns="0" rtlCol="0" anchor="ctr"/>
          <a:lstStyle/>
          <a:p>
            <a:pPr indent="0" marL="0">
              <a:buNone/>
            </a:pPr>
            <a:r>
              <a:rPr lang="en-US" sz="1100" b="1" spc="200" kern="0" dirty="0">
                <a:solidFill>
                  <a:srgbClr val="5A6890"/>
                </a:solidFill>
                <a:latin typeface="Calibri" pitchFamily="34" charset="0"/>
                <a:ea typeface="Calibri" pitchFamily="34" charset="-122"/>
                <a:cs typeface="Calibri" pitchFamily="34" charset="-120"/>
              </a:rPr>
              <a:t>FOUR DISCIPLINES, ONE INCIDENT</a:t>
            </a:r>
            <a:endParaRPr lang="en-US" sz="1100" dirty="0"/>
          </a:p>
        </p:txBody>
      </p:sp>
      <p:sp>
        <p:nvSpPr>
          <p:cNvPr id="6" name="Text 3"/>
          <p:cNvSpPr/>
          <p:nvPr/>
        </p:nvSpPr>
        <p:spPr>
          <a:xfrm>
            <a:off x="594360" y="960120"/>
            <a:ext cx="10881360" cy="914400"/>
          </a:xfrm>
          <a:prstGeom prst="rect">
            <a:avLst/>
          </a:prstGeom>
          <a:noFill/>
          <a:ln/>
        </p:spPr>
        <p:txBody>
          <a:bodyPr wrap="square" lIns="0" tIns="0" rIns="0" bIns="0" rtlCol="0" anchor="t"/>
          <a:lstStyle/>
          <a:p>
            <a:pPr indent="0" marL="0">
              <a:buNone/>
            </a:pPr>
            <a:r>
              <a:rPr lang="en-US" sz="3400" b="1" dirty="0">
                <a:solidFill>
                  <a:srgbClr val="0A1229"/>
                </a:solidFill>
                <a:latin typeface="Calibri" pitchFamily="34" charset="0"/>
                <a:ea typeface="Calibri" pitchFamily="34" charset="-122"/>
                <a:cs typeface="Calibri" pitchFamily="34" charset="-120"/>
              </a:rPr>
              <a:t>Same incident. Four questions.</a:t>
            </a:r>
            <a:endParaRPr lang="en-US" sz="3400" dirty="0"/>
          </a:p>
        </p:txBody>
      </p:sp>
      <p:sp>
        <p:nvSpPr>
          <p:cNvPr id="7" name="Shape 4"/>
          <p:cNvSpPr/>
          <p:nvPr/>
        </p:nvSpPr>
        <p:spPr>
          <a:xfrm>
            <a:off x="594360" y="1965960"/>
            <a:ext cx="10881360" cy="1005840"/>
          </a:xfrm>
          <a:prstGeom prst="roundRect">
            <a:avLst>
              <a:gd name="adj" fmla="val 7273"/>
            </a:avLst>
          </a:prstGeom>
          <a:solidFill>
            <a:srgbClr val="E4E9F5"/>
          </a:solidFill>
          <a:ln w="12700">
            <a:solidFill>
              <a:srgbClr val="E4E9F5"/>
            </a:solidFill>
            <a:prstDash val="solid"/>
          </a:ln>
        </p:spPr>
      </p:sp>
      <p:sp>
        <p:nvSpPr>
          <p:cNvPr id="8" name="Shape 5"/>
          <p:cNvSpPr/>
          <p:nvPr/>
        </p:nvSpPr>
        <p:spPr>
          <a:xfrm>
            <a:off x="868680" y="2313432"/>
            <a:ext cx="310896" cy="310896"/>
          </a:xfrm>
          <a:prstGeom prst="ellipse">
            <a:avLst/>
          </a:prstGeom>
          <a:solidFill>
            <a:srgbClr val="0755E9"/>
          </a:solidFill>
          <a:ln/>
        </p:spPr>
      </p:sp>
      <p:sp>
        <p:nvSpPr>
          <p:cNvPr id="9" name="Text 6"/>
          <p:cNvSpPr/>
          <p:nvPr/>
        </p:nvSpPr>
        <p:spPr>
          <a:xfrm>
            <a:off x="1344168" y="2057400"/>
            <a:ext cx="2377440" cy="457200"/>
          </a:xfrm>
          <a:prstGeom prst="rect">
            <a:avLst/>
          </a:prstGeom>
          <a:noFill/>
          <a:ln/>
        </p:spPr>
        <p:txBody>
          <a:bodyPr wrap="square" lIns="0" tIns="0" rIns="0" bIns="0" rtlCol="0" anchor="ctr"/>
          <a:lstStyle/>
          <a:p>
            <a:pPr indent="0" marL="0">
              <a:buNone/>
            </a:pPr>
            <a:r>
              <a:rPr lang="en-US" sz="1500" b="1" dirty="0">
                <a:solidFill>
                  <a:srgbClr val="0A1229"/>
                </a:solidFill>
                <a:latin typeface="Calibri" pitchFamily="34" charset="0"/>
                <a:ea typeface="Calibri" pitchFamily="34" charset="-122"/>
                <a:cs typeface="Calibri" pitchFamily="34" charset="-120"/>
              </a:rPr>
              <a:t>DevOps engineer</a:t>
            </a:r>
            <a:endParaRPr lang="en-US" sz="1500" dirty="0"/>
          </a:p>
        </p:txBody>
      </p:sp>
      <p:sp>
        <p:nvSpPr>
          <p:cNvPr id="10" name="Text 7"/>
          <p:cNvSpPr/>
          <p:nvPr/>
        </p:nvSpPr>
        <p:spPr>
          <a:xfrm>
            <a:off x="1344168" y="2468880"/>
            <a:ext cx="3200400" cy="411480"/>
          </a:xfrm>
          <a:prstGeom prst="rect">
            <a:avLst/>
          </a:prstGeom>
          <a:noFill/>
          <a:ln/>
        </p:spPr>
        <p:txBody>
          <a:bodyPr wrap="square" lIns="0" tIns="0" rIns="0" bIns="0" rtlCol="0" anchor="t"/>
          <a:lstStyle/>
          <a:p>
            <a:pPr indent="0" marL="0">
              <a:buNone/>
            </a:pPr>
            <a:r>
              <a:rPr lang="en-US" sz="1200" i="1" dirty="0">
                <a:solidFill>
                  <a:srgbClr val="0755E9"/>
                </a:solidFill>
                <a:latin typeface="Calibri" pitchFamily="34" charset="0"/>
                <a:ea typeface="Calibri" pitchFamily="34" charset="-122"/>
                <a:cs typeface="Calibri" pitchFamily="34" charset="-120"/>
              </a:rPr>
              <a:t>How do we get this working again, now?</a:t>
            </a:r>
            <a:endParaRPr lang="en-US" sz="1200" dirty="0"/>
          </a:p>
        </p:txBody>
      </p:sp>
      <p:sp>
        <p:nvSpPr>
          <p:cNvPr id="11" name="Text 8"/>
          <p:cNvSpPr/>
          <p:nvPr/>
        </p:nvSpPr>
        <p:spPr>
          <a:xfrm>
            <a:off x="4800600" y="1965960"/>
            <a:ext cx="6400800" cy="1005840"/>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Rolls back the 17:30 deploy. Confirms recovery. Then asks how it got through the pipeline.</a:t>
            </a:r>
            <a:endParaRPr lang="en-US" sz="1300" dirty="0"/>
          </a:p>
        </p:txBody>
      </p:sp>
      <p:sp>
        <p:nvSpPr>
          <p:cNvPr id="12" name="Shape 9"/>
          <p:cNvSpPr/>
          <p:nvPr/>
        </p:nvSpPr>
        <p:spPr>
          <a:xfrm>
            <a:off x="594360" y="3081528"/>
            <a:ext cx="10881360" cy="1005840"/>
          </a:xfrm>
          <a:prstGeom prst="roundRect">
            <a:avLst>
              <a:gd name="adj" fmla="val 7273"/>
            </a:avLst>
          </a:prstGeom>
          <a:solidFill>
            <a:srgbClr val="E4E9F5"/>
          </a:solidFill>
          <a:ln w="12700">
            <a:solidFill>
              <a:srgbClr val="E4E9F5"/>
            </a:solidFill>
            <a:prstDash val="solid"/>
          </a:ln>
        </p:spPr>
      </p:sp>
      <p:sp>
        <p:nvSpPr>
          <p:cNvPr id="13" name="Shape 10"/>
          <p:cNvSpPr/>
          <p:nvPr/>
        </p:nvSpPr>
        <p:spPr>
          <a:xfrm>
            <a:off x="868680" y="3429000"/>
            <a:ext cx="310896" cy="310896"/>
          </a:xfrm>
          <a:prstGeom prst="ellipse">
            <a:avLst/>
          </a:prstGeom>
          <a:solidFill>
            <a:srgbClr val="EE4001"/>
          </a:solidFill>
          <a:ln/>
        </p:spPr>
      </p:sp>
      <p:sp>
        <p:nvSpPr>
          <p:cNvPr id="14" name="Text 11"/>
          <p:cNvSpPr/>
          <p:nvPr/>
        </p:nvSpPr>
        <p:spPr>
          <a:xfrm>
            <a:off x="1344168" y="3172968"/>
            <a:ext cx="2377440" cy="457200"/>
          </a:xfrm>
          <a:prstGeom prst="rect">
            <a:avLst/>
          </a:prstGeom>
          <a:noFill/>
          <a:ln/>
        </p:spPr>
        <p:txBody>
          <a:bodyPr wrap="square" lIns="0" tIns="0" rIns="0" bIns="0" rtlCol="0" anchor="ctr"/>
          <a:lstStyle/>
          <a:p>
            <a:pPr indent="0" marL="0">
              <a:buNone/>
            </a:pPr>
            <a:r>
              <a:rPr lang="en-US" sz="1500" b="1" dirty="0">
                <a:solidFill>
                  <a:srgbClr val="0A1229"/>
                </a:solidFill>
                <a:latin typeface="Calibri" pitchFamily="34" charset="0"/>
                <a:ea typeface="Calibri" pitchFamily="34" charset="-122"/>
                <a:cs typeface="Calibri" pitchFamily="34" charset="-120"/>
              </a:rPr>
              <a:t>SRE</a:t>
            </a:r>
            <a:endParaRPr lang="en-US" sz="1500" dirty="0"/>
          </a:p>
        </p:txBody>
      </p:sp>
      <p:sp>
        <p:nvSpPr>
          <p:cNvPr id="15" name="Text 12"/>
          <p:cNvSpPr/>
          <p:nvPr/>
        </p:nvSpPr>
        <p:spPr>
          <a:xfrm>
            <a:off x="1344168" y="3584448"/>
            <a:ext cx="3200400" cy="411480"/>
          </a:xfrm>
          <a:prstGeom prst="rect">
            <a:avLst/>
          </a:prstGeom>
          <a:noFill/>
          <a:ln/>
        </p:spPr>
        <p:txBody>
          <a:bodyPr wrap="square" lIns="0" tIns="0" rIns="0" bIns="0" rtlCol="0" anchor="t"/>
          <a:lstStyle/>
          <a:p>
            <a:pPr indent="0" marL="0">
              <a:buNone/>
            </a:pPr>
            <a:r>
              <a:rPr lang="en-US" sz="1200" i="1" dirty="0">
                <a:solidFill>
                  <a:srgbClr val="EE4001"/>
                </a:solidFill>
                <a:latin typeface="Calibri" pitchFamily="34" charset="0"/>
                <a:ea typeface="Calibri" pitchFamily="34" charset="-122"/>
                <a:cs typeface="Calibri" pitchFamily="34" charset="-120"/>
              </a:rPr>
              <a:t>How much failure can we afford before we stop shipping?</a:t>
            </a:r>
            <a:endParaRPr lang="en-US" sz="1200" dirty="0"/>
          </a:p>
        </p:txBody>
      </p:sp>
      <p:sp>
        <p:nvSpPr>
          <p:cNvPr id="16" name="Text 13"/>
          <p:cNvSpPr/>
          <p:nvPr/>
        </p:nvSpPr>
        <p:spPr>
          <a:xfrm>
            <a:off x="4800600" y="3081528"/>
            <a:ext cx="6400800" cy="1005840"/>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Checks the error budget: 60% spent, 11 days left in the window. Calls a change freeze.</a:t>
            </a:r>
            <a:endParaRPr lang="en-US" sz="1300" dirty="0"/>
          </a:p>
        </p:txBody>
      </p:sp>
      <p:sp>
        <p:nvSpPr>
          <p:cNvPr id="17" name="Shape 14"/>
          <p:cNvSpPr/>
          <p:nvPr/>
        </p:nvSpPr>
        <p:spPr>
          <a:xfrm>
            <a:off x="594360" y="4197096"/>
            <a:ext cx="10881360" cy="1005840"/>
          </a:xfrm>
          <a:prstGeom prst="roundRect">
            <a:avLst>
              <a:gd name="adj" fmla="val 7273"/>
            </a:avLst>
          </a:prstGeom>
          <a:solidFill>
            <a:srgbClr val="E4E9F5"/>
          </a:solidFill>
          <a:ln w="12700">
            <a:solidFill>
              <a:srgbClr val="E4E9F5"/>
            </a:solidFill>
            <a:prstDash val="solid"/>
          </a:ln>
        </p:spPr>
      </p:sp>
      <p:sp>
        <p:nvSpPr>
          <p:cNvPr id="18" name="Shape 15"/>
          <p:cNvSpPr/>
          <p:nvPr/>
        </p:nvSpPr>
        <p:spPr>
          <a:xfrm>
            <a:off x="868680" y="4544568"/>
            <a:ext cx="310896" cy="310896"/>
          </a:xfrm>
          <a:prstGeom prst="ellipse">
            <a:avLst/>
          </a:prstGeom>
          <a:solidFill>
            <a:srgbClr val="6A3FD4"/>
          </a:solidFill>
          <a:ln/>
        </p:spPr>
      </p:sp>
      <p:sp>
        <p:nvSpPr>
          <p:cNvPr id="19" name="Text 16"/>
          <p:cNvSpPr/>
          <p:nvPr/>
        </p:nvSpPr>
        <p:spPr>
          <a:xfrm>
            <a:off x="1344168" y="4288536"/>
            <a:ext cx="2377440" cy="457200"/>
          </a:xfrm>
          <a:prstGeom prst="rect">
            <a:avLst/>
          </a:prstGeom>
          <a:noFill/>
          <a:ln/>
        </p:spPr>
        <p:txBody>
          <a:bodyPr wrap="square" lIns="0" tIns="0" rIns="0" bIns="0" rtlCol="0" anchor="ctr"/>
          <a:lstStyle/>
          <a:p>
            <a:pPr indent="0" marL="0">
              <a:buNone/>
            </a:pPr>
            <a:r>
              <a:rPr lang="en-US" sz="1500" b="1" dirty="0">
                <a:solidFill>
                  <a:srgbClr val="0A1229"/>
                </a:solidFill>
                <a:latin typeface="Calibri" pitchFamily="34" charset="0"/>
                <a:ea typeface="Calibri" pitchFamily="34" charset="-122"/>
                <a:cs typeface="Calibri" pitchFamily="34" charset="-120"/>
              </a:rPr>
              <a:t>Platform engineer</a:t>
            </a:r>
            <a:endParaRPr lang="en-US" sz="1500" dirty="0"/>
          </a:p>
        </p:txBody>
      </p:sp>
      <p:sp>
        <p:nvSpPr>
          <p:cNvPr id="20" name="Text 17"/>
          <p:cNvSpPr/>
          <p:nvPr/>
        </p:nvSpPr>
        <p:spPr>
          <a:xfrm>
            <a:off x="1344168" y="4700016"/>
            <a:ext cx="3200400" cy="411480"/>
          </a:xfrm>
          <a:prstGeom prst="rect">
            <a:avLst/>
          </a:prstGeom>
          <a:noFill/>
          <a:ln/>
        </p:spPr>
        <p:txBody>
          <a:bodyPr wrap="square" lIns="0" tIns="0" rIns="0" bIns="0" rtlCol="0" anchor="t"/>
          <a:lstStyle/>
          <a:p>
            <a:pPr indent="0" marL="0">
              <a:buNone/>
            </a:pPr>
            <a:r>
              <a:rPr lang="en-US" sz="1200" i="1" dirty="0">
                <a:solidFill>
                  <a:srgbClr val="6A3FD4"/>
                </a:solidFill>
                <a:latin typeface="Calibri" pitchFamily="34" charset="0"/>
                <a:ea typeface="Calibri" pitchFamily="34" charset="-122"/>
                <a:cs typeface="Calibri" pitchFamily="34" charset="-120"/>
              </a:rPr>
              <a:t>Why was it even possible to deploy at 17:30 on a Thursday?</a:t>
            </a:r>
            <a:endParaRPr lang="en-US" sz="1200" dirty="0"/>
          </a:p>
        </p:txBody>
      </p:sp>
      <p:sp>
        <p:nvSpPr>
          <p:cNvPr id="21" name="Text 18"/>
          <p:cNvSpPr/>
          <p:nvPr/>
        </p:nvSpPr>
        <p:spPr>
          <a:xfrm>
            <a:off x="4800600" y="4197096"/>
            <a:ext cx="6400800" cy="1005840"/>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Ships a deployment-window guardrail into the golden path. Now no team can do this again.</a:t>
            </a:r>
            <a:endParaRPr lang="en-US" sz="1300" dirty="0"/>
          </a:p>
        </p:txBody>
      </p:sp>
      <p:sp>
        <p:nvSpPr>
          <p:cNvPr id="22" name="Shape 19"/>
          <p:cNvSpPr/>
          <p:nvPr/>
        </p:nvSpPr>
        <p:spPr>
          <a:xfrm>
            <a:off x="594360" y="5312664"/>
            <a:ext cx="10881360" cy="1005840"/>
          </a:xfrm>
          <a:prstGeom prst="roundRect">
            <a:avLst>
              <a:gd name="adj" fmla="val 7273"/>
            </a:avLst>
          </a:prstGeom>
          <a:solidFill>
            <a:srgbClr val="E4E9F5"/>
          </a:solidFill>
          <a:ln w="12700">
            <a:solidFill>
              <a:srgbClr val="E4E9F5"/>
            </a:solidFill>
            <a:prstDash val="solid"/>
          </a:ln>
        </p:spPr>
      </p:sp>
      <p:sp>
        <p:nvSpPr>
          <p:cNvPr id="23" name="Shape 20"/>
          <p:cNvSpPr/>
          <p:nvPr/>
        </p:nvSpPr>
        <p:spPr>
          <a:xfrm>
            <a:off x="868680" y="5660136"/>
            <a:ext cx="310896" cy="310896"/>
          </a:xfrm>
          <a:prstGeom prst="ellipse">
            <a:avLst/>
          </a:prstGeom>
          <a:solidFill>
            <a:srgbClr val="1B9C63"/>
          </a:solidFill>
          <a:ln/>
        </p:spPr>
      </p:sp>
      <p:sp>
        <p:nvSpPr>
          <p:cNvPr id="24" name="Text 21"/>
          <p:cNvSpPr/>
          <p:nvPr/>
        </p:nvSpPr>
        <p:spPr>
          <a:xfrm>
            <a:off x="1344168" y="5404104"/>
            <a:ext cx="2377440" cy="457200"/>
          </a:xfrm>
          <a:prstGeom prst="rect">
            <a:avLst/>
          </a:prstGeom>
          <a:noFill/>
          <a:ln/>
        </p:spPr>
        <p:txBody>
          <a:bodyPr wrap="square" lIns="0" tIns="0" rIns="0" bIns="0" rtlCol="0" anchor="ctr"/>
          <a:lstStyle/>
          <a:p>
            <a:pPr indent="0" marL="0">
              <a:buNone/>
            </a:pPr>
            <a:r>
              <a:rPr lang="en-US" sz="1500" b="1" dirty="0">
                <a:solidFill>
                  <a:srgbClr val="0A1229"/>
                </a:solidFill>
                <a:latin typeface="Calibri" pitchFamily="34" charset="0"/>
                <a:ea typeface="Calibri" pitchFamily="34" charset="-122"/>
                <a:cs typeface="Calibri" pitchFamily="34" charset="-120"/>
              </a:rPr>
              <a:t>Cloud / FinOps</a:t>
            </a:r>
            <a:endParaRPr lang="en-US" sz="1500" dirty="0"/>
          </a:p>
        </p:txBody>
      </p:sp>
      <p:sp>
        <p:nvSpPr>
          <p:cNvPr id="25" name="Text 22"/>
          <p:cNvSpPr/>
          <p:nvPr/>
        </p:nvSpPr>
        <p:spPr>
          <a:xfrm>
            <a:off x="1344168" y="5815584"/>
            <a:ext cx="3200400" cy="411480"/>
          </a:xfrm>
          <a:prstGeom prst="rect">
            <a:avLst/>
          </a:prstGeom>
          <a:noFill/>
          <a:ln/>
        </p:spPr>
        <p:txBody>
          <a:bodyPr wrap="square" lIns="0" tIns="0" rIns="0" bIns="0" rtlCol="0" anchor="t"/>
          <a:lstStyle/>
          <a:p>
            <a:pPr indent="0" marL="0">
              <a:buNone/>
            </a:pPr>
            <a:r>
              <a:rPr lang="en-US" sz="1200" i="1" dirty="0">
                <a:solidFill>
                  <a:srgbClr val="1B9C63"/>
                </a:solidFill>
                <a:latin typeface="Calibri" pitchFamily="34" charset="0"/>
                <a:ea typeface="Calibri" pitchFamily="34" charset="-122"/>
                <a:cs typeface="Calibri" pitchFamily="34" charset="-120"/>
              </a:rPr>
              <a:t>We survived by tripling the instances. What did that cost?</a:t>
            </a:r>
            <a:endParaRPr lang="en-US" sz="1200" dirty="0"/>
          </a:p>
        </p:txBody>
      </p:sp>
      <p:sp>
        <p:nvSpPr>
          <p:cNvPr id="26" name="Text 23"/>
          <p:cNvSpPr/>
          <p:nvPr/>
        </p:nvSpPr>
        <p:spPr>
          <a:xfrm>
            <a:off x="4800600" y="5312664"/>
            <a:ext cx="6400800" cy="1005840"/>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Prices the spike. Models pre-provisioning against the monthly budget.</a:t>
            </a:r>
            <a:endParaRPr lang="en-US" sz="1300" dirty="0"/>
          </a:p>
        </p:txBody>
      </p:sp>
      <p:sp>
        <p:nvSpPr>
          <p:cNvPr id="27" name="Text 24"/>
          <p:cNvSpPr/>
          <p:nvPr/>
        </p:nvSpPr>
        <p:spPr>
          <a:xfrm>
            <a:off x="594360" y="6446520"/>
            <a:ext cx="10881360" cy="320040"/>
          </a:xfrm>
          <a:prstGeom prst="rect">
            <a:avLst/>
          </a:prstGeom>
          <a:noFill/>
          <a:ln/>
        </p:spPr>
        <p:txBody>
          <a:bodyPr wrap="square" lIns="0" tIns="0" rIns="0" bIns="0" rtlCol="0" anchor="ctr"/>
          <a:lstStyle/>
          <a:p>
            <a:pPr indent="0" marL="0">
              <a:buNone/>
            </a:pPr>
            <a:r>
              <a:rPr lang="en-US" sz="1400" b="1" dirty="0">
                <a:solidFill>
                  <a:srgbClr val="0755E9"/>
                </a:solidFill>
                <a:latin typeface="Calibri" pitchFamily="34" charset="0"/>
                <a:ea typeface="Calibri" pitchFamily="34" charset="-122"/>
                <a:cs typeface="Calibri" pitchFamily="34" charset="-120"/>
              </a:rPr>
              <a:t>You will do all four this week. You will specialise later. You do not have to pick today.</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B"/>
        </a:solidFill>
      </p:bgPr>
    </p:bg>
    <p:spTree>
      <p:nvGrpSpPr>
        <p:cNvPr id="1" name=""/>
        <p:cNvGrpSpPr/>
        <p:nvPr/>
      </p:nvGrpSpPr>
      <p:grpSpPr>
        <a:xfrm>
          <a:off x="0" y="0"/>
          <a:ext cx="0" cy="0"/>
          <a:chOff x="0" y="0"/>
          <a:chExt cx="0" cy="0"/>
        </a:xfrm>
      </p:grpSpPr>
      <p:sp>
        <p:nvSpPr>
          <p:cNvPr id="3" name="Shape 0"/>
          <p:cNvSpPr/>
          <p:nvPr/>
        </p:nvSpPr>
        <p:spPr>
          <a:xfrm>
            <a:off x="594360" y="384048"/>
            <a:ext cx="384048" cy="384048"/>
          </a:xfrm>
          <a:prstGeom prst="ellipse">
            <a:avLst/>
          </a:prstGeom>
          <a:solidFill>
            <a:srgbClr val="0755E9"/>
          </a:solidFill>
          <a:ln/>
        </p:spPr>
      </p:sp>
      <p:sp>
        <p:nvSpPr>
          <p:cNvPr id="4" name="Text 1"/>
          <p:cNvSpPr/>
          <p:nvPr/>
        </p:nvSpPr>
        <p:spPr>
          <a:xfrm>
            <a:off x="59436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5" name="Text 2"/>
          <p:cNvSpPr/>
          <p:nvPr/>
        </p:nvSpPr>
        <p:spPr>
          <a:xfrm>
            <a:off x="1097280" y="384048"/>
            <a:ext cx="7772400" cy="384048"/>
          </a:xfrm>
          <a:prstGeom prst="rect">
            <a:avLst/>
          </a:prstGeom>
          <a:noFill/>
          <a:ln/>
        </p:spPr>
        <p:txBody>
          <a:bodyPr wrap="square" lIns="0" tIns="0" rIns="0" bIns="0" rtlCol="0" anchor="ctr"/>
          <a:lstStyle/>
          <a:p>
            <a:pPr indent="0" marL="0">
              <a:buNone/>
            </a:pPr>
            <a:r>
              <a:rPr lang="en-US" sz="1100" b="1" spc="200" kern="0" dirty="0">
                <a:solidFill>
                  <a:srgbClr val="5A6890"/>
                </a:solidFill>
                <a:latin typeface="Calibri" pitchFamily="34" charset="0"/>
                <a:ea typeface="Calibri" pitchFamily="34" charset="-122"/>
                <a:cs typeface="Calibri" pitchFamily="34" charset="-120"/>
              </a:rPr>
              <a:t>FOUR DISCIPLINES, ONE INCIDENT</a:t>
            </a:r>
            <a:endParaRPr lang="en-US" sz="1100" dirty="0"/>
          </a:p>
        </p:txBody>
      </p:sp>
      <p:sp>
        <p:nvSpPr>
          <p:cNvPr id="6" name="Text 3"/>
          <p:cNvSpPr/>
          <p:nvPr/>
        </p:nvSpPr>
        <p:spPr>
          <a:xfrm>
            <a:off x="594360" y="960120"/>
            <a:ext cx="10881360" cy="914400"/>
          </a:xfrm>
          <a:prstGeom prst="rect">
            <a:avLst/>
          </a:prstGeom>
          <a:noFill/>
          <a:ln/>
        </p:spPr>
        <p:txBody>
          <a:bodyPr wrap="square" lIns="0" tIns="0" rIns="0" bIns="0" rtlCol="0" anchor="t"/>
          <a:lstStyle/>
          <a:p>
            <a:pPr indent="0" marL="0">
              <a:buNone/>
            </a:pPr>
            <a:r>
              <a:rPr lang="en-US" sz="3600" b="1" dirty="0">
                <a:solidFill>
                  <a:srgbClr val="0A1229"/>
                </a:solidFill>
                <a:latin typeface="Calibri" pitchFamily="34" charset="0"/>
                <a:ea typeface="Calibri" pitchFamily="34" charset="-122"/>
                <a:cs typeface="Calibri" pitchFamily="34" charset="-120"/>
              </a:rPr>
              <a:t>Four words worth stealing</a:t>
            </a:r>
            <a:endParaRPr lang="en-US" sz="3600" dirty="0"/>
          </a:p>
        </p:txBody>
      </p:sp>
      <p:sp>
        <p:nvSpPr>
          <p:cNvPr id="7" name="Text 4"/>
          <p:cNvSpPr/>
          <p:nvPr/>
        </p:nvSpPr>
        <p:spPr>
          <a:xfrm>
            <a:off x="594360" y="1783080"/>
            <a:ext cx="10881360" cy="411480"/>
          </a:xfrm>
          <a:prstGeom prst="rect">
            <a:avLst/>
          </a:prstGeom>
          <a:noFill/>
          <a:ln/>
        </p:spPr>
        <p:txBody>
          <a:bodyPr wrap="square" lIns="0" tIns="0" rIns="0" bIns="0" rtlCol="0" anchor="ctr"/>
          <a:lstStyle/>
          <a:p>
            <a:pPr indent="0" marL="0">
              <a:buNone/>
            </a:pPr>
            <a:r>
              <a:rPr lang="en-US" sz="1600" dirty="0">
                <a:solidFill>
                  <a:srgbClr val="5A6890"/>
                </a:solidFill>
                <a:latin typeface="Calibri" pitchFamily="34" charset="0"/>
                <a:ea typeface="Calibri" pitchFamily="34" charset="-122"/>
                <a:cs typeface="Calibri" pitchFamily="34" charset="-120"/>
              </a:rPr>
              <a:t>If you use these correctly in an interview, the interviewer will assume you have done the work.</a:t>
            </a:r>
            <a:endParaRPr lang="en-US" sz="1600" dirty="0"/>
          </a:p>
        </p:txBody>
      </p:sp>
      <p:sp>
        <p:nvSpPr>
          <p:cNvPr id="8" name="Shape 5"/>
          <p:cNvSpPr/>
          <p:nvPr/>
        </p:nvSpPr>
        <p:spPr>
          <a:xfrm>
            <a:off x="594360" y="2377440"/>
            <a:ext cx="5257800" cy="1737360"/>
          </a:xfrm>
          <a:prstGeom prst="roundRect">
            <a:avLst>
              <a:gd name="adj" fmla="val 4211"/>
            </a:avLst>
          </a:prstGeom>
          <a:solidFill>
            <a:srgbClr val="E4E9F5"/>
          </a:solidFill>
          <a:ln w="12700">
            <a:solidFill>
              <a:srgbClr val="E4E9F5"/>
            </a:solidFill>
            <a:prstDash val="solid"/>
          </a:ln>
        </p:spPr>
      </p:sp>
      <p:sp>
        <p:nvSpPr>
          <p:cNvPr id="9" name="Text 6"/>
          <p:cNvSpPr/>
          <p:nvPr/>
        </p:nvSpPr>
        <p:spPr>
          <a:xfrm>
            <a:off x="886968" y="2542032"/>
            <a:ext cx="4663440" cy="457200"/>
          </a:xfrm>
          <a:prstGeom prst="rect">
            <a:avLst/>
          </a:prstGeom>
          <a:noFill/>
          <a:ln/>
        </p:spPr>
        <p:txBody>
          <a:bodyPr wrap="square" lIns="0" tIns="0" rIns="0" bIns="0" rtlCol="0" anchor="ctr"/>
          <a:lstStyle/>
          <a:p>
            <a:pPr indent="0" marL="0">
              <a:buNone/>
            </a:pPr>
            <a:r>
              <a:rPr lang="en-US" sz="2200" b="1" dirty="0">
                <a:solidFill>
                  <a:srgbClr val="0755E9"/>
                </a:solidFill>
                <a:latin typeface="Calibri" pitchFamily="34" charset="0"/>
                <a:ea typeface="Calibri" pitchFamily="34" charset="-122"/>
                <a:cs typeface="Calibri" pitchFamily="34" charset="-120"/>
              </a:rPr>
              <a:t>SLI</a:t>
            </a:r>
            <a:endParaRPr lang="en-US" sz="2200" dirty="0"/>
          </a:p>
        </p:txBody>
      </p:sp>
      <p:sp>
        <p:nvSpPr>
          <p:cNvPr id="10" name="Text 7"/>
          <p:cNvSpPr/>
          <p:nvPr/>
        </p:nvSpPr>
        <p:spPr>
          <a:xfrm>
            <a:off x="886968" y="2999232"/>
            <a:ext cx="4663440" cy="320040"/>
          </a:xfrm>
          <a:prstGeom prst="rect">
            <a:avLst/>
          </a:prstGeom>
          <a:noFill/>
          <a:ln/>
        </p:spPr>
        <p:txBody>
          <a:bodyPr wrap="square" lIns="0" tIns="0" rIns="0" bIns="0" rtlCol="0" anchor="ctr"/>
          <a:lstStyle/>
          <a:p>
            <a:pPr indent="0" marL="0">
              <a:buNone/>
            </a:pPr>
            <a:r>
              <a:rPr lang="en-US" sz="1200" i="1" dirty="0">
                <a:solidFill>
                  <a:srgbClr val="5A6890"/>
                </a:solidFill>
                <a:latin typeface="Calibri" pitchFamily="34" charset="0"/>
                <a:ea typeface="Calibri" pitchFamily="34" charset="-122"/>
                <a:cs typeface="Calibri" pitchFamily="34" charset="-120"/>
              </a:rPr>
              <a:t>Service Level Indicator</a:t>
            </a:r>
            <a:endParaRPr lang="en-US" sz="1200" dirty="0"/>
          </a:p>
        </p:txBody>
      </p:sp>
      <p:sp>
        <p:nvSpPr>
          <p:cNvPr id="11" name="Text 8"/>
          <p:cNvSpPr/>
          <p:nvPr/>
        </p:nvSpPr>
        <p:spPr>
          <a:xfrm>
            <a:off x="886968" y="3337560"/>
            <a:ext cx="4663440" cy="640080"/>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The thing you actually measure. "99.2% of order requests succeeded."</a:t>
            </a:r>
            <a:endParaRPr lang="en-US" sz="1300" dirty="0"/>
          </a:p>
        </p:txBody>
      </p:sp>
      <p:sp>
        <p:nvSpPr>
          <p:cNvPr id="12" name="Shape 9"/>
          <p:cNvSpPr/>
          <p:nvPr/>
        </p:nvSpPr>
        <p:spPr>
          <a:xfrm>
            <a:off x="6172200" y="2377440"/>
            <a:ext cx="5257800" cy="1737360"/>
          </a:xfrm>
          <a:prstGeom prst="roundRect">
            <a:avLst>
              <a:gd name="adj" fmla="val 4211"/>
            </a:avLst>
          </a:prstGeom>
          <a:solidFill>
            <a:srgbClr val="E4E9F5"/>
          </a:solidFill>
          <a:ln w="12700">
            <a:solidFill>
              <a:srgbClr val="E4E9F5"/>
            </a:solidFill>
            <a:prstDash val="solid"/>
          </a:ln>
        </p:spPr>
      </p:sp>
      <p:sp>
        <p:nvSpPr>
          <p:cNvPr id="13" name="Text 10"/>
          <p:cNvSpPr/>
          <p:nvPr/>
        </p:nvSpPr>
        <p:spPr>
          <a:xfrm>
            <a:off x="6464808" y="2542032"/>
            <a:ext cx="4663440" cy="457200"/>
          </a:xfrm>
          <a:prstGeom prst="rect">
            <a:avLst/>
          </a:prstGeom>
          <a:noFill/>
          <a:ln/>
        </p:spPr>
        <p:txBody>
          <a:bodyPr wrap="square" lIns="0" tIns="0" rIns="0" bIns="0" rtlCol="0" anchor="ctr"/>
          <a:lstStyle/>
          <a:p>
            <a:pPr indent="0" marL="0">
              <a:buNone/>
            </a:pPr>
            <a:r>
              <a:rPr lang="en-US" sz="2200" b="1" dirty="0">
                <a:solidFill>
                  <a:srgbClr val="0755E9"/>
                </a:solidFill>
                <a:latin typeface="Calibri" pitchFamily="34" charset="0"/>
                <a:ea typeface="Calibri" pitchFamily="34" charset="-122"/>
                <a:cs typeface="Calibri" pitchFamily="34" charset="-120"/>
              </a:rPr>
              <a:t>SLO</a:t>
            </a:r>
            <a:endParaRPr lang="en-US" sz="2200" dirty="0"/>
          </a:p>
        </p:txBody>
      </p:sp>
      <p:sp>
        <p:nvSpPr>
          <p:cNvPr id="14" name="Text 11"/>
          <p:cNvSpPr/>
          <p:nvPr/>
        </p:nvSpPr>
        <p:spPr>
          <a:xfrm>
            <a:off x="6464808" y="2999232"/>
            <a:ext cx="4663440" cy="320040"/>
          </a:xfrm>
          <a:prstGeom prst="rect">
            <a:avLst/>
          </a:prstGeom>
          <a:noFill/>
          <a:ln/>
        </p:spPr>
        <p:txBody>
          <a:bodyPr wrap="square" lIns="0" tIns="0" rIns="0" bIns="0" rtlCol="0" anchor="ctr"/>
          <a:lstStyle/>
          <a:p>
            <a:pPr indent="0" marL="0">
              <a:buNone/>
            </a:pPr>
            <a:r>
              <a:rPr lang="en-US" sz="1200" i="1" dirty="0">
                <a:solidFill>
                  <a:srgbClr val="5A6890"/>
                </a:solidFill>
                <a:latin typeface="Calibri" pitchFamily="34" charset="0"/>
                <a:ea typeface="Calibri" pitchFamily="34" charset="-122"/>
                <a:cs typeface="Calibri" pitchFamily="34" charset="-120"/>
              </a:rPr>
              <a:t>Service Level Objective</a:t>
            </a:r>
            <a:endParaRPr lang="en-US" sz="1200" dirty="0"/>
          </a:p>
        </p:txBody>
      </p:sp>
      <p:sp>
        <p:nvSpPr>
          <p:cNvPr id="15" name="Text 12"/>
          <p:cNvSpPr/>
          <p:nvPr/>
        </p:nvSpPr>
        <p:spPr>
          <a:xfrm>
            <a:off x="6464808" y="3337560"/>
            <a:ext cx="4663440" cy="640080"/>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The target you promise. "99.9% of order requests will succeed."</a:t>
            </a:r>
            <a:endParaRPr lang="en-US" sz="1300" dirty="0"/>
          </a:p>
        </p:txBody>
      </p:sp>
      <p:sp>
        <p:nvSpPr>
          <p:cNvPr id="16" name="Shape 13"/>
          <p:cNvSpPr/>
          <p:nvPr/>
        </p:nvSpPr>
        <p:spPr>
          <a:xfrm>
            <a:off x="594360" y="4343400"/>
            <a:ext cx="5257800" cy="1737360"/>
          </a:xfrm>
          <a:prstGeom prst="roundRect">
            <a:avLst>
              <a:gd name="adj" fmla="val 4211"/>
            </a:avLst>
          </a:prstGeom>
          <a:solidFill>
            <a:srgbClr val="E4E9F5"/>
          </a:solidFill>
          <a:ln w="12700">
            <a:solidFill>
              <a:srgbClr val="E4E9F5"/>
            </a:solidFill>
            <a:prstDash val="solid"/>
          </a:ln>
        </p:spPr>
      </p:sp>
      <p:sp>
        <p:nvSpPr>
          <p:cNvPr id="17" name="Text 14"/>
          <p:cNvSpPr/>
          <p:nvPr/>
        </p:nvSpPr>
        <p:spPr>
          <a:xfrm>
            <a:off x="886968" y="4507992"/>
            <a:ext cx="4663440" cy="457200"/>
          </a:xfrm>
          <a:prstGeom prst="rect">
            <a:avLst/>
          </a:prstGeom>
          <a:noFill/>
          <a:ln/>
        </p:spPr>
        <p:txBody>
          <a:bodyPr wrap="square" lIns="0" tIns="0" rIns="0" bIns="0" rtlCol="0" anchor="ctr"/>
          <a:lstStyle/>
          <a:p>
            <a:pPr indent="0" marL="0">
              <a:buNone/>
            </a:pPr>
            <a:r>
              <a:rPr lang="en-US" sz="2200" b="1" dirty="0">
                <a:solidFill>
                  <a:srgbClr val="0755E9"/>
                </a:solidFill>
                <a:latin typeface="Calibri" pitchFamily="34" charset="0"/>
                <a:ea typeface="Calibri" pitchFamily="34" charset="-122"/>
                <a:cs typeface="Calibri" pitchFamily="34" charset="-120"/>
              </a:rPr>
              <a:t>Error budget</a:t>
            </a:r>
            <a:endParaRPr lang="en-US" sz="2200" dirty="0"/>
          </a:p>
        </p:txBody>
      </p:sp>
      <p:sp>
        <p:nvSpPr>
          <p:cNvPr id="18" name="Text 15"/>
          <p:cNvSpPr/>
          <p:nvPr/>
        </p:nvSpPr>
        <p:spPr>
          <a:xfrm>
            <a:off x="886968" y="4965192"/>
            <a:ext cx="4663440" cy="320040"/>
          </a:xfrm>
          <a:prstGeom prst="rect">
            <a:avLst/>
          </a:prstGeom>
          <a:noFill/>
          <a:ln/>
        </p:spPr>
        <p:txBody>
          <a:bodyPr wrap="square" lIns="0" tIns="0" rIns="0" bIns="0" rtlCol="0" anchor="ctr"/>
          <a:lstStyle/>
          <a:p>
            <a:pPr indent="0" marL="0">
              <a:buNone/>
            </a:pPr>
            <a:r>
              <a:rPr lang="en-US" sz="1200" i="1" dirty="0">
                <a:solidFill>
                  <a:srgbClr val="5A6890"/>
                </a:solidFill>
                <a:latin typeface="Calibri" pitchFamily="34" charset="0"/>
                <a:ea typeface="Calibri" pitchFamily="34" charset="-122"/>
                <a:cs typeface="Calibri" pitchFamily="34" charset="-120"/>
              </a:rPr>
              <a:t>SLO minus reality</a:t>
            </a:r>
            <a:endParaRPr lang="en-US" sz="1200" dirty="0"/>
          </a:p>
        </p:txBody>
      </p:sp>
      <p:sp>
        <p:nvSpPr>
          <p:cNvPr id="19" name="Text 16"/>
          <p:cNvSpPr/>
          <p:nvPr/>
        </p:nvSpPr>
        <p:spPr>
          <a:xfrm>
            <a:off x="886968" y="5303520"/>
            <a:ext cx="4663440" cy="640080"/>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How much failure you are allowed. Spend it deliberately.</a:t>
            </a:r>
            <a:endParaRPr lang="en-US" sz="1300" dirty="0"/>
          </a:p>
        </p:txBody>
      </p:sp>
      <p:sp>
        <p:nvSpPr>
          <p:cNvPr id="20" name="Shape 17"/>
          <p:cNvSpPr/>
          <p:nvPr/>
        </p:nvSpPr>
        <p:spPr>
          <a:xfrm>
            <a:off x="6172200" y="4343400"/>
            <a:ext cx="5257800" cy="1737360"/>
          </a:xfrm>
          <a:prstGeom prst="roundRect">
            <a:avLst>
              <a:gd name="adj" fmla="val 4211"/>
            </a:avLst>
          </a:prstGeom>
          <a:solidFill>
            <a:srgbClr val="E4E9F5"/>
          </a:solidFill>
          <a:ln w="12700">
            <a:solidFill>
              <a:srgbClr val="E4E9F5"/>
            </a:solidFill>
            <a:prstDash val="solid"/>
          </a:ln>
        </p:spPr>
      </p:sp>
      <p:sp>
        <p:nvSpPr>
          <p:cNvPr id="21" name="Text 18"/>
          <p:cNvSpPr/>
          <p:nvPr/>
        </p:nvSpPr>
        <p:spPr>
          <a:xfrm>
            <a:off x="6464808" y="4507992"/>
            <a:ext cx="4663440" cy="457200"/>
          </a:xfrm>
          <a:prstGeom prst="rect">
            <a:avLst/>
          </a:prstGeom>
          <a:noFill/>
          <a:ln/>
        </p:spPr>
        <p:txBody>
          <a:bodyPr wrap="square" lIns="0" tIns="0" rIns="0" bIns="0" rtlCol="0" anchor="ctr"/>
          <a:lstStyle/>
          <a:p>
            <a:pPr indent="0" marL="0">
              <a:buNone/>
            </a:pPr>
            <a:r>
              <a:rPr lang="en-US" sz="2200" b="1" dirty="0">
                <a:solidFill>
                  <a:srgbClr val="EE4001"/>
                </a:solidFill>
                <a:latin typeface="Calibri" pitchFamily="34" charset="0"/>
                <a:ea typeface="Calibri" pitchFamily="34" charset="-122"/>
                <a:cs typeface="Calibri" pitchFamily="34" charset="-120"/>
              </a:rPr>
              <a:t>Golden path</a:t>
            </a:r>
            <a:endParaRPr lang="en-US" sz="2200" dirty="0"/>
          </a:p>
        </p:txBody>
      </p:sp>
      <p:sp>
        <p:nvSpPr>
          <p:cNvPr id="22" name="Text 19"/>
          <p:cNvSpPr/>
          <p:nvPr/>
        </p:nvSpPr>
        <p:spPr>
          <a:xfrm>
            <a:off x="6464808" y="4965192"/>
            <a:ext cx="4663440" cy="320040"/>
          </a:xfrm>
          <a:prstGeom prst="rect">
            <a:avLst/>
          </a:prstGeom>
          <a:noFill/>
          <a:ln/>
        </p:spPr>
        <p:txBody>
          <a:bodyPr wrap="square" lIns="0" tIns="0" rIns="0" bIns="0" rtlCol="0" anchor="ctr"/>
          <a:lstStyle/>
          <a:p>
            <a:pPr indent="0" marL="0">
              <a:buNone/>
            </a:pPr>
            <a:r>
              <a:rPr lang="en-US" sz="1200" i="1" dirty="0">
                <a:solidFill>
                  <a:srgbClr val="5A6890"/>
                </a:solidFill>
                <a:latin typeface="Calibri" pitchFamily="34" charset="0"/>
                <a:ea typeface="Calibri" pitchFamily="34" charset="-122"/>
                <a:cs typeface="Calibri" pitchFamily="34" charset="-120"/>
              </a:rPr>
              <a:t>Platform engineering</a:t>
            </a:r>
            <a:endParaRPr lang="en-US" sz="1200" dirty="0"/>
          </a:p>
        </p:txBody>
      </p:sp>
      <p:sp>
        <p:nvSpPr>
          <p:cNvPr id="23" name="Text 20"/>
          <p:cNvSpPr/>
          <p:nvPr/>
        </p:nvSpPr>
        <p:spPr>
          <a:xfrm>
            <a:off x="6464808" y="5303520"/>
            <a:ext cx="4663440" cy="640080"/>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The easy way and the right way are the same way. If not, that is your fault.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9"/>
        </a:solidFill>
      </p:bgPr>
    </p:bg>
    <p:spTree>
      <p:nvGrpSpPr>
        <p:cNvPr id="1" name=""/>
        <p:cNvGrpSpPr/>
        <p:nvPr/>
      </p:nvGrpSpPr>
      <p:grpSpPr>
        <a:xfrm>
          <a:off x="0" y="0"/>
          <a:ext cx="0" cy="0"/>
          <a:chOff x="0" y="0"/>
          <a:chExt cx="0" cy="0"/>
        </a:xfrm>
      </p:grpSpPr>
      <p:sp>
        <p:nvSpPr>
          <p:cNvPr id="3" name="Shape 0"/>
          <p:cNvSpPr/>
          <p:nvPr/>
        </p:nvSpPr>
        <p:spPr>
          <a:xfrm>
            <a:off x="594360" y="384048"/>
            <a:ext cx="384048" cy="384048"/>
          </a:xfrm>
          <a:prstGeom prst="ellipse">
            <a:avLst/>
          </a:prstGeom>
          <a:solidFill>
            <a:srgbClr val="0755E9"/>
          </a:solidFill>
          <a:ln/>
        </p:spPr>
      </p:sp>
      <p:sp>
        <p:nvSpPr>
          <p:cNvPr id="4" name="Text 1"/>
          <p:cNvSpPr/>
          <p:nvPr/>
        </p:nvSpPr>
        <p:spPr>
          <a:xfrm>
            <a:off x="59436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5" name="Text 2"/>
          <p:cNvSpPr/>
          <p:nvPr/>
        </p:nvSpPr>
        <p:spPr>
          <a:xfrm>
            <a:off x="1097280" y="384048"/>
            <a:ext cx="7772400" cy="384048"/>
          </a:xfrm>
          <a:prstGeom prst="rect">
            <a:avLst/>
          </a:prstGeom>
          <a:noFill/>
          <a:ln/>
        </p:spPr>
        <p:txBody>
          <a:bodyPr wrap="square" lIns="0" tIns="0" rIns="0" bIns="0" rtlCol="0" anchor="ctr"/>
          <a:lstStyle/>
          <a:p>
            <a:pPr indent="0" marL="0">
              <a:buNone/>
            </a:pPr>
            <a:r>
              <a:rPr lang="en-US" sz="1100" b="1" spc="200" kern="0" dirty="0">
                <a:solidFill>
                  <a:srgbClr val="8A99BF"/>
                </a:solidFill>
                <a:latin typeface="Calibri" pitchFamily="34" charset="0"/>
                <a:ea typeface="Calibri" pitchFamily="34" charset="-122"/>
                <a:cs typeface="Calibri" pitchFamily="34" charset="-120"/>
              </a:rPr>
              <a:t>THE 2026 LAYER</a:t>
            </a:r>
            <a:endParaRPr lang="en-US" sz="1100" dirty="0"/>
          </a:p>
        </p:txBody>
      </p:sp>
      <p:sp>
        <p:nvSpPr>
          <p:cNvPr id="6" name="Text 3"/>
          <p:cNvSpPr/>
          <p:nvPr/>
        </p:nvSpPr>
        <p:spPr>
          <a:xfrm>
            <a:off x="594360" y="960120"/>
            <a:ext cx="10881360" cy="914400"/>
          </a:xfrm>
          <a:prstGeom prst="rect">
            <a:avLst/>
          </a:prstGeom>
          <a:noFill/>
          <a:ln/>
        </p:spPr>
        <p:txBody>
          <a:bodyPr wrap="square" lIns="0" tIns="0" rIns="0" bIns="0" rtlCol="0" anchor="t"/>
          <a:lstStyle/>
          <a:p>
            <a:pPr indent="0" marL="0">
              <a:buNone/>
            </a:pPr>
            <a:r>
              <a:rPr lang="en-US" sz="3600" b="1" dirty="0">
                <a:solidFill>
                  <a:srgbClr val="F4F6FB"/>
                </a:solidFill>
                <a:latin typeface="Calibri" pitchFamily="34" charset="0"/>
                <a:ea typeface="Calibri" pitchFamily="34" charset="-122"/>
                <a:cs typeface="Calibri" pitchFamily="34" charset="-120"/>
              </a:rPr>
              <a:t>The bill is a design document</a:t>
            </a:r>
            <a:endParaRPr lang="en-US" sz="3600" dirty="0"/>
          </a:p>
        </p:txBody>
      </p:sp>
      <p:sp>
        <p:nvSpPr>
          <p:cNvPr id="7" name="Text 4"/>
          <p:cNvSpPr/>
          <p:nvPr/>
        </p:nvSpPr>
        <p:spPr>
          <a:xfrm>
            <a:off x="594360" y="1783080"/>
            <a:ext cx="10881360" cy="411480"/>
          </a:xfrm>
          <a:prstGeom prst="rect">
            <a:avLst/>
          </a:prstGeom>
          <a:noFill/>
          <a:ln/>
        </p:spPr>
        <p:txBody>
          <a:bodyPr wrap="square" lIns="0" tIns="0" rIns="0" bIns="0" rtlCol="0" anchor="ctr"/>
          <a:lstStyle/>
          <a:p>
            <a:pPr indent="0" marL="0">
              <a:buNone/>
            </a:pPr>
            <a:r>
              <a:rPr lang="en-US" sz="1500" i="1" dirty="0">
                <a:solidFill>
                  <a:srgbClr val="8A99BF"/>
                </a:solidFill>
                <a:latin typeface="Calibri" pitchFamily="34" charset="0"/>
                <a:ea typeface="Calibri" pitchFamily="34" charset="-122"/>
                <a:cs typeface="Calibri" pitchFamily="34" charset="-120"/>
              </a:rPr>
              <a:t>Illustrative figures for Daig - your architecture choices, priced.</a:t>
            </a:r>
            <a:endParaRPr lang="en-US" sz="1500" dirty="0"/>
          </a:p>
        </p:txBody>
      </p:sp>
      <p:graphicFrame>
        <p:nvGraphicFramePr>
          <p:cNvPr id="8" name="Chart 0" descr=""/>
          <p:cNvGraphicFramePr/>
          <p:nvPr/>
        </p:nvGraphicFramePr>
        <p:xfrm>
          <a:off x="594360" y="2240280"/>
          <a:ext cx="6766560" cy="329184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7680960" y="2240280"/>
            <a:ext cx="3886200" cy="1463040"/>
          </a:xfrm>
          <a:prstGeom prst="roundRect">
            <a:avLst>
              <a:gd name="adj" fmla="val 5000"/>
            </a:avLst>
          </a:prstGeom>
          <a:solidFill>
            <a:srgbClr val="17224A"/>
          </a:solidFill>
          <a:ln w="12700">
            <a:solidFill>
              <a:srgbClr val="17224A"/>
            </a:solidFill>
            <a:prstDash val="solid"/>
          </a:ln>
        </p:spPr>
      </p:sp>
      <p:sp>
        <p:nvSpPr>
          <p:cNvPr id="10" name="Text 6"/>
          <p:cNvSpPr/>
          <p:nvPr/>
        </p:nvSpPr>
        <p:spPr>
          <a:xfrm>
            <a:off x="7955280" y="2377440"/>
            <a:ext cx="3383280" cy="365760"/>
          </a:xfrm>
          <a:prstGeom prst="rect">
            <a:avLst/>
          </a:prstGeom>
          <a:noFill/>
          <a:ln/>
        </p:spPr>
        <p:txBody>
          <a:bodyPr wrap="square" lIns="0" tIns="0" rIns="0" bIns="0" rtlCol="0" anchor="ctr"/>
          <a:lstStyle/>
          <a:p>
            <a:pPr indent="0" marL="0">
              <a:buNone/>
            </a:pPr>
            <a:r>
              <a:rPr lang="en-US" sz="1300" b="1" dirty="0">
                <a:solidFill>
                  <a:srgbClr val="5B8CF0"/>
                </a:solidFill>
                <a:latin typeface="Calibri" pitchFamily="34" charset="0"/>
                <a:ea typeface="Calibri" pitchFamily="34" charset="-122"/>
                <a:cs typeface="Calibri" pitchFamily="34" charset="-120"/>
              </a:rPr>
              <a:t>Provision for peak, all day</a:t>
            </a:r>
            <a:endParaRPr lang="en-US" sz="1300" dirty="0"/>
          </a:p>
        </p:txBody>
      </p:sp>
      <p:sp>
        <p:nvSpPr>
          <p:cNvPr id="11" name="Text 7"/>
          <p:cNvSpPr/>
          <p:nvPr/>
        </p:nvSpPr>
        <p:spPr>
          <a:xfrm>
            <a:off x="7955280" y="2743200"/>
            <a:ext cx="3383280" cy="822960"/>
          </a:xfrm>
          <a:prstGeom prst="rect">
            <a:avLst/>
          </a:prstGeom>
          <a:noFill/>
          <a:ln/>
        </p:spPr>
        <p:txBody>
          <a:bodyPr wrap="square" lIns="0" tIns="0" rIns="0" bIns="0" rtlCol="0" anchor="ctr"/>
          <a:lstStyle/>
          <a:p>
            <a:pPr indent="0" marL="0">
              <a:buNone/>
            </a:pPr>
            <a:r>
              <a:rPr lang="en-US" sz="1200" dirty="0">
                <a:solidFill>
                  <a:srgbClr val="F4F6FB"/>
                </a:solidFill>
                <a:latin typeface="Calibri" pitchFamily="34" charset="0"/>
                <a:ea typeface="Calibri" pitchFamily="34" charset="-122"/>
                <a:cs typeface="Calibri" pitchFamily="34" charset="-120"/>
              </a:rPr>
              <a:t>~4x the compute bill, for capacity you use</a:t>
            </a:r>
            <a:endParaRPr lang="en-US" sz="1200" dirty="0"/>
          </a:p>
          <a:p>
            <a:pPr indent="0" marL="0">
              <a:buNone/>
            </a:pPr>
            <a:r>
              <a:rPr lang="en-US" sz="1200" dirty="0">
                <a:solidFill>
                  <a:srgbClr val="F4F6FB"/>
                </a:solidFill>
                <a:latin typeface="Calibri" pitchFamily="34" charset="0"/>
                <a:ea typeface="Calibri" pitchFamily="34" charset="-122"/>
                <a:cs typeface="Calibri" pitchFamily="34" charset="-120"/>
              </a:rPr>
              <a:t>for twenty minutes.</a:t>
            </a:r>
            <a:endParaRPr lang="en-US" sz="1200" dirty="0"/>
          </a:p>
        </p:txBody>
      </p:sp>
      <p:sp>
        <p:nvSpPr>
          <p:cNvPr id="12" name="Shape 8"/>
          <p:cNvSpPr/>
          <p:nvPr/>
        </p:nvSpPr>
        <p:spPr>
          <a:xfrm>
            <a:off x="7680960" y="3886200"/>
            <a:ext cx="3886200" cy="1645920"/>
          </a:xfrm>
          <a:prstGeom prst="roundRect">
            <a:avLst>
              <a:gd name="adj" fmla="val 4444"/>
            </a:avLst>
          </a:prstGeom>
          <a:solidFill>
            <a:srgbClr val="17224A"/>
          </a:solidFill>
          <a:ln w="12700">
            <a:solidFill>
              <a:srgbClr val="17224A"/>
            </a:solidFill>
            <a:prstDash val="solid"/>
          </a:ln>
        </p:spPr>
      </p:sp>
      <p:sp>
        <p:nvSpPr>
          <p:cNvPr id="13" name="Text 9"/>
          <p:cNvSpPr/>
          <p:nvPr/>
        </p:nvSpPr>
        <p:spPr>
          <a:xfrm>
            <a:off x="7955280" y="4023360"/>
            <a:ext cx="3383280" cy="365760"/>
          </a:xfrm>
          <a:prstGeom prst="rect">
            <a:avLst/>
          </a:prstGeom>
          <a:noFill/>
          <a:ln/>
        </p:spPr>
        <p:txBody>
          <a:bodyPr wrap="square" lIns="0" tIns="0" rIns="0" bIns="0" rtlCol="0" anchor="ctr"/>
          <a:lstStyle/>
          <a:p>
            <a:pPr indent="0" marL="0">
              <a:buNone/>
            </a:pPr>
            <a:r>
              <a:rPr lang="en-US" sz="1300" b="1" dirty="0">
                <a:solidFill>
                  <a:srgbClr val="EE4001"/>
                </a:solidFill>
                <a:latin typeface="Calibri" pitchFamily="34" charset="0"/>
                <a:ea typeface="Calibri" pitchFamily="34" charset="-122"/>
                <a:cs typeface="Calibri" pitchFamily="34" charset="-120"/>
              </a:rPr>
              <a:t>Scale on demand</a:t>
            </a:r>
            <a:endParaRPr lang="en-US" sz="1300" dirty="0"/>
          </a:p>
        </p:txBody>
      </p:sp>
      <p:sp>
        <p:nvSpPr>
          <p:cNvPr id="14" name="Text 10"/>
          <p:cNvSpPr/>
          <p:nvPr/>
        </p:nvSpPr>
        <p:spPr>
          <a:xfrm>
            <a:off x="7955280" y="4389120"/>
            <a:ext cx="3383280" cy="1005840"/>
          </a:xfrm>
          <a:prstGeom prst="rect">
            <a:avLst/>
          </a:prstGeom>
          <a:noFill/>
          <a:ln/>
        </p:spPr>
        <p:txBody>
          <a:bodyPr wrap="square" lIns="0" tIns="0" rIns="0" bIns="0" rtlCol="0" anchor="ctr"/>
          <a:lstStyle/>
          <a:p>
            <a:pPr indent="0" marL="0">
              <a:buNone/>
            </a:pPr>
            <a:r>
              <a:rPr lang="en-US" sz="1200" dirty="0">
                <a:solidFill>
                  <a:srgbClr val="F4F6FB"/>
                </a:solidFill>
                <a:latin typeface="Calibri" pitchFamily="34" charset="0"/>
                <a:ea typeface="Calibri" pitchFamily="34" charset="-122"/>
                <a:cs typeface="Calibri" pitchFamily="34" charset="-120"/>
              </a:rPr>
              <a:t>Cheaper - but scale-up takes 90 seconds</a:t>
            </a:r>
            <a:endParaRPr lang="en-US" sz="1200" dirty="0"/>
          </a:p>
          <a:p>
            <a:pPr indent="0" marL="0">
              <a:buNone/>
            </a:pPr>
            <a:r>
              <a:rPr lang="en-US" sz="1200" dirty="0">
                <a:solidFill>
                  <a:srgbClr val="F4F6FB"/>
                </a:solidFill>
                <a:latin typeface="Calibri" pitchFamily="34" charset="0"/>
                <a:ea typeface="Calibri" pitchFamily="34" charset="-122"/>
                <a:cs typeface="Calibri" pitchFamily="34" charset="-120"/>
              </a:rPr>
              <a:t>and the spike takes 20. You will drop orders.</a:t>
            </a:r>
            <a:endParaRPr lang="en-US" sz="1200" dirty="0"/>
          </a:p>
        </p:txBody>
      </p:sp>
      <p:sp>
        <p:nvSpPr>
          <p:cNvPr id="15" name="Text 11"/>
          <p:cNvSpPr/>
          <p:nvPr/>
        </p:nvSpPr>
        <p:spPr>
          <a:xfrm>
            <a:off x="594360" y="5806440"/>
            <a:ext cx="10881360" cy="411480"/>
          </a:xfrm>
          <a:prstGeom prst="rect">
            <a:avLst/>
          </a:prstGeom>
          <a:noFill/>
          <a:ln/>
        </p:spPr>
        <p:txBody>
          <a:bodyPr wrap="square" lIns="0" tIns="0" rIns="0" bIns="0" rtlCol="0" anchor="ctr"/>
          <a:lstStyle/>
          <a:p>
            <a:pPr indent="0" marL="0">
              <a:buNone/>
            </a:pPr>
            <a:r>
              <a:rPr lang="en-US" sz="1600" b="1" dirty="0">
                <a:solidFill>
                  <a:srgbClr val="F4F6FB"/>
                </a:solidFill>
                <a:latin typeface="Calibri" pitchFamily="34" charset="0"/>
                <a:ea typeface="Calibri" pitchFamily="34" charset="-122"/>
                <a:cs typeface="Calibri" pitchFamily="34" charset="-120"/>
              </a:rPr>
              <a:t>There is no right answer. There is a decision, and someone has to own it. That is the job.</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6FB"/>
        </a:solidFill>
      </p:bgPr>
    </p:bg>
    <p:spTree>
      <p:nvGrpSpPr>
        <p:cNvPr id="1" name=""/>
        <p:cNvGrpSpPr/>
        <p:nvPr/>
      </p:nvGrpSpPr>
      <p:grpSpPr>
        <a:xfrm>
          <a:off x="0" y="0"/>
          <a:ext cx="0" cy="0"/>
          <a:chOff x="0" y="0"/>
          <a:chExt cx="0" cy="0"/>
        </a:xfrm>
      </p:grpSpPr>
      <p:sp>
        <p:nvSpPr>
          <p:cNvPr id="3" name="Shape 0"/>
          <p:cNvSpPr/>
          <p:nvPr/>
        </p:nvSpPr>
        <p:spPr>
          <a:xfrm>
            <a:off x="594360" y="384048"/>
            <a:ext cx="384048" cy="384048"/>
          </a:xfrm>
          <a:prstGeom prst="ellipse">
            <a:avLst/>
          </a:prstGeom>
          <a:solidFill>
            <a:srgbClr val="0755E9"/>
          </a:solidFill>
          <a:ln/>
        </p:spPr>
      </p:sp>
      <p:sp>
        <p:nvSpPr>
          <p:cNvPr id="4" name="Text 1"/>
          <p:cNvSpPr/>
          <p:nvPr/>
        </p:nvSpPr>
        <p:spPr>
          <a:xfrm>
            <a:off x="59436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5" name="Text 2"/>
          <p:cNvSpPr/>
          <p:nvPr/>
        </p:nvSpPr>
        <p:spPr>
          <a:xfrm>
            <a:off x="1097280" y="384048"/>
            <a:ext cx="7772400" cy="384048"/>
          </a:xfrm>
          <a:prstGeom prst="rect">
            <a:avLst/>
          </a:prstGeom>
          <a:noFill/>
          <a:ln/>
        </p:spPr>
        <p:txBody>
          <a:bodyPr wrap="square" lIns="0" tIns="0" rIns="0" bIns="0" rtlCol="0" anchor="ctr"/>
          <a:lstStyle/>
          <a:p>
            <a:pPr indent="0" marL="0">
              <a:buNone/>
            </a:pPr>
            <a:r>
              <a:rPr lang="en-US" sz="1100" b="1" spc="200" kern="0" dirty="0">
                <a:solidFill>
                  <a:srgbClr val="5A6890"/>
                </a:solidFill>
                <a:latin typeface="Calibri" pitchFamily="34" charset="0"/>
                <a:ea typeface="Calibri" pitchFamily="34" charset="-122"/>
                <a:cs typeface="Calibri" pitchFamily="34" charset="-120"/>
              </a:rPr>
              <a:t>THE 2026 LAYER</a:t>
            </a:r>
            <a:endParaRPr lang="en-US" sz="1100" dirty="0"/>
          </a:p>
        </p:txBody>
      </p:sp>
      <p:sp>
        <p:nvSpPr>
          <p:cNvPr id="6" name="Text 3"/>
          <p:cNvSpPr/>
          <p:nvPr/>
        </p:nvSpPr>
        <p:spPr>
          <a:xfrm>
            <a:off x="594360" y="960120"/>
            <a:ext cx="10881360" cy="914400"/>
          </a:xfrm>
          <a:prstGeom prst="rect">
            <a:avLst/>
          </a:prstGeom>
          <a:noFill/>
          <a:ln/>
        </p:spPr>
        <p:txBody>
          <a:bodyPr wrap="square" lIns="0" tIns="0" rIns="0" bIns="0" rtlCol="0" anchor="t"/>
          <a:lstStyle/>
          <a:p>
            <a:pPr indent="0" marL="0">
              <a:buNone/>
            </a:pPr>
            <a:r>
              <a:rPr lang="en-US" sz="3600" b="1" dirty="0">
                <a:solidFill>
                  <a:srgbClr val="0A1229"/>
                </a:solidFill>
                <a:latin typeface="Calibri" pitchFamily="34" charset="0"/>
                <a:ea typeface="Calibri" pitchFamily="34" charset="-122"/>
                <a:cs typeface="Calibri" pitchFamily="34" charset="-120"/>
              </a:rPr>
              <a:t>Four questions about one request</a:t>
            </a:r>
            <a:endParaRPr lang="en-US" sz="3600" dirty="0"/>
          </a:p>
        </p:txBody>
      </p:sp>
      <p:sp>
        <p:nvSpPr>
          <p:cNvPr id="7" name="Text 4"/>
          <p:cNvSpPr/>
          <p:nvPr/>
        </p:nvSpPr>
        <p:spPr>
          <a:xfrm>
            <a:off x="594360" y="1783080"/>
            <a:ext cx="10881360" cy="411480"/>
          </a:xfrm>
          <a:prstGeom prst="rect">
            <a:avLst/>
          </a:prstGeom>
          <a:noFill/>
          <a:ln/>
        </p:spPr>
        <p:txBody>
          <a:bodyPr wrap="square" lIns="0" tIns="0" rIns="0" bIns="0" rtlCol="0" anchor="ctr"/>
          <a:lstStyle/>
          <a:p>
            <a:pPr indent="0" marL="0">
              <a:buNone/>
            </a:pPr>
            <a:r>
              <a:rPr lang="en-US" sz="1700" dirty="0">
                <a:solidFill>
                  <a:srgbClr val="0755E9"/>
                </a:solidFill>
                <a:latin typeface="Calibri" pitchFamily="34" charset="0"/>
                <a:ea typeface="Calibri" pitchFamily="34" charset="-122"/>
                <a:cs typeface="Calibri" pitchFamily="34" charset="-120"/>
              </a:rPr>
              <a:t>Not four products. Four questions - and one request can answer all of them.</a:t>
            </a:r>
            <a:endParaRPr lang="en-US" sz="1700" dirty="0"/>
          </a:p>
        </p:txBody>
      </p:sp>
      <p:sp>
        <p:nvSpPr>
          <p:cNvPr id="8" name="Shape 5"/>
          <p:cNvSpPr/>
          <p:nvPr/>
        </p:nvSpPr>
        <p:spPr>
          <a:xfrm>
            <a:off x="594360" y="2377440"/>
            <a:ext cx="10881360" cy="841248"/>
          </a:xfrm>
          <a:prstGeom prst="roundRect">
            <a:avLst>
              <a:gd name="adj" fmla="val 8696"/>
            </a:avLst>
          </a:prstGeom>
          <a:solidFill>
            <a:srgbClr val="E4E9F5"/>
          </a:solidFill>
          <a:ln w="12700">
            <a:solidFill>
              <a:srgbClr val="E4E9F5"/>
            </a:solidFill>
            <a:prstDash val="solid"/>
          </a:ln>
        </p:spPr>
      </p:sp>
      <p:sp>
        <p:nvSpPr>
          <p:cNvPr id="9" name="Text 6"/>
          <p:cNvSpPr/>
          <p:nvPr/>
        </p:nvSpPr>
        <p:spPr>
          <a:xfrm>
            <a:off x="914400" y="2377440"/>
            <a:ext cx="1371600" cy="841248"/>
          </a:xfrm>
          <a:prstGeom prst="rect">
            <a:avLst/>
          </a:prstGeom>
          <a:noFill/>
          <a:ln/>
        </p:spPr>
        <p:txBody>
          <a:bodyPr wrap="square" lIns="0" tIns="0" rIns="0" bIns="0" rtlCol="0" anchor="ctr"/>
          <a:lstStyle/>
          <a:p>
            <a:pPr indent="0" marL="0">
              <a:buNone/>
            </a:pPr>
            <a:r>
              <a:rPr lang="en-US" sz="1700" b="1" dirty="0">
                <a:solidFill>
                  <a:srgbClr val="0755E9"/>
                </a:solidFill>
                <a:latin typeface="Calibri" pitchFamily="34" charset="0"/>
                <a:ea typeface="Calibri" pitchFamily="34" charset="-122"/>
                <a:cs typeface="Calibri" pitchFamily="34" charset="-120"/>
              </a:rPr>
              <a:t>Logs</a:t>
            </a:r>
            <a:endParaRPr lang="en-US" sz="1700" dirty="0"/>
          </a:p>
        </p:txBody>
      </p:sp>
      <p:sp>
        <p:nvSpPr>
          <p:cNvPr id="10" name="Text 7"/>
          <p:cNvSpPr/>
          <p:nvPr/>
        </p:nvSpPr>
        <p:spPr>
          <a:xfrm>
            <a:off x="2377440" y="2377440"/>
            <a:ext cx="3474720" cy="841248"/>
          </a:xfrm>
          <a:prstGeom prst="rect">
            <a:avLst/>
          </a:prstGeom>
          <a:noFill/>
          <a:ln/>
        </p:spPr>
        <p:txBody>
          <a:bodyPr wrap="square" lIns="0" tIns="0" rIns="0" bIns="0" rtlCol="0" anchor="ctr"/>
          <a:lstStyle/>
          <a:p>
            <a:pPr indent="0" marL="0">
              <a:buNone/>
            </a:pPr>
            <a:r>
              <a:rPr lang="en-US" sz="1400" b="1" dirty="0">
                <a:solidFill>
                  <a:srgbClr val="0A1229"/>
                </a:solidFill>
                <a:latin typeface="Calibri" pitchFamily="34" charset="0"/>
                <a:ea typeface="Calibri" pitchFamily="34" charset="-122"/>
                <a:cs typeface="Calibri" pitchFamily="34" charset="-120"/>
              </a:rPr>
              <a:t>What happened?</a:t>
            </a:r>
            <a:endParaRPr lang="en-US" sz="1400" dirty="0"/>
          </a:p>
        </p:txBody>
      </p:sp>
      <p:sp>
        <p:nvSpPr>
          <p:cNvPr id="11" name="Text 8"/>
          <p:cNvSpPr/>
          <p:nvPr/>
        </p:nvSpPr>
        <p:spPr>
          <a:xfrm>
            <a:off x="6035040" y="2377440"/>
            <a:ext cx="5120640" cy="841248"/>
          </a:xfrm>
          <a:prstGeom prst="rect">
            <a:avLst/>
          </a:prstGeom>
          <a:noFill/>
          <a:ln/>
        </p:spPr>
        <p:txBody>
          <a:bodyPr wrap="square" lIns="0" tIns="0" rIns="0" bIns="0" rtlCol="0" anchor="ctr"/>
          <a:lstStyle/>
          <a:p>
            <a:pPr indent="0" marL="0">
              <a:buNone/>
            </a:pPr>
            <a:r>
              <a:rPr lang="en-US" sz="1200" i="1" dirty="0">
                <a:solidFill>
                  <a:srgbClr val="5A6890"/>
                </a:solidFill>
                <a:latin typeface="Calibri" pitchFamily="34" charset="0"/>
                <a:ea typeface="Calibri" pitchFamily="34" charset="-122"/>
                <a:cs typeface="Calibri" pitchFamily="34" charset="-120"/>
              </a:rPr>
              <a:t>The order failed at 18:43:12. Here is the stack trace.</a:t>
            </a:r>
            <a:endParaRPr lang="en-US" sz="1200" dirty="0"/>
          </a:p>
        </p:txBody>
      </p:sp>
      <p:sp>
        <p:nvSpPr>
          <p:cNvPr id="12" name="Shape 9"/>
          <p:cNvSpPr/>
          <p:nvPr/>
        </p:nvSpPr>
        <p:spPr>
          <a:xfrm>
            <a:off x="594360" y="3337560"/>
            <a:ext cx="10881360" cy="841248"/>
          </a:xfrm>
          <a:prstGeom prst="roundRect">
            <a:avLst>
              <a:gd name="adj" fmla="val 8696"/>
            </a:avLst>
          </a:prstGeom>
          <a:solidFill>
            <a:srgbClr val="E4E9F5"/>
          </a:solidFill>
          <a:ln w="12700">
            <a:solidFill>
              <a:srgbClr val="E4E9F5"/>
            </a:solidFill>
            <a:prstDash val="solid"/>
          </a:ln>
        </p:spPr>
      </p:sp>
      <p:sp>
        <p:nvSpPr>
          <p:cNvPr id="13" name="Text 10"/>
          <p:cNvSpPr/>
          <p:nvPr/>
        </p:nvSpPr>
        <p:spPr>
          <a:xfrm>
            <a:off x="914400" y="3337560"/>
            <a:ext cx="1371600" cy="841248"/>
          </a:xfrm>
          <a:prstGeom prst="rect">
            <a:avLst/>
          </a:prstGeom>
          <a:noFill/>
          <a:ln/>
        </p:spPr>
        <p:txBody>
          <a:bodyPr wrap="square" lIns="0" tIns="0" rIns="0" bIns="0" rtlCol="0" anchor="ctr"/>
          <a:lstStyle/>
          <a:p>
            <a:pPr indent="0" marL="0">
              <a:buNone/>
            </a:pPr>
            <a:r>
              <a:rPr lang="en-US" sz="1700" b="1" dirty="0">
                <a:solidFill>
                  <a:srgbClr val="0755E9"/>
                </a:solidFill>
                <a:latin typeface="Calibri" pitchFamily="34" charset="0"/>
                <a:ea typeface="Calibri" pitchFamily="34" charset="-122"/>
                <a:cs typeface="Calibri" pitchFamily="34" charset="-120"/>
              </a:rPr>
              <a:t>Metrics</a:t>
            </a:r>
            <a:endParaRPr lang="en-US" sz="1700" dirty="0"/>
          </a:p>
        </p:txBody>
      </p:sp>
      <p:sp>
        <p:nvSpPr>
          <p:cNvPr id="14" name="Text 11"/>
          <p:cNvSpPr/>
          <p:nvPr/>
        </p:nvSpPr>
        <p:spPr>
          <a:xfrm>
            <a:off x="2377440" y="3337560"/>
            <a:ext cx="3474720" cy="841248"/>
          </a:xfrm>
          <a:prstGeom prst="rect">
            <a:avLst/>
          </a:prstGeom>
          <a:noFill/>
          <a:ln/>
        </p:spPr>
        <p:txBody>
          <a:bodyPr wrap="square" lIns="0" tIns="0" rIns="0" bIns="0" rtlCol="0" anchor="ctr"/>
          <a:lstStyle/>
          <a:p>
            <a:pPr indent="0" marL="0">
              <a:buNone/>
            </a:pPr>
            <a:r>
              <a:rPr lang="en-US" sz="1400" b="1" dirty="0">
                <a:solidFill>
                  <a:srgbClr val="0A1229"/>
                </a:solidFill>
                <a:latin typeface="Calibri" pitchFamily="34" charset="0"/>
                <a:ea typeface="Calibri" pitchFamily="34" charset="-122"/>
                <a:cs typeface="Calibri" pitchFamily="34" charset="-120"/>
              </a:rPr>
              <a:t>How often, how bad, which way is it trending?</a:t>
            </a:r>
            <a:endParaRPr lang="en-US" sz="1400" dirty="0"/>
          </a:p>
        </p:txBody>
      </p:sp>
      <p:sp>
        <p:nvSpPr>
          <p:cNvPr id="15" name="Text 12"/>
          <p:cNvSpPr/>
          <p:nvPr/>
        </p:nvSpPr>
        <p:spPr>
          <a:xfrm>
            <a:off x="6035040" y="3337560"/>
            <a:ext cx="5120640" cy="841248"/>
          </a:xfrm>
          <a:prstGeom prst="rect">
            <a:avLst/>
          </a:prstGeom>
          <a:noFill/>
          <a:ln/>
        </p:spPr>
        <p:txBody>
          <a:bodyPr wrap="square" lIns="0" tIns="0" rIns="0" bIns="0" rtlCol="0" anchor="ctr"/>
          <a:lstStyle/>
          <a:p>
            <a:pPr indent="0" marL="0">
              <a:buNone/>
            </a:pPr>
            <a:r>
              <a:rPr lang="en-US" sz="1200" i="1" dirty="0">
                <a:solidFill>
                  <a:srgbClr val="5A6890"/>
                </a:solidFill>
                <a:latin typeface="Calibri" pitchFamily="34" charset="0"/>
                <a:ea typeface="Calibri" pitchFamily="34" charset="-122"/>
                <a:cs typeface="Calibri" pitchFamily="34" charset="-120"/>
              </a:rPr>
              <a:t>Error rate went from 0.1% to 6% in ninety seconds.</a:t>
            </a:r>
            <a:endParaRPr lang="en-US" sz="1200" dirty="0"/>
          </a:p>
        </p:txBody>
      </p:sp>
      <p:sp>
        <p:nvSpPr>
          <p:cNvPr id="16" name="Shape 13"/>
          <p:cNvSpPr/>
          <p:nvPr/>
        </p:nvSpPr>
        <p:spPr>
          <a:xfrm>
            <a:off x="594360" y="4297680"/>
            <a:ext cx="10881360" cy="841248"/>
          </a:xfrm>
          <a:prstGeom prst="roundRect">
            <a:avLst>
              <a:gd name="adj" fmla="val 8696"/>
            </a:avLst>
          </a:prstGeom>
          <a:solidFill>
            <a:srgbClr val="E4E9F5"/>
          </a:solidFill>
          <a:ln w="12700">
            <a:solidFill>
              <a:srgbClr val="E4E9F5"/>
            </a:solidFill>
            <a:prstDash val="solid"/>
          </a:ln>
        </p:spPr>
      </p:sp>
      <p:sp>
        <p:nvSpPr>
          <p:cNvPr id="17" name="Text 14"/>
          <p:cNvSpPr/>
          <p:nvPr/>
        </p:nvSpPr>
        <p:spPr>
          <a:xfrm>
            <a:off x="914400" y="4297680"/>
            <a:ext cx="1371600" cy="841248"/>
          </a:xfrm>
          <a:prstGeom prst="rect">
            <a:avLst/>
          </a:prstGeom>
          <a:noFill/>
          <a:ln/>
        </p:spPr>
        <p:txBody>
          <a:bodyPr wrap="square" lIns="0" tIns="0" rIns="0" bIns="0" rtlCol="0" anchor="ctr"/>
          <a:lstStyle/>
          <a:p>
            <a:pPr indent="0" marL="0">
              <a:buNone/>
            </a:pPr>
            <a:r>
              <a:rPr lang="en-US" sz="1700" b="1" dirty="0">
                <a:solidFill>
                  <a:srgbClr val="0755E9"/>
                </a:solidFill>
                <a:latin typeface="Calibri" pitchFamily="34" charset="0"/>
                <a:ea typeface="Calibri" pitchFamily="34" charset="-122"/>
                <a:cs typeface="Calibri" pitchFamily="34" charset="-120"/>
              </a:rPr>
              <a:t>Traces</a:t>
            </a:r>
            <a:endParaRPr lang="en-US" sz="1700" dirty="0"/>
          </a:p>
        </p:txBody>
      </p:sp>
      <p:sp>
        <p:nvSpPr>
          <p:cNvPr id="18" name="Text 15"/>
          <p:cNvSpPr/>
          <p:nvPr/>
        </p:nvSpPr>
        <p:spPr>
          <a:xfrm>
            <a:off x="2377440" y="4297680"/>
            <a:ext cx="3474720" cy="841248"/>
          </a:xfrm>
          <a:prstGeom prst="rect">
            <a:avLst/>
          </a:prstGeom>
          <a:noFill/>
          <a:ln/>
        </p:spPr>
        <p:txBody>
          <a:bodyPr wrap="square" lIns="0" tIns="0" rIns="0" bIns="0" rtlCol="0" anchor="ctr"/>
          <a:lstStyle/>
          <a:p>
            <a:pPr indent="0" marL="0">
              <a:buNone/>
            </a:pPr>
            <a:r>
              <a:rPr lang="en-US" sz="1400" b="1" dirty="0">
                <a:solidFill>
                  <a:srgbClr val="0A1229"/>
                </a:solidFill>
                <a:latin typeface="Calibri" pitchFamily="34" charset="0"/>
                <a:ea typeface="Calibri" pitchFamily="34" charset="-122"/>
                <a:cs typeface="Calibri" pitchFamily="34" charset="-120"/>
              </a:rPr>
              <a:t>Where in the chain did it go wrong?</a:t>
            </a:r>
            <a:endParaRPr lang="en-US" sz="1400" dirty="0"/>
          </a:p>
        </p:txBody>
      </p:sp>
      <p:sp>
        <p:nvSpPr>
          <p:cNvPr id="19" name="Text 16"/>
          <p:cNvSpPr/>
          <p:nvPr/>
        </p:nvSpPr>
        <p:spPr>
          <a:xfrm>
            <a:off x="6035040" y="4297680"/>
            <a:ext cx="5120640" cy="841248"/>
          </a:xfrm>
          <a:prstGeom prst="rect">
            <a:avLst/>
          </a:prstGeom>
          <a:noFill/>
          <a:ln/>
        </p:spPr>
        <p:txBody>
          <a:bodyPr wrap="square" lIns="0" tIns="0" rIns="0" bIns="0" rtlCol="0" anchor="ctr"/>
          <a:lstStyle/>
          <a:p>
            <a:pPr indent="0" marL="0">
              <a:buNone/>
            </a:pPr>
            <a:r>
              <a:rPr lang="en-US" sz="1200" i="1" dirty="0">
                <a:solidFill>
                  <a:srgbClr val="5A6890"/>
                </a:solidFill>
                <a:latin typeface="Calibri" pitchFamily="34" charset="0"/>
                <a:ea typeface="Calibri" pitchFamily="34" charset="-122"/>
                <a:cs typeface="Calibri" pitchFamily="34" charset="-120"/>
              </a:rPr>
              <a:t>Orders was fine. Dispatch took 8 seconds. It was waiting on the database.</a:t>
            </a:r>
            <a:endParaRPr lang="en-US" sz="1200" dirty="0"/>
          </a:p>
        </p:txBody>
      </p:sp>
      <p:sp>
        <p:nvSpPr>
          <p:cNvPr id="20" name="Shape 17"/>
          <p:cNvSpPr/>
          <p:nvPr/>
        </p:nvSpPr>
        <p:spPr>
          <a:xfrm>
            <a:off x="594360" y="5257800"/>
            <a:ext cx="10881360" cy="841248"/>
          </a:xfrm>
          <a:prstGeom prst="roundRect">
            <a:avLst>
              <a:gd name="adj" fmla="val 8696"/>
            </a:avLst>
          </a:prstGeom>
          <a:solidFill>
            <a:srgbClr val="E4E9F5"/>
          </a:solidFill>
          <a:ln w="12700">
            <a:solidFill>
              <a:srgbClr val="E4E9F5"/>
            </a:solidFill>
            <a:prstDash val="solid"/>
          </a:ln>
        </p:spPr>
      </p:sp>
      <p:sp>
        <p:nvSpPr>
          <p:cNvPr id="21" name="Text 18"/>
          <p:cNvSpPr/>
          <p:nvPr/>
        </p:nvSpPr>
        <p:spPr>
          <a:xfrm>
            <a:off x="914400" y="5257800"/>
            <a:ext cx="1371600" cy="841248"/>
          </a:xfrm>
          <a:prstGeom prst="rect">
            <a:avLst/>
          </a:prstGeom>
          <a:noFill/>
          <a:ln/>
        </p:spPr>
        <p:txBody>
          <a:bodyPr wrap="square" lIns="0" tIns="0" rIns="0" bIns="0" rtlCol="0" anchor="ctr"/>
          <a:lstStyle/>
          <a:p>
            <a:pPr indent="0" marL="0">
              <a:buNone/>
            </a:pPr>
            <a:r>
              <a:rPr lang="en-US" sz="1700" b="1" dirty="0">
                <a:solidFill>
                  <a:srgbClr val="0755E9"/>
                </a:solidFill>
                <a:latin typeface="Calibri" pitchFamily="34" charset="0"/>
                <a:ea typeface="Calibri" pitchFamily="34" charset="-122"/>
                <a:cs typeface="Calibri" pitchFamily="34" charset="-120"/>
              </a:rPr>
              <a:t>Profiles</a:t>
            </a:r>
            <a:endParaRPr lang="en-US" sz="1700" dirty="0"/>
          </a:p>
        </p:txBody>
      </p:sp>
      <p:sp>
        <p:nvSpPr>
          <p:cNvPr id="22" name="Text 19"/>
          <p:cNvSpPr/>
          <p:nvPr/>
        </p:nvSpPr>
        <p:spPr>
          <a:xfrm>
            <a:off x="2377440" y="5257800"/>
            <a:ext cx="3474720" cy="841248"/>
          </a:xfrm>
          <a:prstGeom prst="rect">
            <a:avLst/>
          </a:prstGeom>
          <a:noFill/>
          <a:ln/>
        </p:spPr>
        <p:txBody>
          <a:bodyPr wrap="square" lIns="0" tIns="0" rIns="0" bIns="0" rtlCol="0" anchor="ctr"/>
          <a:lstStyle/>
          <a:p>
            <a:pPr indent="0" marL="0">
              <a:buNone/>
            </a:pPr>
            <a:r>
              <a:rPr lang="en-US" sz="1400" b="1" dirty="0">
                <a:solidFill>
                  <a:srgbClr val="0A1229"/>
                </a:solidFill>
                <a:latin typeface="Calibri" pitchFamily="34" charset="0"/>
                <a:ea typeface="Calibri" pitchFamily="34" charset="-122"/>
                <a:cs typeface="Calibri" pitchFamily="34" charset="-120"/>
              </a:rPr>
              <a:t>Which line of code is burning the CPU?</a:t>
            </a:r>
            <a:endParaRPr lang="en-US" sz="1400" dirty="0"/>
          </a:p>
        </p:txBody>
      </p:sp>
      <p:sp>
        <p:nvSpPr>
          <p:cNvPr id="23" name="Text 20"/>
          <p:cNvSpPr/>
          <p:nvPr/>
        </p:nvSpPr>
        <p:spPr>
          <a:xfrm>
            <a:off x="6035040" y="5257800"/>
            <a:ext cx="5120640" cy="841248"/>
          </a:xfrm>
          <a:prstGeom prst="rect">
            <a:avLst/>
          </a:prstGeom>
          <a:noFill/>
          <a:ln/>
        </p:spPr>
        <p:txBody>
          <a:bodyPr wrap="square" lIns="0" tIns="0" rIns="0" bIns="0" rtlCol="0" anchor="ctr"/>
          <a:lstStyle/>
          <a:p>
            <a:pPr indent="0" marL="0">
              <a:buNone/>
            </a:pPr>
            <a:r>
              <a:rPr lang="en-US" sz="1200" i="1" dirty="0">
                <a:solidFill>
                  <a:srgbClr val="5A6890"/>
                </a:solidFill>
                <a:latin typeface="Calibri" pitchFamily="34" charset="0"/>
                <a:ea typeface="Calibri" pitchFamily="34" charset="-122"/>
                <a:cs typeface="Calibri" pitchFamily="34" charset="-120"/>
              </a:rPr>
              <a:t>One function. 71% of the time. Somebody wrote a loop inside a loop.</a:t>
            </a:r>
            <a:endParaRPr lang="en-US" sz="1200" dirty="0"/>
          </a:p>
        </p:txBody>
      </p:sp>
      <p:sp>
        <p:nvSpPr>
          <p:cNvPr id="24" name="Shape 21"/>
          <p:cNvSpPr/>
          <p:nvPr/>
        </p:nvSpPr>
        <p:spPr>
          <a:xfrm>
            <a:off x="594360" y="6263640"/>
            <a:ext cx="10881360" cy="457200"/>
          </a:xfrm>
          <a:prstGeom prst="roundRect">
            <a:avLst>
              <a:gd name="adj" fmla="val 16000"/>
            </a:avLst>
          </a:prstGeom>
          <a:solidFill>
            <a:srgbClr val="E4E9F5"/>
          </a:solidFill>
          <a:ln w="12700">
            <a:solidFill>
              <a:srgbClr val="E4E9F5"/>
            </a:solidFill>
            <a:prstDash val="solid"/>
          </a:ln>
        </p:spPr>
      </p:sp>
      <p:sp>
        <p:nvSpPr>
          <p:cNvPr id="25" name="Text 22"/>
          <p:cNvSpPr/>
          <p:nvPr/>
        </p:nvSpPr>
        <p:spPr>
          <a:xfrm>
            <a:off x="914400" y="6263640"/>
            <a:ext cx="10241280" cy="457200"/>
          </a:xfrm>
          <a:prstGeom prst="rect">
            <a:avLst/>
          </a:prstGeom>
          <a:noFill/>
          <a:ln/>
        </p:spPr>
        <p:txBody>
          <a:bodyPr wrap="square" lIns="0" tIns="0" rIns="0" bIns="0" rtlCol="0" anchor="ctr"/>
          <a:lstStyle/>
          <a:p>
            <a:pPr indent="0" marL="0">
              <a:buNone/>
            </a:pPr>
            <a:r>
              <a:rPr lang="en-US" sz="1400" b="1" dirty="0">
                <a:solidFill>
                  <a:srgbClr val="0A1229"/>
                </a:solidFill>
                <a:latin typeface="Calibri" pitchFamily="34" charset="0"/>
                <a:ea typeface="Calibri" pitchFamily="34" charset="-122"/>
                <a:cs typeface="Calibri" pitchFamily="34" charset="-120"/>
              </a:rPr>
              <a:t>One standard covers all four now: OpenTelemetry. Learn it once, use it with any vendor.</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6FB"/>
        </a:solidFill>
      </p:bgPr>
    </p:bg>
    <p:spTree>
      <p:nvGrpSpPr>
        <p:cNvPr id="1" name=""/>
        <p:cNvGrpSpPr/>
        <p:nvPr/>
      </p:nvGrpSpPr>
      <p:grpSpPr>
        <a:xfrm>
          <a:off x="0" y="0"/>
          <a:ext cx="0" cy="0"/>
          <a:chOff x="0" y="0"/>
          <a:chExt cx="0" cy="0"/>
        </a:xfrm>
      </p:grpSpPr>
      <p:sp>
        <p:nvSpPr>
          <p:cNvPr id="3" name="Shape 0"/>
          <p:cNvSpPr/>
          <p:nvPr/>
        </p:nvSpPr>
        <p:spPr>
          <a:xfrm>
            <a:off x="594360" y="384048"/>
            <a:ext cx="384048" cy="384048"/>
          </a:xfrm>
          <a:prstGeom prst="ellipse">
            <a:avLst/>
          </a:prstGeom>
          <a:solidFill>
            <a:srgbClr val="0755E9"/>
          </a:solidFill>
          <a:ln/>
        </p:spPr>
      </p:sp>
      <p:sp>
        <p:nvSpPr>
          <p:cNvPr id="4" name="Text 1"/>
          <p:cNvSpPr/>
          <p:nvPr/>
        </p:nvSpPr>
        <p:spPr>
          <a:xfrm>
            <a:off x="59436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5" name="Text 2"/>
          <p:cNvSpPr/>
          <p:nvPr/>
        </p:nvSpPr>
        <p:spPr>
          <a:xfrm>
            <a:off x="1097280" y="384048"/>
            <a:ext cx="7772400" cy="384048"/>
          </a:xfrm>
          <a:prstGeom prst="rect">
            <a:avLst/>
          </a:prstGeom>
          <a:noFill/>
          <a:ln/>
        </p:spPr>
        <p:txBody>
          <a:bodyPr wrap="square" lIns="0" tIns="0" rIns="0" bIns="0" rtlCol="0" anchor="ctr"/>
          <a:lstStyle/>
          <a:p>
            <a:pPr indent="0" marL="0">
              <a:buNone/>
            </a:pPr>
            <a:r>
              <a:rPr lang="en-US" sz="1100" b="1" spc="200" kern="0" dirty="0">
                <a:solidFill>
                  <a:srgbClr val="5A6890"/>
                </a:solidFill>
                <a:latin typeface="Calibri" pitchFamily="34" charset="0"/>
                <a:ea typeface="Calibri" pitchFamily="34" charset="-122"/>
                <a:cs typeface="Calibri" pitchFamily="34" charset="-120"/>
              </a:rPr>
              <a:t>THE 2026 LAYER</a:t>
            </a:r>
            <a:endParaRPr lang="en-US" sz="1100" dirty="0"/>
          </a:p>
        </p:txBody>
      </p:sp>
      <p:sp>
        <p:nvSpPr>
          <p:cNvPr id="6" name="Text 3"/>
          <p:cNvSpPr/>
          <p:nvPr/>
        </p:nvSpPr>
        <p:spPr>
          <a:xfrm>
            <a:off x="594360" y="960120"/>
            <a:ext cx="10881360" cy="914400"/>
          </a:xfrm>
          <a:prstGeom prst="rect">
            <a:avLst/>
          </a:prstGeom>
          <a:noFill/>
          <a:ln/>
        </p:spPr>
        <p:txBody>
          <a:bodyPr wrap="square" lIns="0" tIns="0" rIns="0" bIns="0" rtlCol="0" anchor="t"/>
          <a:lstStyle/>
          <a:p>
            <a:pPr indent="0" marL="0">
              <a:buNone/>
            </a:pPr>
            <a:r>
              <a:rPr lang="en-US" sz="3600" b="1" dirty="0">
                <a:solidFill>
                  <a:srgbClr val="0A1229"/>
                </a:solidFill>
                <a:latin typeface="Calibri" pitchFamily="34" charset="0"/>
                <a:ea typeface="Calibri" pitchFamily="34" charset="-122"/>
                <a:cs typeface="Calibri" pitchFamily="34" charset="-120"/>
              </a:rPr>
              <a:t>AI is already in this pipeline</a:t>
            </a:r>
            <a:endParaRPr lang="en-US" sz="3600" dirty="0"/>
          </a:p>
        </p:txBody>
      </p:sp>
      <p:sp>
        <p:nvSpPr>
          <p:cNvPr id="7" name="Text 4"/>
          <p:cNvSpPr/>
          <p:nvPr/>
        </p:nvSpPr>
        <p:spPr>
          <a:xfrm>
            <a:off x="594360" y="1783080"/>
            <a:ext cx="10881360" cy="411480"/>
          </a:xfrm>
          <a:prstGeom prst="rect">
            <a:avLst/>
          </a:prstGeom>
          <a:noFill/>
          <a:ln/>
        </p:spPr>
        <p:txBody>
          <a:bodyPr wrap="square" lIns="0" tIns="0" rIns="0" bIns="0" rtlCol="0" anchor="ctr"/>
          <a:lstStyle/>
          <a:p>
            <a:pPr indent="0" marL="0">
              <a:buNone/>
            </a:pPr>
            <a:r>
              <a:rPr lang="en-US" sz="1700" dirty="0">
                <a:solidFill>
                  <a:srgbClr val="5A6890"/>
                </a:solidFill>
                <a:latin typeface="Calibri" pitchFamily="34" charset="0"/>
                <a:ea typeface="Calibri" pitchFamily="34" charset="-122"/>
                <a:cs typeface="Calibri" pitchFamily="34" charset="-120"/>
              </a:rPr>
              <a:t>You have used it since first year. Let us be adults about it.</a:t>
            </a:r>
            <a:endParaRPr lang="en-US" sz="1700" dirty="0"/>
          </a:p>
        </p:txBody>
      </p:sp>
      <p:sp>
        <p:nvSpPr>
          <p:cNvPr id="8" name="Shape 5"/>
          <p:cNvSpPr/>
          <p:nvPr/>
        </p:nvSpPr>
        <p:spPr>
          <a:xfrm>
            <a:off x="594360" y="2377440"/>
            <a:ext cx="10881360" cy="960120"/>
          </a:xfrm>
          <a:prstGeom prst="roundRect">
            <a:avLst>
              <a:gd name="adj" fmla="val 7619"/>
            </a:avLst>
          </a:prstGeom>
          <a:solidFill>
            <a:srgbClr val="E4E9F5"/>
          </a:solidFill>
          <a:ln w="12700">
            <a:solidFill>
              <a:srgbClr val="E4E9F5"/>
            </a:solidFill>
            <a:prstDash val="solid"/>
          </a:ln>
        </p:spPr>
      </p:sp>
      <p:sp>
        <p:nvSpPr>
          <p:cNvPr id="9" name="Text 6"/>
          <p:cNvSpPr/>
          <p:nvPr/>
        </p:nvSpPr>
        <p:spPr>
          <a:xfrm>
            <a:off x="914400" y="2377440"/>
            <a:ext cx="2377440" cy="960120"/>
          </a:xfrm>
          <a:prstGeom prst="rect">
            <a:avLst/>
          </a:prstGeom>
          <a:noFill/>
          <a:ln/>
        </p:spPr>
        <p:txBody>
          <a:bodyPr wrap="square" lIns="0" tIns="0" rIns="0" bIns="0" rtlCol="0" anchor="ctr"/>
          <a:lstStyle/>
          <a:p>
            <a:pPr indent="0" marL="0">
              <a:buNone/>
            </a:pPr>
            <a:r>
              <a:rPr lang="en-US" sz="1500" b="1" dirty="0">
                <a:solidFill>
                  <a:srgbClr val="0755E9"/>
                </a:solidFill>
                <a:latin typeface="Calibri" pitchFamily="34" charset="0"/>
                <a:ea typeface="Calibri" pitchFamily="34" charset="-122"/>
                <a:cs typeface="Calibri" pitchFamily="34" charset="-120"/>
              </a:rPr>
              <a:t>Already normal</a:t>
            </a:r>
            <a:endParaRPr lang="en-US" sz="1500" dirty="0"/>
          </a:p>
        </p:txBody>
      </p:sp>
      <p:sp>
        <p:nvSpPr>
          <p:cNvPr id="10" name="Text 7"/>
          <p:cNvSpPr/>
          <p:nvPr/>
        </p:nvSpPr>
        <p:spPr>
          <a:xfrm>
            <a:off x="3429000" y="2377440"/>
            <a:ext cx="7772400" cy="960120"/>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Code review, test generation, incident summaries, postmortem first drafts. Not novelty - Tuesday.</a:t>
            </a:r>
            <a:endParaRPr lang="en-US" sz="1300" dirty="0"/>
          </a:p>
        </p:txBody>
      </p:sp>
      <p:sp>
        <p:nvSpPr>
          <p:cNvPr id="11" name="Shape 8"/>
          <p:cNvSpPr/>
          <p:nvPr/>
        </p:nvSpPr>
        <p:spPr>
          <a:xfrm>
            <a:off x="594360" y="3474720"/>
            <a:ext cx="10881360" cy="960120"/>
          </a:xfrm>
          <a:prstGeom prst="roundRect">
            <a:avLst>
              <a:gd name="adj" fmla="val 7619"/>
            </a:avLst>
          </a:prstGeom>
          <a:solidFill>
            <a:srgbClr val="E4E9F5"/>
          </a:solidFill>
          <a:ln w="12700">
            <a:solidFill>
              <a:srgbClr val="E4E9F5"/>
            </a:solidFill>
            <a:prstDash val="solid"/>
          </a:ln>
        </p:spPr>
      </p:sp>
      <p:sp>
        <p:nvSpPr>
          <p:cNvPr id="12" name="Text 9"/>
          <p:cNvSpPr/>
          <p:nvPr/>
        </p:nvSpPr>
        <p:spPr>
          <a:xfrm>
            <a:off x="914400" y="3474720"/>
            <a:ext cx="2377440" cy="960120"/>
          </a:xfrm>
          <a:prstGeom prst="rect">
            <a:avLst/>
          </a:prstGeom>
          <a:noFill/>
          <a:ln/>
        </p:spPr>
        <p:txBody>
          <a:bodyPr wrap="square" lIns="0" tIns="0" rIns="0" bIns="0" rtlCol="0" anchor="ctr"/>
          <a:lstStyle/>
          <a:p>
            <a:pPr indent="0" marL="0">
              <a:buNone/>
            </a:pPr>
            <a:r>
              <a:rPr lang="en-US" sz="1500" b="1" dirty="0">
                <a:solidFill>
                  <a:srgbClr val="0755E9"/>
                </a:solidFill>
                <a:latin typeface="Calibri" pitchFamily="34" charset="0"/>
                <a:ea typeface="Calibri" pitchFamily="34" charset="-122"/>
                <a:cs typeface="Calibri" pitchFamily="34" charset="-120"/>
              </a:rPr>
              <a:t>Arriving now</a:t>
            </a:r>
            <a:endParaRPr lang="en-US" sz="1500" dirty="0"/>
          </a:p>
        </p:txBody>
      </p:sp>
      <p:sp>
        <p:nvSpPr>
          <p:cNvPr id="13" name="Text 10"/>
          <p:cNvSpPr/>
          <p:nvPr/>
        </p:nvSpPr>
        <p:spPr>
          <a:xfrm>
            <a:off x="3429000" y="3474720"/>
            <a:ext cx="7772400" cy="960120"/>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Agents that diagnose and propose a fix on their own. The open question is who approves a machine's production change. Nobody has solved this yet - it might be you.</a:t>
            </a:r>
            <a:endParaRPr lang="en-US" sz="1300" dirty="0"/>
          </a:p>
        </p:txBody>
      </p:sp>
      <p:sp>
        <p:nvSpPr>
          <p:cNvPr id="14" name="Shape 11"/>
          <p:cNvSpPr/>
          <p:nvPr/>
        </p:nvSpPr>
        <p:spPr>
          <a:xfrm>
            <a:off x="594360" y="4572000"/>
            <a:ext cx="10881360" cy="960120"/>
          </a:xfrm>
          <a:prstGeom prst="roundRect">
            <a:avLst>
              <a:gd name="adj" fmla="val 7619"/>
            </a:avLst>
          </a:prstGeom>
          <a:solidFill>
            <a:srgbClr val="E4E9F5"/>
          </a:solidFill>
          <a:ln w="12700">
            <a:solidFill>
              <a:srgbClr val="E4E9F5"/>
            </a:solidFill>
            <a:prstDash val="solid"/>
          </a:ln>
        </p:spPr>
      </p:sp>
      <p:sp>
        <p:nvSpPr>
          <p:cNvPr id="15" name="Text 12"/>
          <p:cNvSpPr/>
          <p:nvPr/>
        </p:nvSpPr>
        <p:spPr>
          <a:xfrm>
            <a:off x="914400" y="4572000"/>
            <a:ext cx="2377440" cy="960120"/>
          </a:xfrm>
          <a:prstGeom prst="rect">
            <a:avLst/>
          </a:prstGeom>
          <a:noFill/>
          <a:ln/>
        </p:spPr>
        <p:txBody>
          <a:bodyPr wrap="square" lIns="0" tIns="0" rIns="0" bIns="0" rtlCol="0" anchor="ctr"/>
          <a:lstStyle/>
          <a:p>
            <a:pPr indent="0" marL="0">
              <a:buNone/>
            </a:pPr>
            <a:r>
              <a:rPr lang="en-US" sz="1500" b="1" dirty="0">
                <a:solidFill>
                  <a:srgbClr val="0755E9"/>
                </a:solidFill>
                <a:latin typeface="Calibri" pitchFamily="34" charset="0"/>
                <a:ea typeface="Calibri" pitchFamily="34" charset="-122"/>
                <a:cs typeface="Calibri" pitchFamily="34" charset="-120"/>
              </a:rPr>
              <a:t>Still yours</a:t>
            </a:r>
            <a:endParaRPr lang="en-US" sz="1500" dirty="0"/>
          </a:p>
        </p:txBody>
      </p:sp>
      <p:sp>
        <p:nvSpPr>
          <p:cNvPr id="16" name="Text 13"/>
          <p:cNvSpPr/>
          <p:nvPr/>
        </p:nvSpPr>
        <p:spPr>
          <a:xfrm>
            <a:off x="3429000" y="4572000"/>
            <a:ext cx="7772400" cy="960120"/>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Judgement. Knowing which of four plausible answers is correct for your system, your budget, your users.</a:t>
            </a:r>
            <a:endParaRPr lang="en-US" sz="1300" dirty="0"/>
          </a:p>
        </p:txBody>
      </p:sp>
      <p:sp>
        <p:nvSpPr>
          <p:cNvPr id="17" name="Shape 14"/>
          <p:cNvSpPr/>
          <p:nvPr/>
        </p:nvSpPr>
        <p:spPr>
          <a:xfrm>
            <a:off x="594360" y="5623560"/>
            <a:ext cx="10881360" cy="960120"/>
          </a:xfrm>
          <a:prstGeom prst="roundRect">
            <a:avLst>
              <a:gd name="adj" fmla="val 7619"/>
            </a:avLst>
          </a:prstGeom>
          <a:solidFill>
            <a:srgbClr val="EE4001"/>
          </a:solidFill>
          <a:ln w="12700">
            <a:solidFill>
              <a:srgbClr val="EE4001"/>
            </a:solidFill>
            <a:prstDash val="solid"/>
          </a:ln>
        </p:spPr>
      </p:sp>
      <p:sp>
        <p:nvSpPr>
          <p:cNvPr id="18" name="Text 15"/>
          <p:cNvSpPr/>
          <p:nvPr/>
        </p:nvSpPr>
        <p:spPr>
          <a:xfrm>
            <a:off x="960120" y="5623560"/>
            <a:ext cx="10149840" cy="9601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rule for this rotation: use any tool you like. You must be able to explain every line you ship.</a:t>
            </a:r>
            <a:endParaRPr lang="en-US" sz="1500" dirty="0"/>
          </a:p>
          <a:p>
            <a:pPr indent="0" marL="0">
              <a:buNone/>
            </a:pPr>
            <a:r>
              <a:rPr lang="en-US" sz="1500" b="1" dirty="0">
                <a:solidFill>
                  <a:srgbClr val="FFFFFF"/>
                </a:solidFill>
                <a:latin typeface="Calibri" pitchFamily="34" charset="0"/>
                <a:ea typeface="Calibri" pitchFamily="34" charset="-122"/>
                <a:cs typeface="Calibri" pitchFamily="34" charset="-120"/>
              </a:rPr>
              <a:t>If you cannot explain it, you did not write it - and it does not go to production.</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9"/>
        </a:solidFill>
      </p:bgPr>
    </p:bg>
    <p:spTree>
      <p:nvGrpSpPr>
        <p:cNvPr id="1" name=""/>
        <p:cNvGrpSpPr/>
        <p:nvPr/>
      </p:nvGrpSpPr>
      <p:grpSpPr>
        <a:xfrm>
          <a:off x="0" y="0"/>
          <a:ext cx="0" cy="0"/>
          <a:chOff x="0" y="0"/>
          <a:chExt cx="0" cy="0"/>
        </a:xfrm>
      </p:grpSpPr>
      <p:sp>
        <p:nvSpPr>
          <p:cNvPr id="3" name="Shape 0"/>
          <p:cNvSpPr/>
          <p:nvPr/>
        </p:nvSpPr>
        <p:spPr>
          <a:xfrm>
            <a:off x="594360" y="384048"/>
            <a:ext cx="384048" cy="384048"/>
          </a:xfrm>
          <a:prstGeom prst="ellipse">
            <a:avLst/>
          </a:prstGeom>
          <a:solidFill>
            <a:srgbClr val="0755E9"/>
          </a:solidFill>
          <a:ln/>
        </p:spPr>
      </p:sp>
      <p:sp>
        <p:nvSpPr>
          <p:cNvPr id="4" name="Text 1"/>
          <p:cNvSpPr/>
          <p:nvPr/>
        </p:nvSpPr>
        <p:spPr>
          <a:xfrm>
            <a:off x="59436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5" name="Text 2"/>
          <p:cNvSpPr/>
          <p:nvPr/>
        </p:nvSpPr>
        <p:spPr>
          <a:xfrm>
            <a:off x="1097280" y="384048"/>
            <a:ext cx="7772400" cy="384048"/>
          </a:xfrm>
          <a:prstGeom prst="rect">
            <a:avLst/>
          </a:prstGeom>
          <a:noFill/>
          <a:ln/>
        </p:spPr>
        <p:txBody>
          <a:bodyPr wrap="square" lIns="0" tIns="0" rIns="0" bIns="0" rtlCol="0" anchor="ctr"/>
          <a:lstStyle/>
          <a:p>
            <a:pPr indent="0" marL="0">
              <a:buNone/>
            </a:pPr>
            <a:r>
              <a:rPr lang="en-US" sz="1100" b="1" spc="200" kern="0" dirty="0">
                <a:solidFill>
                  <a:srgbClr val="8A99BF"/>
                </a:solidFill>
                <a:latin typeface="Calibri" pitchFamily="34" charset="0"/>
                <a:ea typeface="Calibri" pitchFamily="34" charset="-122"/>
                <a:cs typeface="Calibri" pitchFamily="34" charset="-120"/>
              </a:rPr>
              <a:t>SIXTY SECONDS</a:t>
            </a:r>
            <a:endParaRPr lang="en-US" sz="1100" dirty="0"/>
          </a:p>
        </p:txBody>
      </p:sp>
      <p:sp>
        <p:nvSpPr>
          <p:cNvPr id="6" name="Text 3"/>
          <p:cNvSpPr/>
          <p:nvPr/>
        </p:nvSpPr>
        <p:spPr>
          <a:xfrm>
            <a:off x="594360" y="960120"/>
            <a:ext cx="10881360" cy="914400"/>
          </a:xfrm>
          <a:prstGeom prst="rect">
            <a:avLst/>
          </a:prstGeom>
          <a:noFill/>
          <a:ln/>
        </p:spPr>
        <p:txBody>
          <a:bodyPr wrap="square" lIns="0" tIns="0" rIns="0" bIns="0" rtlCol="0" anchor="t"/>
          <a:lstStyle/>
          <a:p>
            <a:pPr indent="0" marL="0">
              <a:buNone/>
            </a:pPr>
            <a:r>
              <a:rPr lang="en-US" sz="3600" b="1" dirty="0">
                <a:solidFill>
                  <a:srgbClr val="F4F6FB"/>
                </a:solidFill>
                <a:latin typeface="Calibri" pitchFamily="34" charset="0"/>
                <a:ea typeface="Calibri" pitchFamily="34" charset="-122"/>
                <a:cs typeface="Calibri" pitchFamily="34" charset="-120"/>
              </a:rPr>
              <a:t>Hands up if you think this is true</a:t>
            </a:r>
            <a:endParaRPr lang="en-US" sz="3600" dirty="0"/>
          </a:p>
        </p:txBody>
      </p:sp>
      <p:sp>
        <p:nvSpPr>
          <p:cNvPr id="7" name="Shape 4"/>
          <p:cNvSpPr/>
          <p:nvPr/>
        </p:nvSpPr>
        <p:spPr>
          <a:xfrm>
            <a:off x="594360" y="2103120"/>
            <a:ext cx="8778240" cy="658368"/>
          </a:xfrm>
          <a:prstGeom prst="roundRect">
            <a:avLst>
              <a:gd name="adj" fmla="val 11111"/>
            </a:avLst>
          </a:prstGeom>
          <a:solidFill>
            <a:srgbClr val="17224A"/>
          </a:solidFill>
          <a:ln w="12700">
            <a:solidFill>
              <a:srgbClr val="17224A"/>
            </a:solidFill>
            <a:prstDash val="solid"/>
          </a:ln>
        </p:spPr>
      </p:sp>
      <p:sp>
        <p:nvSpPr>
          <p:cNvPr id="8" name="Text 5"/>
          <p:cNvSpPr/>
          <p:nvPr/>
        </p:nvSpPr>
        <p:spPr>
          <a:xfrm>
            <a:off x="960120" y="2103120"/>
            <a:ext cx="8229600" cy="658368"/>
          </a:xfrm>
          <a:prstGeom prst="rect">
            <a:avLst/>
          </a:prstGeom>
          <a:noFill/>
          <a:ln/>
        </p:spPr>
        <p:txBody>
          <a:bodyPr wrap="square" lIns="0" tIns="0" rIns="0" bIns="0" rtlCol="0" anchor="ctr"/>
          <a:lstStyle/>
          <a:p>
            <a:pPr indent="0" marL="0">
              <a:buNone/>
            </a:pPr>
            <a:r>
              <a:rPr lang="en-US" sz="1700" dirty="0">
                <a:solidFill>
                  <a:srgbClr val="F4F6FB"/>
                </a:solidFill>
                <a:latin typeface="Calibri" pitchFamily="34" charset="0"/>
                <a:ea typeface="Calibri" pitchFamily="34" charset="-122"/>
                <a:cs typeface="Calibri" pitchFamily="34" charset="-120"/>
              </a:rPr>
              <a:t>DevOps means CI/CD</a:t>
            </a:r>
            <a:endParaRPr lang="en-US" sz="1700" dirty="0"/>
          </a:p>
        </p:txBody>
      </p:sp>
      <p:sp>
        <p:nvSpPr>
          <p:cNvPr id="9" name="Shape 6"/>
          <p:cNvSpPr/>
          <p:nvPr/>
        </p:nvSpPr>
        <p:spPr>
          <a:xfrm>
            <a:off x="594360" y="2880360"/>
            <a:ext cx="8778240" cy="658368"/>
          </a:xfrm>
          <a:prstGeom prst="roundRect">
            <a:avLst>
              <a:gd name="adj" fmla="val 11111"/>
            </a:avLst>
          </a:prstGeom>
          <a:solidFill>
            <a:srgbClr val="17224A"/>
          </a:solidFill>
          <a:ln w="12700">
            <a:solidFill>
              <a:srgbClr val="17224A"/>
            </a:solidFill>
            <a:prstDash val="solid"/>
          </a:ln>
        </p:spPr>
      </p:sp>
      <p:sp>
        <p:nvSpPr>
          <p:cNvPr id="10" name="Text 7"/>
          <p:cNvSpPr/>
          <p:nvPr/>
        </p:nvSpPr>
        <p:spPr>
          <a:xfrm>
            <a:off x="960120" y="2880360"/>
            <a:ext cx="8229600" cy="658368"/>
          </a:xfrm>
          <a:prstGeom prst="rect">
            <a:avLst/>
          </a:prstGeom>
          <a:noFill/>
          <a:ln/>
        </p:spPr>
        <p:txBody>
          <a:bodyPr wrap="square" lIns="0" tIns="0" rIns="0" bIns="0" rtlCol="0" anchor="ctr"/>
          <a:lstStyle/>
          <a:p>
            <a:pPr indent="0" marL="0">
              <a:buNone/>
            </a:pPr>
            <a:r>
              <a:rPr lang="en-US" sz="1700" dirty="0">
                <a:solidFill>
                  <a:srgbClr val="F4F6FB"/>
                </a:solidFill>
                <a:latin typeface="Calibri" pitchFamily="34" charset="0"/>
                <a:ea typeface="Calibri" pitchFamily="34" charset="-122"/>
                <a:cs typeface="Calibri" pitchFamily="34" charset="-120"/>
              </a:rPr>
              <a:t>DevOps means we do not need an ops team</a:t>
            </a:r>
            <a:endParaRPr lang="en-US" sz="1700" dirty="0"/>
          </a:p>
        </p:txBody>
      </p:sp>
      <p:sp>
        <p:nvSpPr>
          <p:cNvPr id="11" name="Shape 8"/>
          <p:cNvSpPr/>
          <p:nvPr/>
        </p:nvSpPr>
        <p:spPr>
          <a:xfrm>
            <a:off x="594360" y="3657600"/>
            <a:ext cx="8778240" cy="658368"/>
          </a:xfrm>
          <a:prstGeom prst="roundRect">
            <a:avLst>
              <a:gd name="adj" fmla="val 11111"/>
            </a:avLst>
          </a:prstGeom>
          <a:solidFill>
            <a:srgbClr val="17224A"/>
          </a:solidFill>
          <a:ln w="12700">
            <a:solidFill>
              <a:srgbClr val="17224A"/>
            </a:solidFill>
            <a:prstDash val="solid"/>
          </a:ln>
        </p:spPr>
      </p:sp>
      <p:sp>
        <p:nvSpPr>
          <p:cNvPr id="12" name="Text 9"/>
          <p:cNvSpPr/>
          <p:nvPr/>
        </p:nvSpPr>
        <p:spPr>
          <a:xfrm>
            <a:off x="960120" y="3657600"/>
            <a:ext cx="8229600" cy="658368"/>
          </a:xfrm>
          <a:prstGeom prst="rect">
            <a:avLst/>
          </a:prstGeom>
          <a:noFill/>
          <a:ln/>
        </p:spPr>
        <p:txBody>
          <a:bodyPr wrap="square" lIns="0" tIns="0" rIns="0" bIns="0" rtlCol="0" anchor="ctr"/>
          <a:lstStyle/>
          <a:p>
            <a:pPr indent="0" marL="0">
              <a:buNone/>
            </a:pPr>
            <a:r>
              <a:rPr lang="en-US" sz="1700" dirty="0">
                <a:solidFill>
                  <a:srgbClr val="F4F6FB"/>
                </a:solidFill>
                <a:latin typeface="Calibri" pitchFamily="34" charset="0"/>
                <a:ea typeface="Calibri" pitchFamily="34" charset="-122"/>
                <a:cs typeface="Calibri" pitchFamily="34" charset="-120"/>
              </a:rPr>
              <a:t>DevOps is about picking the right tools</a:t>
            </a:r>
            <a:endParaRPr lang="en-US" sz="1700" dirty="0"/>
          </a:p>
        </p:txBody>
      </p:sp>
      <p:sp>
        <p:nvSpPr>
          <p:cNvPr id="13" name="Shape 10"/>
          <p:cNvSpPr/>
          <p:nvPr/>
        </p:nvSpPr>
        <p:spPr>
          <a:xfrm>
            <a:off x="594360" y="4434840"/>
            <a:ext cx="8778240" cy="658368"/>
          </a:xfrm>
          <a:prstGeom prst="roundRect">
            <a:avLst>
              <a:gd name="adj" fmla="val 11111"/>
            </a:avLst>
          </a:prstGeom>
          <a:solidFill>
            <a:srgbClr val="17224A"/>
          </a:solidFill>
          <a:ln w="12700">
            <a:solidFill>
              <a:srgbClr val="17224A"/>
            </a:solidFill>
            <a:prstDash val="solid"/>
          </a:ln>
        </p:spPr>
      </p:sp>
      <p:sp>
        <p:nvSpPr>
          <p:cNvPr id="14" name="Text 11"/>
          <p:cNvSpPr/>
          <p:nvPr/>
        </p:nvSpPr>
        <p:spPr>
          <a:xfrm>
            <a:off x="960120" y="4434840"/>
            <a:ext cx="8229600" cy="658368"/>
          </a:xfrm>
          <a:prstGeom prst="rect">
            <a:avLst/>
          </a:prstGeom>
          <a:noFill/>
          <a:ln/>
        </p:spPr>
        <p:txBody>
          <a:bodyPr wrap="square" lIns="0" tIns="0" rIns="0" bIns="0" rtlCol="0" anchor="ctr"/>
          <a:lstStyle/>
          <a:p>
            <a:pPr indent="0" marL="0">
              <a:buNone/>
            </a:pPr>
            <a:r>
              <a:rPr lang="en-US" sz="1700" dirty="0">
                <a:solidFill>
                  <a:srgbClr val="F4F6FB"/>
                </a:solidFill>
                <a:latin typeface="Calibri" pitchFamily="34" charset="0"/>
                <a:ea typeface="Calibri" pitchFamily="34" charset="-122"/>
                <a:cs typeface="Calibri" pitchFamily="34" charset="-120"/>
              </a:rPr>
              <a:t>Automate everything and the bottlenecks go away</a:t>
            </a:r>
            <a:endParaRPr lang="en-US" sz="1700" dirty="0"/>
          </a:p>
        </p:txBody>
      </p:sp>
      <p:sp>
        <p:nvSpPr>
          <p:cNvPr id="15" name="Shape 12"/>
          <p:cNvSpPr/>
          <p:nvPr/>
        </p:nvSpPr>
        <p:spPr>
          <a:xfrm>
            <a:off x="594360" y="5212080"/>
            <a:ext cx="8778240" cy="658368"/>
          </a:xfrm>
          <a:prstGeom prst="roundRect">
            <a:avLst>
              <a:gd name="adj" fmla="val 11111"/>
            </a:avLst>
          </a:prstGeom>
          <a:solidFill>
            <a:srgbClr val="17224A"/>
          </a:solidFill>
          <a:ln w="12700">
            <a:solidFill>
              <a:srgbClr val="17224A"/>
            </a:solidFill>
            <a:prstDash val="solid"/>
          </a:ln>
        </p:spPr>
      </p:sp>
      <p:sp>
        <p:nvSpPr>
          <p:cNvPr id="16" name="Text 13"/>
          <p:cNvSpPr/>
          <p:nvPr/>
        </p:nvSpPr>
        <p:spPr>
          <a:xfrm>
            <a:off x="960120" y="5212080"/>
            <a:ext cx="8229600" cy="658368"/>
          </a:xfrm>
          <a:prstGeom prst="rect">
            <a:avLst/>
          </a:prstGeom>
          <a:noFill/>
          <a:ln/>
        </p:spPr>
        <p:txBody>
          <a:bodyPr wrap="square" lIns="0" tIns="0" rIns="0" bIns="0" rtlCol="0" anchor="ctr"/>
          <a:lstStyle/>
          <a:p>
            <a:pPr indent="0" marL="0">
              <a:buNone/>
            </a:pPr>
            <a:r>
              <a:rPr lang="en-US" sz="1700" dirty="0">
                <a:solidFill>
                  <a:srgbClr val="F4F6FB"/>
                </a:solidFill>
                <a:latin typeface="Calibri" pitchFamily="34" charset="0"/>
                <a:ea typeface="Calibri" pitchFamily="34" charset="-122"/>
                <a:cs typeface="Calibri" pitchFamily="34" charset="-120"/>
              </a:rPr>
              <a:t>We should do what Netflix does</a:t>
            </a:r>
            <a:endParaRPr lang="en-US" sz="1700" dirty="0"/>
          </a:p>
        </p:txBody>
      </p:sp>
      <p:sp>
        <p:nvSpPr>
          <p:cNvPr id="17" name="Text 14"/>
          <p:cNvSpPr/>
          <p:nvPr/>
        </p:nvSpPr>
        <p:spPr>
          <a:xfrm>
            <a:off x="9646920" y="3108960"/>
            <a:ext cx="2011680" cy="548640"/>
          </a:xfrm>
          <a:prstGeom prst="rect">
            <a:avLst/>
          </a:prstGeom>
          <a:noFill/>
          <a:ln/>
        </p:spPr>
        <p:txBody>
          <a:bodyPr wrap="square" lIns="0" tIns="0" rIns="0" bIns="0" rtlCol="0" anchor="ctr"/>
          <a:lstStyle/>
          <a:p>
            <a:pPr algn="ctr" indent="0" marL="0">
              <a:buNone/>
            </a:pPr>
            <a:r>
              <a:rPr lang="en-US" sz="2200" b="1" dirty="0">
                <a:solidFill>
                  <a:srgbClr val="8A99BF"/>
                </a:solidFill>
                <a:latin typeface="Calibri" pitchFamily="34" charset="0"/>
                <a:ea typeface="Calibri" pitchFamily="34" charset="-122"/>
                <a:cs typeface="Calibri" pitchFamily="34" charset="-120"/>
              </a:rPr>
              <a:t>All five</a:t>
            </a:r>
            <a:endParaRPr lang="en-US" sz="2200" dirty="0"/>
          </a:p>
        </p:txBody>
      </p:sp>
      <p:sp>
        <p:nvSpPr>
          <p:cNvPr id="18" name="Text 15"/>
          <p:cNvSpPr/>
          <p:nvPr/>
        </p:nvSpPr>
        <p:spPr>
          <a:xfrm>
            <a:off x="9464040" y="3657600"/>
            <a:ext cx="2377440" cy="822960"/>
          </a:xfrm>
          <a:prstGeom prst="rect">
            <a:avLst/>
          </a:prstGeom>
          <a:noFill/>
          <a:ln/>
        </p:spPr>
        <p:txBody>
          <a:bodyPr wrap="square" lIns="0" tIns="0" rIns="0" bIns="0" rtlCol="0" anchor="ctr"/>
          <a:lstStyle/>
          <a:p>
            <a:pPr algn="ctr" indent="0" marL="0">
              <a:buNone/>
            </a:pPr>
            <a:r>
              <a:rPr lang="en-US" sz="4400" b="1" dirty="0">
                <a:solidFill>
                  <a:srgbClr val="EE4001"/>
                </a:solidFill>
                <a:latin typeface="Calibri" pitchFamily="34" charset="0"/>
                <a:ea typeface="Calibri" pitchFamily="34" charset="-122"/>
                <a:cs typeface="Calibri" pitchFamily="34" charset="-120"/>
              </a:rPr>
              <a:t>FALSE</a:t>
            </a:r>
            <a:endParaRPr lang="en-US" sz="4400" dirty="0"/>
          </a:p>
        </p:txBody>
      </p:sp>
      <p:sp>
        <p:nvSpPr>
          <p:cNvPr id="19" name="Text 16"/>
          <p:cNvSpPr/>
          <p:nvPr/>
        </p:nvSpPr>
        <p:spPr>
          <a:xfrm>
            <a:off x="594360" y="6172200"/>
            <a:ext cx="10881360" cy="365760"/>
          </a:xfrm>
          <a:prstGeom prst="rect">
            <a:avLst/>
          </a:prstGeom>
          <a:noFill/>
          <a:ln/>
        </p:spPr>
        <p:txBody>
          <a:bodyPr wrap="square" lIns="0" tIns="0" rIns="0" bIns="0" rtlCol="0" anchor="ctr"/>
          <a:lstStyle/>
          <a:p>
            <a:pPr indent="0" marL="0">
              <a:buNone/>
            </a:pPr>
            <a:r>
              <a:rPr lang="en-US" sz="1300" i="1" dirty="0">
                <a:solidFill>
                  <a:srgbClr val="5A6890"/>
                </a:solidFill>
                <a:latin typeface="Calibri" pitchFamily="34" charset="0"/>
                <a:ea typeface="Calibri" pitchFamily="34" charset="-122"/>
                <a:cs typeface="Calibri" pitchFamily="34" charset="-120"/>
              </a:rPr>
              <a:t>Ten seconds each. Then we move on.</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9"/>
        </a:solidFill>
      </p:bgPr>
    </p:bg>
    <p:spTree>
      <p:nvGrpSpPr>
        <p:cNvPr id="1" name=""/>
        <p:cNvGrpSpPr/>
        <p:nvPr/>
      </p:nvGrpSpPr>
      <p:grpSpPr>
        <a:xfrm>
          <a:off x="0" y="0"/>
          <a:ext cx="0" cy="0"/>
          <a:chOff x="0" y="0"/>
          <a:chExt cx="0" cy="0"/>
        </a:xfrm>
      </p:grpSpPr>
      <p:sp>
        <p:nvSpPr>
          <p:cNvPr id="3" name="Shape 0"/>
          <p:cNvSpPr/>
          <p:nvPr/>
        </p:nvSpPr>
        <p:spPr>
          <a:xfrm>
            <a:off x="594360" y="384048"/>
            <a:ext cx="384048" cy="384048"/>
          </a:xfrm>
          <a:prstGeom prst="ellipse">
            <a:avLst/>
          </a:prstGeom>
          <a:solidFill>
            <a:srgbClr val="0755E9"/>
          </a:solidFill>
          <a:ln/>
        </p:spPr>
      </p:sp>
      <p:sp>
        <p:nvSpPr>
          <p:cNvPr id="4" name="Text 1"/>
          <p:cNvSpPr/>
          <p:nvPr/>
        </p:nvSpPr>
        <p:spPr>
          <a:xfrm>
            <a:off x="59436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5" name="Text 2"/>
          <p:cNvSpPr/>
          <p:nvPr/>
        </p:nvSpPr>
        <p:spPr>
          <a:xfrm>
            <a:off x="1097280" y="384048"/>
            <a:ext cx="7772400" cy="384048"/>
          </a:xfrm>
          <a:prstGeom prst="rect">
            <a:avLst/>
          </a:prstGeom>
          <a:noFill/>
          <a:ln/>
        </p:spPr>
        <p:txBody>
          <a:bodyPr wrap="square" lIns="0" tIns="0" rIns="0" bIns="0" rtlCol="0" anchor="ctr"/>
          <a:lstStyle/>
          <a:p>
            <a:pPr indent="0" marL="0">
              <a:buNone/>
            </a:pPr>
            <a:r>
              <a:rPr lang="en-US" sz="1100" b="1" spc="200" kern="0" dirty="0">
                <a:solidFill>
                  <a:srgbClr val="8A99BF"/>
                </a:solidFill>
                <a:latin typeface="Calibri" pitchFamily="34" charset="0"/>
                <a:ea typeface="Calibri" pitchFamily="34" charset="-122"/>
                <a:cs typeface="Calibri" pitchFamily="34" charset="-120"/>
              </a:rPr>
              <a:t>THE WEEK</a:t>
            </a:r>
            <a:endParaRPr lang="en-US" sz="1100" dirty="0"/>
          </a:p>
        </p:txBody>
      </p:sp>
      <p:sp>
        <p:nvSpPr>
          <p:cNvPr id="6" name="Text 3"/>
          <p:cNvSpPr/>
          <p:nvPr/>
        </p:nvSpPr>
        <p:spPr>
          <a:xfrm>
            <a:off x="594360" y="960120"/>
            <a:ext cx="10881360" cy="914400"/>
          </a:xfrm>
          <a:prstGeom prst="rect">
            <a:avLst/>
          </a:prstGeom>
          <a:noFill/>
          <a:ln/>
        </p:spPr>
        <p:txBody>
          <a:bodyPr wrap="square" lIns="0" tIns="0" rIns="0" bIns="0" rtlCol="0" anchor="t"/>
          <a:lstStyle/>
          <a:p>
            <a:pPr indent="0" marL="0">
              <a:buNone/>
            </a:pPr>
            <a:r>
              <a:rPr lang="en-US" sz="3600" b="1" dirty="0">
                <a:solidFill>
                  <a:srgbClr val="F4F6FB"/>
                </a:solidFill>
                <a:latin typeface="Calibri" pitchFamily="34" charset="0"/>
                <a:ea typeface="Calibri" pitchFamily="34" charset="-122"/>
                <a:cs typeface="Calibri" pitchFamily="34" charset="-120"/>
              </a:rPr>
              <a:t>Six days, one system</a:t>
            </a:r>
            <a:endParaRPr lang="en-US" sz="3600" dirty="0"/>
          </a:p>
        </p:txBody>
      </p:sp>
      <p:sp>
        <p:nvSpPr>
          <p:cNvPr id="7" name="Shape 4"/>
          <p:cNvSpPr/>
          <p:nvPr/>
        </p:nvSpPr>
        <p:spPr>
          <a:xfrm>
            <a:off x="594360" y="2103120"/>
            <a:ext cx="1673352" cy="3108960"/>
          </a:xfrm>
          <a:prstGeom prst="roundRect">
            <a:avLst>
              <a:gd name="adj" fmla="val 4372"/>
            </a:avLst>
          </a:prstGeom>
          <a:solidFill>
            <a:srgbClr val="17224A"/>
          </a:solidFill>
          <a:ln w="12700">
            <a:solidFill>
              <a:srgbClr val="17224A"/>
            </a:solidFill>
            <a:prstDash val="solid"/>
          </a:ln>
        </p:spPr>
      </p:sp>
      <p:sp>
        <p:nvSpPr>
          <p:cNvPr id="8" name="Text 5"/>
          <p:cNvSpPr/>
          <p:nvPr/>
        </p:nvSpPr>
        <p:spPr>
          <a:xfrm>
            <a:off x="777240" y="2240280"/>
            <a:ext cx="1371600" cy="365760"/>
          </a:xfrm>
          <a:prstGeom prst="rect">
            <a:avLst/>
          </a:prstGeom>
          <a:noFill/>
          <a:ln/>
        </p:spPr>
        <p:txBody>
          <a:bodyPr wrap="square" lIns="0" tIns="0" rIns="0" bIns="0" rtlCol="0" anchor="ctr"/>
          <a:lstStyle/>
          <a:p>
            <a:pPr indent="0" marL="0">
              <a:buNone/>
            </a:pPr>
            <a:r>
              <a:rPr lang="en-US" sz="1200" b="1" spc="100" kern="0" dirty="0">
                <a:solidFill>
                  <a:srgbClr val="5B8CF0"/>
                </a:solidFill>
                <a:latin typeface="Calibri" pitchFamily="34" charset="0"/>
                <a:ea typeface="Calibri" pitchFamily="34" charset="-122"/>
                <a:cs typeface="Calibri" pitchFamily="34" charset="-120"/>
              </a:rPr>
              <a:t>DAY 1</a:t>
            </a:r>
            <a:endParaRPr lang="en-US" sz="1200" dirty="0"/>
          </a:p>
        </p:txBody>
      </p:sp>
      <p:sp>
        <p:nvSpPr>
          <p:cNvPr id="9" name="Text 6"/>
          <p:cNvSpPr/>
          <p:nvPr/>
        </p:nvSpPr>
        <p:spPr>
          <a:xfrm>
            <a:off x="777240" y="2651760"/>
            <a:ext cx="1371600" cy="1051560"/>
          </a:xfrm>
          <a:prstGeom prst="rect">
            <a:avLst/>
          </a:prstGeom>
          <a:noFill/>
          <a:ln/>
        </p:spPr>
        <p:txBody>
          <a:bodyPr wrap="square" lIns="0" tIns="0" rIns="0" bIns="0" rtlCol="0" anchor="ctr"/>
          <a:lstStyle/>
          <a:p>
            <a:pPr indent="0" marL="0">
              <a:buNone/>
            </a:pPr>
            <a:r>
              <a:rPr lang="en-US" sz="1400" b="1" dirty="0">
                <a:solidFill>
                  <a:srgbClr val="F4F6FB"/>
                </a:solidFill>
                <a:latin typeface="Calibri" pitchFamily="34" charset="0"/>
                <a:ea typeface="Calibri" pitchFamily="34" charset="-122"/>
                <a:cs typeface="Calibri" pitchFamily="34" charset="-120"/>
              </a:rPr>
              <a:t>Git, Linux &amp;</a:t>
            </a:r>
            <a:endParaRPr lang="en-US" sz="1400" dirty="0"/>
          </a:p>
          <a:p>
            <a:pPr indent="0" marL="0">
              <a:buNone/>
            </a:pPr>
            <a:r>
              <a:rPr lang="en-US" sz="1400" b="1" dirty="0">
                <a:solidFill>
                  <a:srgbClr val="F4F6FB"/>
                </a:solidFill>
                <a:latin typeface="Calibri" pitchFamily="34" charset="0"/>
                <a:ea typeface="Calibri" pitchFamily="34" charset="-122"/>
                <a:cs typeface="Calibri" pitchFamily="34" charset="-120"/>
              </a:rPr>
              <a:t>Networking</a:t>
            </a:r>
            <a:endParaRPr lang="en-US" sz="1400" dirty="0"/>
          </a:p>
        </p:txBody>
      </p:sp>
      <p:sp>
        <p:nvSpPr>
          <p:cNvPr id="10" name="Text 7"/>
          <p:cNvSpPr/>
          <p:nvPr/>
        </p:nvSpPr>
        <p:spPr>
          <a:xfrm>
            <a:off x="777240" y="3749040"/>
            <a:ext cx="1371600" cy="1005840"/>
          </a:xfrm>
          <a:prstGeom prst="rect">
            <a:avLst/>
          </a:prstGeom>
          <a:noFill/>
          <a:ln/>
        </p:spPr>
        <p:txBody>
          <a:bodyPr wrap="square" lIns="0" tIns="0" rIns="0" bIns="0" rtlCol="0" anchor="ctr"/>
          <a:lstStyle/>
          <a:p>
            <a:pPr indent="0" marL="0">
              <a:buNone/>
            </a:pPr>
            <a:r>
              <a:rPr lang="en-US" sz="1100" dirty="0">
                <a:solidFill>
                  <a:srgbClr val="8A99BF"/>
                </a:solidFill>
                <a:latin typeface="Calibri" pitchFamily="34" charset="0"/>
                <a:ea typeface="Calibri" pitchFamily="34" charset="-122"/>
                <a:cs typeface="Calibri" pitchFamily="34" charset="-120"/>
              </a:rPr>
              <a:t>The ground everything stands on</a:t>
            </a:r>
            <a:endParaRPr lang="en-US" sz="1100" dirty="0"/>
          </a:p>
        </p:txBody>
      </p:sp>
      <p:sp>
        <p:nvSpPr>
          <p:cNvPr id="11" name="Shape 8"/>
          <p:cNvSpPr/>
          <p:nvPr/>
        </p:nvSpPr>
        <p:spPr>
          <a:xfrm>
            <a:off x="2409444" y="2103120"/>
            <a:ext cx="1673352" cy="3108960"/>
          </a:xfrm>
          <a:prstGeom prst="roundRect">
            <a:avLst>
              <a:gd name="adj" fmla="val 4372"/>
            </a:avLst>
          </a:prstGeom>
          <a:solidFill>
            <a:srgbClr val="17224A"/>
          </a:solidFill>
          <a:ln w="12700">
            <a:solidFill>
              <a:srgbClr val="17224A"/>
            </a:solidFill>
            <a:prstDash val="solid"/>
          </a:ln>
        </p:spPr>
      </p:sp>
      <p:sp>
        <p:nvSpPr>
          <p:cNvPr id="12" name="Text 9"/>
          <p:cNvSpPr/>
          <p:nvPr/>
        </p:nvSpPr>
        <p:spPr>
          <a:xfrm>
            <a:off x="2592324" y="2240280"/>
            <a:ext cx="1371600" cy="365760"/>
          </a:xfrm>
          <a:prstGeom prst="rect">
            <a:avLst/>
          </a:prstGeom>
          <a:noFill/>
          <a:ln/>
        </p:spPr>
        <p:txBody>
          <a:bodyPr wrap="square" lIns="0" tIns="0" rIns="0" bIns="0" rtlCol="0" anchor="ctr"/>
          <a:lstStyle/>
          <a:p>
            <a:pPr indent="0" marL="0">
              <a:buNone/>
            </a:pPr>
            <a:r>
              <a:rPr lang="en-US" sz="1200" b="1" spc="100" kern="0" dirty="0">
                <a:solidFill>
                  <a:srgbClr val="5B8CF0"/>
                </a:solidFill>
                <a:latin typeface="Calibri" pitchFamily="34" charset="0"/>
                <a:ea typeface="Calibri" pitchFamily="34" charset="-122"/>
                <a:cs typeface="Calibri" pitchFamily="34" charset="-120"/>
              </a:rPr>
              <a:t>DAY 2</a:t>
            </a:r>
            <a:endParaRPr lang="en-US" sz="1200" dirty="0"/>
          </a:p>
        </p:txBody>
      </p:sp>
      <p:sp>
        <p:nvSpPr>
          <p:cNvPr id="13" name="Text 10"/>
          <p:cNvSpPr/>
          <p:nvPr/>
        </p:nvSpPr>
        <p:spPr>
          <a:xfrm>
            <a:off x="2592324" y="2651760"/>
            <a:ext cx="1371600" cy="1051560"/>
          </a:xfrm>
          <a:prstGeom prst="rect">
            <a:avLst/>
          </a:prstGeom>
          <a:noFill/>
          <a:ln/>
        </p:spPr>
        <p:txBody>
          <a:bodyPr wrap="square" lIns="0" tIns="0" rIns="0" bIns="0" rtlCol="0" anchor="ctr"/>
          <a:lstStyle/>
          <a:p>
            <a:pPr indent="0" marL="0">
              <a:buNone/>
            </a:pPr>
            <a:r>
              <a:rPr lang="en-US" sz="1400" b="1" dirty="0">
                <a:solidFill>
                  <a:srgbClr val="F4F6FB"/>
                </a:solidFill>
                <a:latin typeface="Calibri" pitchFamily="34" charset="0"/>
                <a:ea typeface="Calibri" pitchFamily="34" charset="-122"/>
                <a:cs typeface="Calibri" pitchFamily="34" charset="-120"/>
              </a:rPr>
              <a:t>Cloud &amp;</a:t>
            </a:r>
            <a:endParaRPr lang="en-US" sz="1400" dirty="0"/>
          </a:p>
          <a:p>
            <a:pPr indent="0" marL="0">
              <a:buNone/>
            </a:pPr>
            <a:r>
              <a:rPr lang="en-US" sz="1400" b="1" dirty="0">
                <a:solidFill>
                  <a:srgbClr val="F4F6FB"/>
                </a:solidFill>
                <a:latin typeface="Calibri" pitchFamily="34" charset="0"/>
                <a:ea typeface="Calibri" pitchFamily="34" charset="-122"/>
                <a:cs typeface="Calibri" pitchFamily="34" charset="-120"/>
              </a:rPr>
              <a:t>Terraform</a:t>
            </a:r>
            <a:endParaRPr lang="en-US" sz="1400" dirty="0"/>
          </a:p>
        </p:txBody>
      </p:sp>
      <p:sp>
        <p:nvSpPr>
          <p:cNvPr id="14" name="Text 11"/>
          <p:cNvSpPr/>
          <p:nvPr/>
        </p:nvSpPr>
        <p:spPr>
          <a:xfrm>
            <a:off x="2592324" y="3749040"/>
            <a:ext cx="1371600" cy="1005840"/>
          </a:xfrm>
          <a:prstGeom prst="rect">
            <a:avLst/>
          </a:prstGeom>
          <a:noFill/>
          <a:ln/>
        </p:spPr>
        <p:txBody>
          <a:bodyPr wrap="square" lIns="0" tIns="0" rIns="0" bIns="0" rtlCol="0" anchor="ctr"/>
          <a:lstStyle/>
          <a:p>
            <a:pPr indent="0" marL="0">
              <a:buNone/>
            </a:pPr>
            <a:r>
              <a:rPr lang="en-US" sz="1100" dirty="0">
                <a:solidFill>
                  <a:srgbClr val="8A99BF"/>
                </a:solidFill>
                <a:latin typeface="Calibri" pitchFamily="34" charset="0"/>
                <a:ea typeface="Calibri" pitchFamily="34" charset="-122"/>
                <a:cs typeface="Calibri" pitchFamily="34" charset="-120"/>
              </a:rPr>
              <a:t>Infrastructure you can rebuild</a:t>
            </a:r>
            <a:endParaRPr lang="en-US" sz="1100" dirty="0"/>
          </a:p>
        </p:txBody>
      </p:sp>
      <p:sp>
        <p:nvSpPr>
          <p:cNvPr id="15" name="Shape 12"/>
          <p:cNvSpPr/>
          <p:nvPr/>
        </p:nvSpPr>
        <p:spPr>
          <a:xfrm>
            <a:off x="4224528" y="2103120"/>
            <a:ext cx="1673352" cy="3108960"/>
          </a:xfrm>
          <a:prstGeom prst="roundRect">
            <a:avLst>
              <a:gd name="adj" fmla="val 4372"/>
            </a:avLst>
          </a:prstGeom>
          <a:solidFill>
            <a:srgbClr val="17224A"/>
          </a:solidFill>
          <a:ln w="12700">
            <a:solidFill>
              <a:srgbClr val="17224A"/>
            </a:solidFill>
            <a:prstDash val="solid"/>
          </a:ln>
        </p:spPr>
      </p:sp>
      <p:sp>
        <p:nvSpPr>
          <p:cNvPr id="16" name="Text 13"/>
          <p:cNvSpPr/>
          <p:nvPr/>
        </p:nvSpPr>
        <p:spPr>
          <a:xfrm>
            <a:off x="4407408" y="2240280"/>
            <a:ext cx="1371600" cy="365760"/>
          </a:xfrm>
          <a:prstGeom prst="rect">
            <a:avLst/>
          </a:prstGeom>
          <a:noFill/>
          <a:ln/>
        </p:spPr>
        <p:txBody>
          <a:bodyPr wrap="square" lIns="0" tIns="0" rIns="0" bIns="0" rtlCol="0" anchor="ctr"/>
          <a:lstStyle/>
          <a:p>
            <a:pPr indent="0" marL="0">
              <a:buNone/>
            </a:pPr>
            <a:r>
              <a:rPr lang="en-US" sz="1200" b="1" spc="100" kern="0" dirty="0">
                <a:solidFill>
                  <a:srgbClr val="5B8CF0"/>
                </a:solidFill>
                <a:latin typeface="Calibri" pitchFamily="34" charset="0"/>
                <a:ea typeface="Calibri" pitchFamily="34" charset="-122"/>
                <a:cs typeface="Calibri" pitchFamily="34" charset="-120"/>
              </a:rPr>
              <a:t>DAY 3</a:t>
            </a:r>
            <a:endParaRPr lang="en-US" sz="1200" dirty="0"/>
          </a:p>
        </p:txBody>
      </p:sp>
      <p:sp>
        <p:nvSpPr>
          <p:cNvPr id="17" name="Text 14"/>
          <p:cNvSpPr/>
          <p:nvPr/>
        </p:nvSpPr>
        <p:spPr>
          <a:xfrm>
            <a:off x="4407408" y="2651760"/>
            <a:ext cx="1371600" cy="1051560"/>
          </a:xfrm>
          <a:prstGeom prst="rect">
            <a:avLst/>
          </a:prstGeom>
          <a:noFill/>
          <a:ln/>
        </p:spPr>
        <p:txBody>
          <a:bodyPr wrap="square" lIns="0" tIns="0" rIns="0" bIns="0" rtlCol="0" anchor="ctr"/>
          <a:lstStyle/>
          <a:p>
            <a:pPr indent="0" marL="0">
              <a:buNone/>
            </a:pPr>
            <a:r>
              <a:rPr lang="en-US" sz="1400" b="1" dirty="0">
                <a:solidFill>
                  <a:srgbClr val="F4F6FB"/>
                </a:solidFill>
                <a:latin typeface="Calibri" pitchFamily="34" charset="0"/>
                <a:ea typeface="Calibri" pitchFamily="34" charset="-122"/>
                <a:cs typeface="Calibri" pitchFamily="34" charset="-120"/>
              </a:rPr>
              <a:t>Ansible &amp;</a:t>
            </a:r>
            <a:endParaRPr lang="en-US" sz="1400" dirty="0"/>
          </a:p>
          <a:p>
            <a:pPr indent="0" marL="0">
              <a:buNone/>
            </a:pPr>
            <a:r>
              <a:rPr lang="en-US" sz="1400" b="1" dirty="0">
                <a:solidFill>
                  <a:srgbClr val="F4F6FB"/>
                </a:solidFill>
                <a:latin typeface="Calibri" pitchFamily="34" charset="0"/>
                <a:ea typeface="Calibri" pitchFamily="34" charset="-122"/>
                <a:cs typeface="Calibri" pitchFamily="34" charset="-120"/>
              </a:rPr>
              <a:t>Docker</a:t>
            </a:r>
            <a:endParaRPr lang="en-US" sz="1400" dirty="0"/>
          </a:p>
        </p:txBody>
      </p:sp>
      <p:sp>
        <p:nvSpPr>
          <p:cNvPr id="18" name="Text 15"/>
          <p:cNvSpPr/>
          <p:nvPr/>
        </p:nvSpPr>
        <p:spPr>
          <a:xfrm>
            <a:off x="4407408" y="3749040"/>
            <a:ext cx="1371600" cy="1005840"/>
          </a:xfrm>
          <a:prstGeom prst="rect">
            <a:avLst/>
          </a:prstGeom>
          <a:noFill/>
          <a:ln/>
        </p:spPr>
        <p:txBody>
          <a:bodyPr wrap="square" lIns="0" tIns="0" rIns="0" bIns="0" rtlCol="0" anchor="ctr"/>
          <a:lstStyle/>
          <a:p>
            <a:pPr indent="0" marL="0">
              <a:buNone/>
            </a:pPr>
            <a:r>
              <a:rPr lang="en-US" sz="1100" dirty="0">
                <a:solidFill>
                  <a:srgbClr val="8A99BF"/>
                </a:solidFill>
                <a:latin typeface="Calibri" pitchFamily="34" charset="0"/>
                <a:ea typeface="Calibri" pitchFamily="34" charset="-122"/>
                <a:cs typeface="Calibri" pitchFamily="34" charset="-120"/>
              </a:rPr>
              <a:t>Configure it, then containerise it</a:t>
            </a:r>
            <a:endParaRPr lang="en-US" sz="1100" dirty="0"/>
          </a:p>
        </p:txBody>
      </p:sp>
      <p:sp>
        <p:nvSpPr>
          <p:cNvPr id="19" name="Shape 16"/>
          <p:cNvSpPr/>
          <p:nvPr/>
        </p:nvSpPr>
        <p:spPr>
          <a:xfrm>
            <a:off x="6039612" y="2103120"/>
            <a:ext cx="1673352" cy="3108960"/>
          </a:xfrm>
          <a:prstGeom prst="roundRect">
            <a:avLst>
              <a:gd name="adj" fmla="val 4372"/>
            </a:avLst>
          </a:prstGeom>
          <a:solidFill>
            <a:srgbClr val="17224A"/>
          </a:solidFill>
          <a:ln w="12700">
            <a:solidFill>
              <a:srgbClr val="17224A"/>
            </a:solidFill>
            <a:prstDash val="solid"/>
          </a:ln>
        </p:spPr>
      </p:sp>
      <p:sp>
        <p:nvSpPr>
          <p:cNvPr id="20" name="Text 17"/>
          <p:cNvSpPr/>
          <p:nvPr/>
        </p:nvSpPr>
        <p:spPr>
          <a:xfrm>
            <a:off x="6222492" y="2240280"/>
            <a:ext cx="1371600" cy="365760"/>
          </a:xfrm>
          <a:prstGeom prst="rect">
            <a:avLst/>
          </a:prstGeom>
          <a:noFill/>
          <a:ln/>
        </p:spPr>
        <p:txBody>
          <a:bodyPr wrap="square" lIns="0" tIns="0" rIns="0" bIns="0" rtlCol="0" anchor="ctr"/>
          <a:lstStyle/>
          <a:p>
            <a:pPr indent="0" marL="0">
              <a:buNone/>
            </a:pPr>
            <a:r>
              <a:rPr lang="en-US" sz="1200" b="1" spc="100" kern="0" dirty="0">
                <a:solidFill>
                  <a:srgbClr val="5B8CF0"/>
                </a:solidFill>
                <a:latin typeface="Calibri" pitchFamily="34" charset="0"/>
                <a:ea typeface="Calibri" pitchFamily="34" charset="-122"/>
                <a:cs typeface="Calibri" pitchFamily="34" charset="-120"/>
              </a:rPr>
              <a:t>DAY 4</a:t>
            </a:r>
            <a:endParaRPr lang="en-US" sz="1200" dirty="0"/>
          </a:p>
        </p:txBody>
      </p:sp>
      <p:sp>
        <p:nvSpPr>
          <p:cNvPr id="21" name="Text 18"/>
          <p:cNvSpPr/>
          <p:nvPr/>
        </p:nvSpPr>
        <p:spPr>
          <a:xfrm>
            <a:off x="6222492" y="2651760"/>
            <a:ext cx="1371600" cy="1051560"/>
          </a:xfrm>
          <a:prstGeom prst="rect">
            <a:avLst/>
          </a:prstGeom>
          <a:noFill/>
          <a:ln/>
        </p:spPr>
        <p:txBody>
          <a:bodyPr wrap="square" lIns="0" tIns="0" rIns="0" bIns="0" rtlCol="0" anchor="ctr"/>
          <a:lstStyle/>
          <a:p>
            <a:pPr indent="0" marL="0">
              <a:buNone/>
            </a:pPr>
            <a:r>
              <a:rPr lang="en-US" sz="1400" b="1" dirty="0">
                <a:solidFill>
                  <a:srgbClr val="F4F6FB"/>
                </a:solidFill>
                <a:latin typeface="Calibri" pitchFamily="34" charset="0"/>
                <a:ea typeface="Calibri" pitchFamily="34" charset="-122"/>
                <a:cs typeface="Calibri" pitchFamily="34" charset="-120"/>
              </a:rPr>
              <a:t>CI/CD &amp;</a:t>
            </a:r>
            <a:endParaRPr lang="en-US" sz="1400" dirty="0"/>
          </a:p>
          <a:p>
            <a:pPr indent="0" marL="0">
              <a:buNone/>
            </a:pPr>
            <a:r>
              <a:rPr lang="en-US" sz="1400" b="1" dirty="0">
                <a:solidFill>
                  <a:srgbClr val="F4F6FB"/>
                </a:solidFill>
                <a:latin typeface="Calibri" pitchFamily="34" charset="0"/>
                <a:ea typeface="Calibri" pitchFamily="34" charset="-122"/>
                <a:cs typeface="Calibri" pitchFamily="34" charset="-120"/>
              </a:rPr>
              <a:t>Observability</a:t>
            </a:r>
            <a:endParaRPr lang="en-US" sz="1400" dirty="0"/>
          </a:p>
        </p:txBody>
      </p:sp>
      <p:sp>
        <p:nvSpPr>
          <p:cNvPr id="22" name="Text 19"/>
          <p:cNvSpPr/>
          <p:nvPr/>
        </p:nvSpPr>
        <p:spPr>
          <a:xfrm>
            <a:off x="6222492" y="3749040"/>
            <a:ext cx="1371600" cy="1005840"/>
          </a:xfrm>
          <a:prstGeom prst="rect">
            <a:avLst/>
          </a:prstGeom>
          <a:noFill/>
          <a:ln/>
        </p:spPr>
        <p:txBody>
          <a:bodyPr wrap="square" lIns="0" tIns="0" rIns="0" bIns="0" rtlCol="0" anchor="ctr"/>
          <a:lstStyle/>
          <a:p>
            <a:pPr indent="0" marL="0">
              <a:buNone/>
            </a:pPr>
            <a:r>
              <a:rPr lang="en-US" sz="1100" dirty="0">
                <a:solidFill>
                  <a:srgbClr val="8A99BF"/>
                </a:solidFill>
                <a:latin typeface="Calibri" pitchFamily="34" charset="0"/>
                <a:ea typeface="Calibri" pitchFamily="34" charset="-122"/>
                <a:cs typeface="Calibri" pitchFamily="34" charset="-120"/>
              </a:rPr>
              <a:t>Ship it, then see it</a:t>
            </a:r>
            <a:endParaRPr lang="en-US" sz="1100" dirty="0"/>
          </a:p>
        </p:txBody>
      </p:sp>
      <p:sp>
        <p:nvSpPr>
          <p:cNvPr id="23" name="Shape 20"/>
          <p:cNvSpPr/>
          <p:nvPr/>
        </p:nvSpPr>
        <p:spPr>
          <a:xfrm>
            <a:off x="7854696" y="2103120"/>
            <a:ext cx="1673352" cy="3108960"/>
          </a:xfrm>
          <a:prstGeom prst="roundRect">
            <a:avLst>
              <a:gd name="adj" fmla="val 4372"/>
            </a:avLst>
          </a:prstGeom>
          <a:solidFill>
            <a:srgbClr val="17224A"/>
          </a:solidFill>
          <a:ln w="12700">
            <a:solidFill>
              <a:srgbClr val="17224A"/>
            </a:solidFill>
            <a:prstDash val="solid"/>
          </a:ln>
        </p:spPr>
      </p:sp>
      <p:sp>
        <p:nvSpPr>
          <p:cNvPr id="24" name="Text 21"/>
          <p:cNvSpPr/>
          <p:nvPr/>
        </p:nvSpPr>
        <p:spPr>
          <a:xfrm>
            <a:off x="8037576" y="2240280"/>
            <a:ext cx="1371600" cy="365760"/>
          </a:xfrm>
          <a:prstGeom prst="rect">
            <a:avLst/>
          </a:prstGeom>
          <a:noFill/>
          <a:ln/>
        </p:spPr>
        <p:txBody>
          <a:bodyPr wrap="square" lIns="0" tIns="0" rIns="0" bIns="0" rtlCol="0" anchor="ctr"/>
          <a:lstStyle/>
          <a:p>
            <a:pPr indent="0" marL="0">
              <a:buNone/>
            </a:pPr>
            <a:r>
              <a:rPr lang="en-US" sz="1200" b="1" spc="100" kern="0" dirty="0">
                <a:solidFill>
                  <a:srgbClr val="5B8CF0"/>
                </a:solidFill>
                <a:latin typeface="Calibri" pitchFamily="34" charset="0"/>
                <a:ea typeface="Calibri" pitchFamily="34" charset="-122"/>
                <a:cs typeface="Calibri" pitchFamily="34" charset="-120"/>
              </a:rPr>
              <a:t>DAY 5</a:t>
            </a:r>
            <a:endParaRPr lang="en-US" sz="1200" dirty="0"/>
          </a:p>
        </p:txBody>
      </p:sp>
      <p:sp>
        <p:nvSpPr>
          <p:cNvPr id="25" name="Text 22"/>
          <p:cNvSpPr/>
          <p:nvPr/>
        </p:nvSpPr>
        <p:spPr>
          <a:xfrm>
            <a:off x="8037576" y="2651760"/>
            <a:ext cx="1371600" cy="1051560"/>
          </a:xfrm>
          <a:prstGeom prst="rect">
            <a:avLst/>
          </a:prstGeom>
          <a:noFill/>
          <a:ln/>
        </p:spPr>
        <p:txBody>
          <a:bodyPr wrap="square" lIns="0" tIns="0" rIns="0" bIns="0" rtlCol="0" anchor="ctr"/>
          <a:lstStyle/>
          <a:p>
            <a:pPr indent="0" marL="0">
              <a:buNone/>
            </a:pPr>
            <a:r>
              <a:rPr lang="en-US" sz="1400" b="1" dirty="0">
                <a:solidFill>
                  <a:srgbClr val="F4F6FB"/>
                </a:solidFill>
                <a:latin typeface="Calibri" pitchFamily="34" charset="0"/>
                <a:ea typeface="Calibri" pitchFamily="34" charset="-122"/>
                <a:cs typeface="Calibri" pitchFamily="34" charset="-120"/>
              </a:rPr>
              <a:t>DevSecOps</a:t>
            </a:r>
            <a:endParaRPr lang="en-US" sz="1400" dirty="0"/>
          </a:p>
        </p:txBody>
      </p:sp>
      <p:sp>
        <p:nvSpPr>
          <p:cNvPr id="26" name="Text 23"/>
          <p:cNvSpPr/>
          <p:nvPr/>
        </p:nvSpPr>
        <p:spPr>
          <a:xfrm>
            <a:off x="8037576" y="3749040"/>
            <a:ext cx="1371600" cy="1005840"/>
          </a:xfrm>
          <a:prstGeom prst="rect">
            <a:avLst/>
          </a:prstGeom>
          <a:noFill/>
          <a:ln/>
        </p:spPr>
        <p:txBody>
          <a:bodyPr wrap="square" lIns="0" tIns="0" rIns="0" bIns="0" rtlCol="0" anchor="ctr"/>
          <a:lstStyle/>
          <a:p>
            <a:pPr indent="0" marL="0">
              <a:buNone/>
            </a:pPr>
            <a:r>
              <a:rPr lang="en-US" sz="1100" dirty="0">
                <a:solidFill>
                  <a:srgbClr val="8A99BF"/>
                </a:solidFill>
                <a:latin typeface="Calibri" pitchFamily="34" charset="0"/>
                <a:ea typeface="Calibri" pitchFamily="34" charset="-122"/>
                <a:cs typeface="Calibri" pitchFamily="34" charset="-120"/>
              </a:rPr>
              <a:t>Break it before someone else does</a:t>
            </a:r>
            <a:endParaRPr lang="en-US" sz="1100" dirty="0"/>
          </a:p>
        </p:txBody>
      </p:sp>
      <p:sp>
        <p:nvSpPr>
          <p:cNvPr id="27" name="Shape 24"/>
          <p:cNvSpPr/>
          <p:nvPr/>
        </p:nvSpPr>
        <p:spPr>
          <a:xfrm>
            <a:off x="9669780" y="2103120"/>
            <a:ext cx="1673352" cy="3108960"/>
          </a:xfrm>
          <a:prstGeom prst="roundRect">
            <a:avLst>
              <a:gd name="adj" fmla="val 4372"/>
            </a:avLst>
          </a:prstGeom>
          <a:solidFill>
            <a:srgbClr val="17224A"/>
          </a:solidFill>
          <a:ln w="12700">
            <a:solidFill>
              <a:srgbClr val="17224A"/>
            </a:solidFill>
            <a:prstDash val="solid"/>
          </a:ln>
        </p:spPr>
      </p:sp>
      <p:sp>
        <p:nvSpPr>
          <p:cNvPr id="28" name="Text 25"/>
          <p:cNvSpPr/>
          <p:nvPr/>
        </p:nvSpPr>
        <p:spPr>
          <a:xfrm>
            <a:off x="9852660" y="2240280"/>
            <a:ext cx="1371600" cy="365760"/>
          </a:xfrm>
          <a:prstGeom prst="rect">
            <a:avLst/>
          </a:prstGeom>
          <a:noFill/>
          <a:ln/>
        </p:spPr>
        <p:txBody>
          <a:bodyPr wrap="square" lIns="0" tIns="0" rIns="0" bIns="0" rtlCol="0" anchor="ctr"/>
          <a:lstStyle/>
          <a:p>
            <a:pPr indent="0" marL="0">
              <a:buNone/>
            </a:pPr>
            <a:r>
              <a:rPr lang="en-US" sz="1200" b="1" spc="100" kern="0" dirty="0">
                <a:solidFill>
                  <a:srgbClr val="EE4001"/>
                </a:solidFill>
                <a:latin typeface="Calibri" pitchFamily="34" charset="0"/>
                <a:ea typeface="Calibri" pitchFamily="34" charset="-122"/>
                <a:cs typeface="Calibri" pitchFamily="34" charset="-120"/>
              </a:rPr>
              <a:t>DAY 6</a:t>
            </a:r>
            <a:endParaRPr lang="en-US" sz="1200" dirty="0"/>
          </a:p>
        </p:txBody>
      </p:sp>
      <p:sp>
        <p:nvSpPr>
          <p:cNvPr id="29" name="Text 26"/>
          <p:cNvSpPr/>
          <p:nvPr/>
        </p:nvSpPr>
        <p:spPr>
          <a:xfrm>
            <a:off x="9852660" y="2651760"/>
            <a:ext cx="1371600" cy="1051560"/>
          </a:xfrm>
          <a:prstGeom prst="rect">
            <a:avLst/>
          </a:prstGeom>
          <a:noFill/>
          <a:ln/>
        </p:spPr>
        <p:txBody>
          <a:bodyPr wrap="square" lIns="0" tIns="0" rIns="0" bIns="0" rtlCol="0" anchor="ctr"/>
          <a:lstStyle/>
          <a:p>
            <a:pPr indent="0" marL="0">
              <a:buNone/>
            </a:pPr>
            <a:r>
              <a:rPr lang="en-US" sz="1400" b="1" dirty="0">
                <a:solidFill>
                  <a:srgbClr val="F4F6FB"/>
                </a:solidFill>
                <a:latin typeface="Calibri" pitchFamily="34" charset="0"/>
                <a:ea typeface="Calibri" pitchFamily="34" charset="-122"/>
                <a:cs typeface="Calibri" pitchFamily="34" charset="-120"/>
              </a:rPr>
              <a:t>Kubernetes &amp;</a:t>
            </a:r>
            <a:endParaRPr lang="en-US" sz="1400" dirty="0"/>
          </a:p>
          <a:p>
            <a:pPr indent="0" marL="0">
              <a:buNone/>
            </a:pPr>
            <a:r>
              <a:rPr lang="en-US" sz="1400" b="1" dirty="0">
                <a:solidFill>
                  <a:srgbClr val="F4F6FB"/>
                </a:solidFill>
                <a:latin typeface="Calibri" pitchFamily="34" charset="0"/>
                <a:ea typeface="Calibri" pitchFamily="34" charset="-122"/>
                <a:cs typeface="Calibri" pitchFamily="34" charset="-120"/>
              </a:rPr>
              <a:t>Demo Day</a:t>
            </a:r>
            <a:endParaRPr lang="en-US" sz="1400" dirty="0"/>
          </a:p>
        </p:txBody>
      </p:sp>
      <p:sp>
        <p:nvSpPr>
          <p:cNvPr id="30" name="Text 27"/>
          <p:cNvSpPr/>
          <p:nvPr/>
        </p:nvSpPr>
        <p:spPr>
          <a:xfrm>
            <a:off x="9852660" y="3749040"/>
            <a:ext cx="1371600" cy="1005840"/>
          </a:xfrm>
          <a:prstGeom prst="rect">
            <a:avLst/>
          </a:prstGeom>
          <a:noFill/>
          <a:ln/>
        </p:spPr>
        <p:txBody>
          <a:bodyPr wrap="square" lIns="0" tIns="0" rIns="0" bIns="0" rtlCol="0" anchor="ctr"/>
          <a:lstStyle/>
          <a:p>
            <a:pPr indent="0" marL="0">
              <a:buNone/>
            </a:pPr>
            <a:r>
              <a:rPr lang="en-US" sz="1100" dirty="0">
                <a:solidFill>
                  <a:srgbClr val="8A99BF"/>
                </a:solidFill>
                <a:latin typeface="Calibri" pitchFamily="34" charset="0"/>
                <a:ea typeface="Calibri" pitchFamily="34" charset="-122"/>
                <a:cs typeface="Calibri" pitchFamily="34" charset="-120"/>
              </a:rPr>
              <a:t>Scale it, then defend it</a:t>
            </a:r>
            <a:endParaRPr lang="en-US" sz="1100" dirty="0"/>
          </a:p>
        </p:txBody>
      </p:sp>
      <p:sp>
        <p:nvSpPr>
          <p:cNvPr id="31" name="Shape 28"/>
          <p:cNvSpPr/>
          <p:nvPr/>
        </p:nvSpPr>
        <p:spPr>
          <a:xfrm>
            <a:off x="594360" y="5440680"/>
            <a:ext cx="10881360" cy="1051560"/>
          </a:xfrm>
          <a:prstGeom prst="roundRect">
            <a:avLst>
              <a:gd name="adj" fmla="val 6957"/>
            </a:avLst>
          </a:prstGeom>
          <a:solidFill>
            <a:srgbClr val="17224A"/>
          </a:solidFill>
          <a:ln w="12700">
            <a:solidFill>
              <a:srgbClr val="17224A"/>
            </a:solidFill>
            <a:prstDash val="solid"/>
          </a:ln>
        </p:spPr>
      </p:sp>
      <p:sp>
        <p:nvSpPr>
          <p:cNvPr id="32" name="Text 29"/>
          <p:cNvSpPr/>
          <p:nvPr/>
        </p:nvSpPr>
        <p:spPr>
          <a:xfrm>
            <a:off x="960120" y="5440680"/>
            <a:ext cx="10149840" cy="1051560"/>
          </a:xfrm>
          <a:prstGeom prst="rect">
            <a:avLst/>
          </a:prstGeom>
          <a:noFill/>
          <a:ln/>
        </p:spPr>
        <p:txBody>
          <a:bodyPr wrap="square" lIns="0" tIns="0" rIns="0" bIns="0" rtlCol="0" anchor="ctr"/>
          <a:lstStyle/>
          <a:p>
            <a:pPr indent="0" marL="0">
              <a:buNone/>
            </a:pPr>
            <a:r>
              <a:rPr lang="en-US" sz="1500" b="1" dirty="0">
                <a:solidFill>
                  <a:srgbClr val="F4F6FB"/>
                </a:solidFill>
                <a:latin typeface="Calibri" pitchFamily="34" charset="0"/>
                <a:ea typeface="Calibri" pitchFamily="34" charset="-122"/>
                <a:cs typeface="Calibri" pitchFamily="34" charset="-120"/>
              </a:rPr>
              <a:t>Day 1 you fix one container by hand. Day 6, forty containers fix themselves.</a:t>
            </a:r>
            <a:endParaRPr lang="en-US" sz="1500" dirty="0"/>
          </a:p>
          <a:p>
            <a:pPr indent="0" marL="0">
              <a:buNone/>
            </a:pPr>
            <a:r>
              <a:rPr lang="en-US" sz="1500" b="1" dirty="0">
                <a:solidFill>
                  <a:srgbClr val="F4F6FB"/>
                </a:solidFill>
                <a:latin typeface="Calibri" pitchFamily="34" charset="0"/>
                <a:ea typeface="Calibri" pitchFamily="34" charset="-122"/>
                <a:cs typeface="Calibri" pitchFamily="34" charset="-120"/>
              </a:rPr>
              <a:t>Everything in between is how automation replaced you doing it manually - and why that is a promotion.</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6FB"/>
        </a:solidFill>
      </p:bgPr>
    </p:bg>
    <p:spTree>
      <p:nvGrpSpPr>
        <p:cNvPr id="1" name=""/>
        <p:cNvGrpSpPr/>
        <p:nvPr/>
      </p:nvGrpSpPr>
      <p:grpSpPr>
        <a:xfrm>
          <a:off x="0" y="0"/>
          <a:ext cx="0" cy="0"/>
          <a:chOff x="0" y="0"/>
          <a:chExt cx="0" cy="0"/>
        </a:xfrm>
      </p:grpSpPr>
      <p:sp>
        <p:nvSpPr>
          <p:cNvPr id="3" name="Shape 0"/>
          <p:cNvSpPr/>
          <p:nvPr/>
        </p:nvSpPr>
        <p:spPr>
          <a:xfrm>
            <a:off x="594360" y="384048"/>
            <a:ext cx="384048" cy="384048"/>
          </a:xfrm>
          <a:prstGeom prst="ellipse">
            <a:avLst/>
          </a:prstGeom>
          <a:solidFill>
            <a:srgbClr val="0755E9"/>
          </a:solidFill>
          <a:ln/>
        </p:spPr>
      </p:sp>
      <p:sp>
        <p:nvSpPr>
          <p:cNvPr id="4" name="Text 1"/>
          <p:cNvSpPr/>
          <p:nvPr/>
        </p:nvSpPr>
        <p:spPr>
          <a:xfrm>
            <a:off x="59436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5" name="Text 2"/>
          <p:cNvSpPr/>
          <p:nvPr/>
        </p:nvSpPr>
        <p:spPr>
          <a:xfrm>
            <a:off x="1097280" y="384048"/>
            <a:ext cx="7772400" cy="384048"/>
          </a:xfrm>
          <a:prstGeom prst="rect">
            <a:avLst/>
          </a:prstGeom>
          <a:noFill/>
          <a:ln/>
        </p:spPr>
        <p:txBody>
          <a:bodyPr wrap="square" lIns="0" tIns="0" rIns="0" bIns="0" rtlCol="0" anchor="ctr"/>
          <a:lstStyle/>
          <a:p>
            <a:pPr indent="0" marL="0">
              <a:buNone/>
            </a:pPr>
            <a:r>
              <a:rPr lang="en-US" sz="1100" b="1" spc="200" kern="0" dirty="0">
                <a:solidFill>
                  <a:srgbClr val="5A6890"/>
                </a:solidFill>
                <a:latin typeface="Calibri" pitchFamily="34" charset="0"/>
                <a:ea typeface="Calibri" pitchFamily="34" charset="-122"/>
                <a:cs typeface="Calibri" pitchFamily="34" charset="-120"/>
              </a:rPr>
              <a:t>THE WEEK</a:t>
            </a:r>
            <a:endParaRPr lang="en-US" sz="1100" dirty="0"/>
          </a:p>
        </p:txBody>
      </p:sp>
      <p:sp>
        <p:nvSpPr>
          <p:cNvPr id="6" name="Text 3"/>
          <p:cNvSpPr/>
          <p:nvPr/>
        </p:nvSpPr>
        <p:spPr>
          <a:xfrm>
            <a:off x="9875520" y="384048"/>
            <a:ext cx="1691640" cy="384048"/>
          </a:xfrm>
          <a:prstGeom prst="rect">
            <a:avLst/>
          </a:prstGeom>
          <a:noFill/>
          <a:ln/>
        </p:spPr>
        <p:txBody>
          <a:bodyPr wrap="square" lIns="0" tIns="0" rIns="0" bIns="0" rtlCol="0" anchor="ctr"/>
          <a:lstStyle/>
          <a:p>
            <a:pPr algn="r" indent="0" marL="0">
              <a:buNone/>
            </a:pPr>
            <a:r>
              <a:rPr lang="en-US" sz="1100" b="1" dirty="0">
                <a:solidFill>
                  <a:srgbClr val="5A6890"/>
                </a:solidFill>
                <a:latin typeface="Calibri" pitchFamily="34" charset="0"/>
                <a:ea typeface="Calibri" pitchFamily="34" charset="-122"/>
                <a:cs typeface="Calibri" pitchFamily="34" charset="-120"/>
              </a:rPr>
              <a:t>Day 1</a:t>
            </a:r>
            <a:endParaRPr lang="en-US" sz="1100" dirty="0"/>
          </a:p>
        </p:txBody>
      </p:sp>
      <p:sp>
        <p:nvSpPr>
          <p:cNvPr id="7" name="Text 4"/>
          <p:cNvSpPr/>
          <p:nvPr/>
        </p:nvSpPr>
        <p:spPr>
          <a:xfrm>
            <a:off x="594360" y="914400"/>
            <a:ext cx="10881360" cy="640080"/>
          </a:xfrm>
          <a:prstGeom prst="rect">
            <a:avLst/>
          </a:prstGeom>
          <a:noFill/>
          <a:ln/>
        </p:spPr>
        <p:txBody>
          <a:bodyPr wrap="square" lIns="0" tIns="0" rIns="0" bIns="0" rtlCol="0" anchor="ctr"/>
          <a:lstStyle/>
          <a:p>
            <a:pPr indent="0" marL="0">
              <a:buNone/>
            </a:pPr>
            <a:r>
              <a:rPr lang="en-US" sz="3200" b="1" dirty="0">
                <a:solidFill>
                  <a:srgbClr val="0A1229"/>
                </a:solidFill>
                <a:latin typeface="Calibri" pitchFamily="34" charset="0"/>
                <a:ea typeface="Calibri" pitchFamily="34" charset="-122"/>
                <a:cs typeface="Calibri" pitchFamily="34" charset="-120"/>
              </a:rPr>
              <a:t>Day 1 - Git, Linux &amp; Networking</a:t>
            </a:r>
            <a:endParaRPr lang="en-US" sz="3200" dirty="0"/>
          </a:p>
        </p:txBody>
      </p:sp>
      <p:sp>
        <p:nvSpPr>
          <p:cNvPr id="8" name="Text 5"/>
          <p:cNvSpPr/>
          <p:nvPr/>
        </p:nvSpPr>
        <p:spPr>
          <a:xfrm>
            <a:off x="594360" y="1600200"/>
            <a:ext cx="10881360" cy="502920"/>
          </a:xfrm>
          <a:prstGeom prst="rect">
            <a:avLst/>
          </a:prstGeom>
          <a:noFill/>
          <a:ln/>
        </p:spPr>
        <p:txBody>
          <a:bodyPr wrap="square" lIns="0" tIns="0" rIns="0" bIns="0" rtlCol="0" anchor="ctr"/>
          <a:lstStyle/>
          <a:p>
            <a:pPr indent="0" marL="0">
              <a:buNone/>
            </a:pPr>
            <a:r>
              <a:rPr lang="en-US" sz="1600" i="1" dirty="0">
                <a:solidFill>
                  <a:srgbClr val="0755E9"/>
                </a:solidFill>
                <a:latin typeface="Calibri" pitchFamily="34" charset="0"/>
                <a:ea typeface="Calibri" pitchFamily="34" charset="-122"/>
                <a:cs typeface="Calibri" pitchFamily="34" charset="-120"/>
              </a:rPr>
              <a:t>Before Daig runs anywhere, it runs on a machine - and that machine has to talk to other machines.</a:t>
            </a:r>
            <a:endParaRPr lang="en-US" sz="1600" dirty="0"/>
          </a:p>
        </p:txBody>
      </p:sp>
      <p:sp>
        <p:nvSpPr>
          <p:cNvPr id="9" name="Shape 6"/>
          <p:cNvSpPr/>
          <p:nvPr/>
        </p:nvSpPr>
        <p:spPr>
          <a:xfrm>
            <a:off x="594360" y="2286000"/>
            <a:ext cx="5943600" cy="2606040"/>
          </a:xfrm>
          <a:prstGeom prst="roundRect">
            <a:avLst>
              <a:gd name="adj" fmla="val 2807"/>
            </a:avLst>
          </a:prstGeom>
          <a:solidFill>
            <a:srgbClr val="E4E9F5"/>
          </a:solidFill>
          <a:ln w="12700">
            <a:solidFill>
              <a:srgbClr val="E4E9F5"/>
            </a:solidFill>
            <a:prstDash val="solid"/>
          </a:ln>
        </p:spPr>
      </p:sp>
      <p:sp>
        <p:nvSpPr>
          <p:cNvPr id="10" name="Text 7"/>
          <p:cNvSpPr/>
          <p:nvPr/>
        </p:nvSpPr>
        <p:spPr>
          <a:xfrm>
            <a:off x="886968" y="2450592"/>
            <a:ext cx="5394960" cy="292608"/>
          </a:xfrm>
          <a:prstGeom prst="rect">
            <a:avLst/>
          </a:prstGeom>
          <a:noFill/>
          <a:ln/>
        </p:spPr>
        <p:txBody>
          <a:bodyPr wrap="square" lIns="0" tIns="0" rIns="0" bIns="0" rtlCol="0" anchor="ctr"/>
          <a:lstStyle/>
          <a:p>
            <a:pPr indent="0" marL="0">
              <a:buNone/>
            </a:pPr>
            <a:r>
              <a:rPr lang="en-US" sz="1100" b="1" spc="200" kern="0" dirty="0">
                <a:solidFill>
                  <a:srgbClr val="5A6890"/>
                </a:solidFill>
                <a:latin typeface="Calibri" pitchFamily="34" charset="0"/>
                <a:ea typeface="Calibri" pitchFamily="34" charset="-122"/>
                <a:cs typeface="Calibri" pitchFamily="34" charset="-120"/>
              </a:rPr>
              <a:t>YOU WILL BUILD</a:t>
            </a:r>
            <a:endParaRPr lang="en-US" sz="1100" dirty="0"/>
          </a:p>
        </p:txBody>
      </p:sp>
      <p:sp>
        <p:nvSpPr>
          <p:cNvPr id="11" name="Shape 8"/>
          <p:cNvSpPr/>
          <p:nvPr/>
        </p:nvSpPr>
        <p:spPr>
          <a:xfrm>
            <a:off x="905256" y="2880360"/>
            <a:ext cx="182880" cy="182880"/>
          </a:xfrm>
          <a:prstGeom prst="ellipse">
            <a:avLst/>
          </a:prstGeom>
          <a:solidFill>
            <a:srgbClr val="0755E9"/>
          </a:solidFill>
          <a:ln/>
        </p:spPr>
      </p:sp>
      <p:sp>
        <p:nvSpPr>
          <p:cNvPr id="12" name="Text 9"/>
          <p:cNvSpPr/>
          <p:nvPr/>
        </p:nvSpPr>
        <p:spPr>
          <a:xfrm>
            <a:off x="1216152" y="2788920"/>
            <a:ext cx="5029200" cy="384048"/>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SSH into a fresh VM and find your way around</a:t>
            </a:r>
            <a:endParaRPr lang="en-US" sz="1300" dirty="0"/>
          </a:p>
        </p:txBody>
      </p:sp>
      <p:sp>
        <p:nvSpPr>
          <p:cNvPr id="13" name="Shape 10"/>
          <p:cNvSpPr/>
          <p:nvPr/>
        </p:nvSpPr>
        <p:spPr>
          <a:xfrm>
            <a:off x="905256" y="3355848"/>
            <a:ext cx="182880" cy="182880"/>
          </a:xfrm>
          <a:prstGeom prst="ellipse">
            <a:avLst/>
          </a:prstGeom>
          <a:solidFill>
            <a:srgbClr val="0755E9"/>
          </a:solidFill>
          <a:ln/>
        </p:spPr>
      </p:sp>
      <p:sp>
        <p:nvSpPr>
          <p:cNvPr id="14" name="Text 11"/>
          <p:cNvSpPr/>
          <p:nvPr/>
        </p:nvSpPr>
        <p:spPr>
          <a:xfrm>
            <a:off x="1216152" y="3264408"/>
            <a:ext cx="5029200" cy="384048"/>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Find the process eating the CPU. Kill it.</a:t>
            </a:r>
            <a:endParaRPr lang="en-US" sz="1300" dirty="0"/>
          </a:p>
        </p:txBody>
      </p:sp>
      <p:sp>
        <p:nvSpPr>
          <p:cNvPr id="15" name="Shape 12"/>
          <p:cNvSpPr/>
          <p:nvPr/>
        </p:nvSpPr>
        <p:spPr>
          <a:xfrm>
            <a:off x="905256" y="3831336"/>
            <a:ext cx="182880" cy="182880"/>
          </a:xfrm>
          <a:prstGeom prst="ellipse">
            <a:avLst/>
          </a:prstGeom>
          <a:solidFill>
            <a:srgbClr val="0755E9"/>
          </a:solidFill>
          <a:ln/>
        </p:spPr>
      </p:sp>
      <p:sp>
        <p:nvSpPr>
          <p:cNvPr id="16" name="Text 13"/>
          <p:cNvSpPr/>
          <p:nvPr/>
        </p:nvSpPr>
        <p:spPr>
          <a:xfrm>
            <a:off x="1216152" y="3739896"/>
            <a:ext cx="5029200" cy="384048"/>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Follow one request: DNS, then TCP, then HTTP</a:t>
            </a:r>
            <a:endParaRPr lang="en-US" sz="1300" dirty="0"/>
          </a:p>
        </p:txBody>
      </p:sp>
      <p:sp>
        <p:nvSpPr>
          <p:cNvPr id="17" name="Shape 14"/>
          <p:cNvSpPr/>
          <p:nvPr/>
        </p:nvSpPr>
        <p:spPr>
          <a:xfrm>
            <a:off x="905256" y="4306824"/>
            <a:ext cx="182880" cy="182880"/>
          </a:xfrm>
          <a:prstGeom prst="ellipse">
            <a:avLst/>
          </a:prstGeom>
          <a:solidFill>
            <a:srgbClr val="0755E9"/>
          </a:solidFill>
          <a:ln/>
        </p:spPr>
      </p:sp>
      <p:sp>
        <p:nvSpPr>
          <p:cNvPr id="18" name="Text 15"/>
          <p:cNvSpPr/>
          <p:nvPr/>
        </p:nvSpPr>
        <p:spPr>
          <a:xfrm>
            <a:off x="1216152" y="4215384"/>
            <a:ext cx="5029200" cy="384048"/>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Read ss / netstat output without panicking</a:t>
            </a:r>
            <a:endParaRPr lang="en-US" sz="1300" dirty="0"/>
          </a:p>
        </p:txBody>
      </p:sp>
      <p:sp>
        <p:nvSpPr>
          <p:cNvPr id="19" name="Shape 16"/>
          <p:cNvSpPr/>
          <p:nvPr/>
        </p:nvSpPr>
        <p:spPr>
          <a:xfrm>
            <a:off x="6858000" y="2286000"/>
            <a:ext cx="4617720" cy="2606040"/>
          </a:xfrm>
          <a:prstGeom prst="roundRect">
            <a:avLst>
              <a:gd name="adj" fmla="val 2807"/>
            </a:avLst>
          </a:prstGeom>
          <a:solidFill>
            <a:srgbClr val="E4E9F5"/>
          </a:solidFill>
          <a:ln w="12700">
            <a:solidFill>
              <a:srgbClr val="E4E9F5"/>
            </a:solidFill>
            <a:prstDash val="solid"/>
          </a:ln>
        </p:spPr>
      </p:sp>
      <p:sp>
        <p:nvSpPr>
          <p:cNvPr id="20" name="Text 17"/>
          <p:cNvSpPr/>
          <p:nvPr/>
        </p:nvSpPr>
        <p:spPr>
          <a:xfrm>
            <a:off x="7150608" y="2450592"/>
            <a:ext cx="4023360" cy="292608"/>
          </a:xfrm>
          <a:prstGeom prst="rect">
            <a:avLst/>
          </a:prstGeom>
          <a:noFill/>
          <a:ln/>
        </p:spPr>
        <p:txBody>
          <a:bodyPr wrap="square" lIns="0" tIns="0" rIns="0" bIns="0" rtlCol="0" anchor="ctr"/>
          <a:lstStyle/>
          <a:p>
            <a:pPr indent="0" marL="0">
              <a:buNone/>
            </a:pPr>
            <a:r>
              <a:rPr lang="en-US" sz="1100" b="1" spc="200" kern="0" dirty="0">
                <a:solidFill>
                  <a:srgbClr val="EE4001"/>
                </a:solidFill>
                <a:latin typeface="Calibri" pitchFamily="34" charset="0"/>
                <a:ea typeface="Calibri" pitchFamily="34" charset="-122"/>
                <a:cs typeface="Calibri" pitchFamily="34" charset="-120"/>
              </a:rPr>
              <a:t>CHAOS HOUR - 16:00</a:t>
            </a:r>
            <a:endParaRPr lang="en-US" sz="1100" dirty="0"/>
          </a:p>
        </p:txBody>
      </p:sp>
      <p:sp>
        <p:nvSpPr>
          <p:cNvPr id="21" name="Text 18"/>
          <p:cNvSpPr/>
          <p:nvPr/>
        </p:nvSpPr>
        <p:spPr>
          <a:xfrm>
            <a:off x="7150608" y="2834640"/>
            <a:ext cx="4023360" cy="1828800"/>
          </a:xfrm>
          <a:prstGeom prst="rect">
            <a:avLst/>
          </a:prstGeom>
          <a:noFill/>
          <a:ln/>
        </p:spPr>
        <p:txBody>
          <a:bodyPr wrap="square" lIns="0" tIns="0" rIns="0" bIns="0" rtlCol="0" anchor="ctr"/>
          <a:lstStyle/>
          <a:p>
            <a:pPr indent="0" marL="0">
              <a:buNone/>
            </a:pPr>
            <a:r>
              <a:rPr lang="en-US" sz="1400" dirty="0">
                <a:solidFill>
                  <a:srgbClr val="0A1229"/>
                </a:solidFill>
                <a:latin typeface="Calibri" pitchFamily="34" charset="0"/>
                <a:ea typeface="Calibri" pitchFamily="34" charset="-122"/>
                <a:cs typeface="Calibri" pitchFamily="34" charset="-120"/>
              </a:rPr>
              <a:t>Orders cannot reach the database. Firewall, wrong port, or DNS? Three teams, three different planted causes.</a:t>
            </a:r>
            <a:endParaRPr lang="en-US" sz="1400" dirty="0"/>
          </a:p>
        </p:txBody>
      </p:sp>
      <p:sp>
        <p:nvSpPr>
          <p:cNvPr id="22" name="Shape 19"/>
          <p:cNvSpPr/>
          <p:nvPr/>
        </p:nvSpPr>
        <p:spPr>
          <a:xfrm>
            <a:off x="594360" y="5166360"/>
            <a:ext cx="10881360" cy="1143000"/>
          </a:xfrm>
          <a:prstGeom prst="roundRect">
            <a:avLst>
              <a:gd name="adj" fmla="val 6400"/>
            </a:avLst>
          </a:prstGeom>
          <a:solidFill>
            <a:srgbClr val="0A1229"/>
          </a:solidFill>
          <a:ln w="12700">
            <a:solidFill>
              <a:srgbClr val="0A1229"/>
            </a:solidFill>
            <a:prstDash val="solid"/>
          </a:ln>
        </p:spPr>
      </p:sp>
      <p:sp>
        <p:nvSpPr>
          <p:cNvPr id="23" name="Text 20"/>
          <p:cNvSpPr/>
          <p:nvPr/>
        </p:nvSpPr>
        <p:spPr>
          <a:xfrm>
            <a:off x="960120" y="5321808"/>
            <a:ext cx="10149840" cy="274320"/>
          </a:xfrm>
          <a:prstGeom prst="rect">
            <a:avLst/>
          </a:prstGeom>
          <a:noFill/>
          <a:ln/>
        </p:spPr>
        <p:txBody>
          <a:bodyPr wrap="square" lIns="0" tIns="0" rIns="0" bIns="0" rtlCol="0" anchor="ctr"/>
          <a:lstStyle/>
          <a:p>
            <a:pPr indent="0" marL="0">
              <a:buNone/>
            </a:pPr>
            <a:r>
              <a:rPr lang="en-US" sz="1100" b="1" spc="200" kern="0" dirty="0">
                <a:solidFill>
                  <a:srgbClr val="8A99BF"/>
                </a:solidFill>
                <a:latin typeface="Calibri" pitchFamily="34" charset="0"/>
                <a:ea typeface="Calibri" pitchFamily="34" charset="-122"/>
                <a:cs typeface="Calibri" pitchFamily="34" charset="-120"/>
              </a:rPr>
              <a:t>SKIP THIS DAY AND</a:t>
            </a:r>
            <a:endParaRPr lang="en-US" sz="1100" dirty="0"/>
          </a:p>
        </p:txBody>
      </p:sp>
      <p:sp>
        <p:nvSpPr>
          <p:cNvPr id="24" name="Text 21"/>
          <p:cNvSpPr/>
          <p:nvPr/>
        </p:nvSpPr>
        <p:spPr>
          <a:xfrm>
            <a:off x="960120" y="5596128"/>
            <a:ext cx="10149840" cy="640080"/>
          </a:xfrm>
          <a:prstGeom prst="rect">
            <a:avLst/>
          </a:prstGeom>
          <a:noFill/>
          <a:ln/>
        </p:spPr>
        <p:txBody>
          <a:bodyPr wrap="square" lIns="0" tIns="0" rIns="0" bIns="0" rtlCol="0" anchor="ctr"/>
          <a:lstStyle/>
          <a:p>
            <a:pPr indent="0" marL="0">
              <a:buNone/>
            </a:pPr>
            <a:r>
              <a:rPr lang="en-US" sz="1500" b="1" dirty="0">
                <a:solidFill>
                  <a:srgbClr val="F4F6FB"/>
                </a:solidFill>
                <a:latin typeface="Calibri" pitchFamily="34" charset="0"/>
                <a:ea typeface="Calibri" pitchFamily="34" charset="-122"/>
                <a:cs typeface="Calibri" pitchFamily="34" charset="-120"/>
              </a:rPr>
              <a:t>80% of the "Kubernetes problems" you hit on Friday are Linux and networking problems wearing a costume.</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6FB"/>
        </a:solidFill>
      </p:bgPr>
    </p:bg>
    <p:spTree>
      <p:nvGrpSpPr>
        <p:cNvPr id="1" name=""/>
        <p:cNvGrpSpPr/>
        <p:nvPr/>
      </p:nvGrpSpPr>
      <p:grpSpPr>
        <a:xfrm>
          <a:off x="0" y="0"/>
          <a:ext cx="0" cy="0"/>
          <a:chOff x="0" y="0"/>
          <a:chExt cx="0" cy="0"/>
        </a:xfrm>
      </p:grpSpPr>
      <p:sp>
        <p:nvSpPr>
          <p:cNvPr id="3" name="Shape 0"/>
          <p:cNvSpPr/>
          <p:nvPr/>
        </p:nvSpPr>
        <p:spPr>
          <a:xfrm>
            <a:off x="594360" y="384048"/>
            <a:ext cx="384048" cy="384048"/>
          </a:xfrm>
          <a:prstGeom prst="ellipse">
            <a:avLst/>
          </a:prstGeom>
          <a:solidFill>
            <a:srgbClr val="0755E9"/>
          </a:solidFill>
          <a:ln/>
        </p:spPr>
      </p:sp>
      <p:sp>
        <p:nvSpPr>
          <p:cNvPr id="4" name="Text 1"/>
          <p:cNvSpPr/>
          <p:nvPr/>
        </p:nvSpPr>
        <p:spPr>
          <a:xfrm>
            <a:off x="59436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5" name="Text 2"/>
          <p:cNvSpPr/>
          <p:nvPr/>
        </p:nvSpPr>
        <p:spPr>
          <a:xfrm>
            <a:off x="1097280" y="384048"/>
            <a:ext cx="7772400" cy="384048"/>
          </a:xfrm>
          <a:prstGeom prst="rect">
            <a:avLst/>
          </a:prstGeom>
          <a:noFill/>
          <a:ln/>
        </p:spPr>
        <p:txBody>
          <a:bodyPr wrap="square" lIns="0" tIns="0" rIns="0" bIns="0" rtlCol="0" anchor="ctr"/>
          <a:lstStyle/>
          <a:p>
            <a:pPr indent="0" marL="0">
              <a:buNone/>
            </a:pPr>
            <a:r>
              <a:rPr lang="en-US" sz="1100" b="1" spc="200" kern="0" dirty="0">
                <a:solidFill>
                  <a:srgbClr val="5A6890"/>
                </a:solidFill>
                <a:latin typeface="Calibri" pitchFamily="34" charset="0"/>
                <a:ea typeface="Calibri" pitchFamily="34" charset="-122"/>
                <a:cs typeface="Calibri" pitchFamily="34" charset="-120"/>
              </a:rPr>
              <a:t>THE WEEK</a:t>
            </a:r>
            <a:endParaRPr lang="en-US" sz="1100" dirty="0"/>
          </a:p>
        </p:txBody>
      </p:sp>
      <p:sp>
        <p:nvSpPr>
          <p:cNvPr id="6" name="Text 3"/>
          <p:cNvSpPr/>
          <p:nvPr/>
        </p:nvSpPr>
        <p:spPr>
          <a:xfrm>
            <a:off x="9875520" y="384048"/>
            <a:ext cx="1691640" cy="384048"/>
          </a:xfrm>
          <a:prstGeom prst="rect">
            <a:avLst/>
          </a:prstGeom>
          <a:noFill/>
          <a:ln/>
        </p:spPr>
        <p:txBody>
          <a:bodyPr wrap="square" lIns="0" tIns="0" rIns="0" bIns="0" rtlCol="0" anchor="ctr"/>
          <a:lstStyle/>
          <a:p>
            <a:pPr algn="r" indent="0" marL="0">
              <a:buNone/>
            </a:pPr>
            <a:r>
              <a:rPr lang="en-US" sz="1100" b="1" dirty="0">
                <a:solidFill>
                  <a:srgbClr val="5A6890"/>
                </a:solidFill>
                <a:latin typeface="Calibri" pitchFamily="34" charset="0"/>
                <a:ea typeface="Calibri" pitchFamily="34" charset="-122"/>
                <a:cs typeface="Calibri" pitchFamily="34" charset="-120"/>
              </a:rPr>
              <a:t>Day 2</a:t>
            </a:r>
            <a:endParaRPr lang="en-US" sz="1100" dirty="0"/>
          </a:p>
        </p:txBody>
      </p:sp>
      <p:sp>
        <p:nvSpPr>
          <p:cNvPr id="7" name="Text 4"/>
          <p:cNvSpPr/>
          <p:nvPr/>
        </p:nvSpPr>
        <p:spPr>
          <a:xfrm>
            <a:off x="594360" y="914400"/>
            <a:ext cx="10881360" cy="640080"/>
          </a:xfrm>
          <a:prstGeom prst="rect">
            <a:avLst/>
          </a:prstGeom>
          <a:noFill/>
          <a:ln/>
        </p:spPr>
        <p:txBody>
          <a:bodyPr wrap="square" lIns="0" tIns="0" rIns="0" bIns="0" rtlCol="0" anchor="ctr"/>
          <a:lstStyle/>
          <a:p>
            <a:pPr indent="0" marL="0">
              <a:buNone/>
            </a:pPr>
            <a:r>
              <a:rPr lang="en-US" sz="3200" b="1" dirty="0">
                <a:solidFill>
                  <a:srgbClr val="0A1229"/>
                </a:solidFill>
                <a:latin typeface="Calibri" pitchFamily="34" charset="0"/>
                <a:ea typeface="Calibri" pitchFamily="34" charset="-122"/>
                <a:cs typeface="Calibri" pitchFamily="34" charset="-120"/>
              </a:rPr>
              <a:t>Day 2 - Cloud &amp; Infrastructure as Code</a:t>
            </a:r>
            <a:endParaRPr lang="en-US" sz="3200" dirty="0"/>
          </a:p>
        </p:txBody>
      </p:sp>
      <p:sp>
        <p:nvSpPr>
          <p:cNvPr id="8" name="Text 5"/>
          <p:cNvSpPr/>
          <p:nvPr/>
        </p:nvSpPr>
        <p:spPr>
          <a:xfrm>
            <a:off x="594360" y="1600200"/>
            <a:ext cx="10881360" cy="502920"/>
          </a:xfrm>
          <a:prstGeom prst="rect">
            <a:avLst/>
          </a:prstGeom>
          <a:noFill/>
          <a:ln/>
        </p:spPr>
        <p:txBody>
          <a:bodyPr wrap="square" lIns="0" tIns="0" rIns="0" bIns="0" rtlCol="0" anchor="ctr"/>
          <a:lstStyle/>
          <a:p>
            <a:pPr indent="0" marL="0">
              <a:buNone/>
            </a:pPr>
            <a:r>
              <a:rPr lang="en-US" sz="1600" i="1" dirty="0">
                <a:solidFill>
                  <a:srgbClr val="0755E9"/>
                </a:solidFill>
                <a:latin typeface="Calibri" pitchFamily="34" charset="0"/>
                <a:ea typeface="Calibri" pitchFamily="34" charset="-122"/>
                <a:cs typeface="Calibri" pitchFamily="34" charset="-120"/>
              </a:rPr>
              <a:t>Daig needs somewhere to live. Click it into existence once - then never again.</a:t>
            </a:r>
            <a:endParaRPr lang="en-US" sz="1600" dirty="0"/>
          </a:p>
        </p:txBody>
      </p:sp>
      <p:sp>
        <p:nvSpPr>
          <p:cNvPr id="9" name="Shape 6"/>
          <p:cNvSpPr/>
          <p:nvPr/>
        </p:nvSpPr>
        <p:spPr>
          <a:xfrm>
            <a:off x="594360" y="2286000"/>
            <a:ext cx="5943600" cy="2606040"/>
          </a:xfrm>
          <a:prstGeom prst="roundRect">
            <a:avLst>
              <a:gd name="adj" fmla="val 2807"/>
            </a:avLst>
          </a:prstGeom>
          <a:solidFill>
            <a:srgbClr val="E4E9F5"/>
          </a:solidFill>
          <a:ln w="12700">
            <a:solidFill>
              <a:srgbClr val="E4E9F5"/>
            </a:solidFill>
            <a:prstDash val="solid"/>
          </a:ln>
        </p:spPr>
      </p:sp>
      <p:sp>
        <p:nvSpPr>
          <p:cNvPr id="10" name="Text 7"/>
          <p:cNvSpPr/>
          <p:nvPr/>
        </p:nvSpPr>
        <p:spPr>
          <a:xfrm>
            <a:off x="886968" y="2450592"/>
            <a:ext cx="5394960" cy="292608"/>
          </a:xfrm>
          <a:prstGeom prst="rect">
            <a:avLst/>
          </a:prstGeom>
          <a:noFill/>
          <a:ln/>
        </p:spPr>
        <p:txBody>
          <a:bodyPr wrap="square" lIns="0" tIns="0" rIns="0" bIns="0" rtlCol="0" anchor="ctr"/>
          <a:lstStyle/>
          <a:p>
            <a:pPr indent="0" marL="0">
              <a:buNone/>
            </a:pPr>
            <a:r>
              <a:rPr lang="en-US" sz="1100" b="1" spc="200" kern="0" dirty="0">
                <a:solidFill>
                  <a:srgbClr val="5A6890"/>
                </a:solidFill>
                <a:latin typeface="Calibri" pitchFamily="34" charset="0"/>
                <a:ea typeface="Calibri" pitchFamily="34" charset="-122"/>
                <a:cs typeface="Calibri" pitchFamily="34" charset="-120"/>
              </a:rPr>
              <a:t>YOU WILL BUILD</a:t>
            </a:r>
            <a:endParaRPr lang="en-US" sz="1100" dirty="0"/>
          </a:p>
        </p:txBody>
      </p:sp>
      <p:sp>
        <p:nvSpPr>
          <p:cNvPr id="11" name="Shape 8"/>
          <p:cNvSpPr/>
          <p:nvPr/>
        </p:nvSpPr>
        <p:spPr>
          <a:xfrm>
            <a:off x="905256" y="2880360"/>
            <a:ext cx="182880" cy="182880"/>
          </a:xfrm>
          <a:prstGeom prst="ellipse">
            <a:avLst/>
          </a:prstGeom>
          <a:solidFill>
            <a:srgbClr val="0755E9"/>
          </a:solidFill>
          <a:ln/>
        </p:spPr>
      </p:sp>
      <p:sp>
        <p:nvSpPr>
          <p:cNvPr id="12" name="Text 9"/>
          <p:cNvSpPr/>
          <p:nvPr/>
        </p:nvSpPr>
        <p:spPr>
          <a:xfrm>
            <a:off x="1216152" y="2788920"/>
            <a:ext cx="5029200" cy="384048"/>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Provision Daig by hand in the console. Feel it.</a:t>
            </a:r>
            <a:endParaRPr lang="en-US" sz="1300" dirty="0"/>
          </a:p>
        </p:txBody>
      </p:sp>
      <p:sp>
        <p:nvSpPr>
          <p:cNvPr id="13" name="Shape 10"/>
          <p:cNvSpPr/>
          <p:nvPr/>
        </p:nvSpPr>
        <p:spPr>
          <a:xfrm>
            <a:off x="905256" y="3355848"/>
            <a:ext cx="182880" cy="182880"/>
          </a:xfrm>
          <a:prstGeom prst="ellipse">
            <a:avLst/>
          </a:prstGeom>
          <a:solidFill>
            <a:srgbClr val="0755E9"/>
          </a:solidFill>
          <a:ln/>
        </p:spPr>
      </p:sp>
      <p:sp>
        <p:nvSpPr>
          <p:cNvPr id="14" name="Text 11"/>
          <p:cNvSpPr/>
          <p:nvPr/>
        </p:nvSpPr>
        <p:spPr>
          <a:xfrm>
            <a:off x="1216152" y="3264408"/>
            <a:ext cx="5029200" cy="384048"/>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Destroy all of it.</a:t>
            </a:r>
            <a:endParaRPr lang="en-US" sz="1300" dirty="0"/>
          </a:p>
        </p:txBody>
      </p:sp>
      <p:sp>
        <p:nvSpPr>
          <p:cNvPr id="15" name="Shape 12"/>
          <p:cNvSpPr/>
          <p:nvPr/>
        </p:nvSpPr>
        <p:spPr>
          <a:xfrm>
            <a:off x="905256" y="3831336"/>
            <a:ext cx="182880" cy="182880"/>
          </a:xfrm>
          <a:prstGeom prst="ellipse">
            <a:avLst/>
          </a:prstGeom>
          <a:solidFill>
            <a:srgbClr val="0755E9"/>
          </a:solidFill>
          <a:ln/>
        </p:spPr>
      </p:sp>
      <p:sp>
        <p:nvSpPr>
          <p:cNvPr id="16" name="Text 13"/>
          <p:cNvSpPr/>
          <p:nvPr/>
        </p:nvSpPr>
        <p:spPr>
          <a:xfrm>
            <a:off x="1216152" y="3739896"/>
            <a:ext cx="5029200" cy="384048"/>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Rebuild the same thing in Terraform</a:t>
            </a:r>
            <a:endParaRPr lang="en-US" sz="1300" dirty="0"/>
          </a:p>
        </p:txBody>
      </p:sp>
      <p:sp>
        <p:nvSpPr>
          <p:cNvPr id="17" name="Shape 14"/>
          <p:cNvSpPr/>
          <p:nvPr/>
        </p:nvSpPr>
        <p:spPr>
          <a:xfrm>
            <a:off x="905256" y="4306824"/>
            <a:ext cx="182880" cy="182880"/>
          </a:xfrm>
          <a:prstGeom prst="ellipse">
            <a:avLst/>
          </a:prstGeom>
          <a:solidFill>
            <a:srgbClr val="0755E9"/>
          </a:solidFill>
          <a:ln/>
        </p:spPr>
      </p:sp>
      <p:sp>
        <p:nvSpPr>
          <p:cNvPr id="18" name="Text 15"/>
          <p:cNvSpPr/>
          <p:nvPr/>
        </p:nvSpPr>
        <p:spPr>
          <a:xfrm>
            <a:off x="1216152" y="4215384"/>
            <a:ext cx="5029200" cy="384048"/>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Change one variable. Read the plan before you apply.</a:t>
            </a:r>
            <a:endParaRPr lang="en-US" sz="1300" dirty="0"/>
          </a:p>
        </p:txBody>
      </p:sp>
      <p:sp>
        <p:nvSpPr>
          <p:cNvPr id="19" name="Shape 16"/>
          <p:cNvSpPr/>
          <p:nvPr/>
        </p:nvSpPr>
        <p:spPr>
          <a:xfrm>
            <a:off x="6858000" y="2286000"/>
            <a:ext cx="4617720" cy="2606040"/>
          </a:xfrm>
          <a:prstGeom prst="roundRect">
            <a:avLst>
              <a:gd name="adj" fmla="val 2807"/>
            </a:avLst>
          </a:prstGeom>
          <a:solidFill>
            <a:srgbClr val="E4E9F5"/>
          </a:solidFill>
          <a:ln w="12700">
            <a:solidFill>
              <a:srgbClr val="E4E9F5"/>
            </a:solidFill>
            <a:prstDash val="solid"/>
          </a:ln>
        </p:spPr>
      </p:sp>
      <p:sp>
        <p:nvSpPr>
          <p:cNvPr id="20" name="Text 17"/>
          <p:cNvSpPr/>
          <p:nvPr/>
        </p:nvSpPr>
        <p:spPr>
          <a:xfrm>
            <a:off x="7150608" y="2450592"/>
            <a:ext cx="4023360" cy="292608"/>
          </a:xfrm>
          <a:prstGeom prst="rect">
            <a:avLst/>
          </a:prstGeom>
          <a:noFill/>
          <a:ln/>
        </p:spPr>
        <p:txBody>
          <a:bodyPr wrap="square" lIns="0" tIns="0" rIns="0" bIns="0" rtlCol="0" anchor="ctr"/>
          <a:lstStyle/>
          <a:p>
            <a:pPr indent="0" marL="0">
              <a:buNone/>
            </a:pPr>
            <a:r>
              <a:rPr lang="en-US" sz="1100" b="1" spc="200" kern="0" dirty="0">
                <a:solidFill>
                  <a:srgbClr val="EE4001"/>
                </a:solidFill>
                <a:latin typeface="Calibri" pitchFamily="34" charset="0"/>
                <a:ea typeface="Calibri" pitchFamily="34" charset="-122"/>
                <a:cs typeface="Calibri" pitchFamily="34" charset="-120"/>
              </a:rPr>
              <a:t>CHAOS HOUR - 16:00</a:t>
            </a:r>
            <a:endParaRPr lang="en-US" sz="1100" dirty="0"/>
          </a:p>
        </p:txBody>
      </p:sp>
      <p:sp>
        <p:nvSpPr>
          <p:cNvPr id="21" name="Text 18"/>
          <p:cNvSpPr/>
          <p:nvPr/>
        </p:nvSpPr>
        <p:spPr>
          <a:xfrm>
            <a:off x="7150608" y="2834640"/>
            <a:ext cx="4023360" cy="1828800"/>
          </a:xfrm>
          <a:prstGeom prst="rect">
            <a:avLst/>
          </a:prstGeom>
          <a:noFill/>
          <a:ln/>
        </p:spPr>
        <p:txBody>
          <a:bodyPr wrap="square" lIns="0" tIns="0" rIns="0" bIns="0" rtlCol="0" anchor="ctr"/>
          <a:lstStyle/>
          <a:p>
            <a:pPr indent="0" marL="0">
              <a:buNone/>
            </a:pPr>
            <a:r>
              <a:rPr lang="en-US" sz="1400" dirty="0">
                <a:solidFill>
                  <a:srgbClr val="0A1229"/>
                </a:solidFill>
                <a:latin typeface="Calibri" pitchFamily="34" charset="0"/>
                <a:ea typeface="Calibri" pitchFamily="34" charset="-122"/>
                <a:cs typeface="Calibri" pitchFamily="34" charset="-120"/>
              </a:rPr>
              <a:t>Someone changed a resource in the console behind your back. State and reality disagree. Reconcile it.</a:t>
            </a:r>
            <a:endParaRPr lang="en-US" sz="1400" dirty="0"/>
          </a:p>
        </p:txBody>
      </p:sp>
      <p:sp>
        <p:nvSpPr>
          <p:cNvPr id="22" name="Shape 19"/>
          <p:cNvSpPr/>
          <p:nvPr/>
        </p:nvSpPr>
        <p:spPr>
          <a:xfrm>
            <a:off x="594360" y="5166360"/>
            <a:ext cx="10881360" cy="1143000"/>
          </a:xfrm>
          <a:prstGeom prst="roundRect">
            <a:avLst>
              <a:gd name="adj" fmla="val 6400"/>
            </a:avLst>
          </a:prstGeom>
          <a:solidFill>
            <a:srgbClr val="0A1229"/>
          </a:solidFill>
          <a:ln w="12700">
            <a:solidFill>
              <a:srgbClr val="0A1229"/>
            </a:solidFill>
            <a:prstDash val="solid"/>
          </a:ln>
        </p:spPr>
      </p:sp>
      <p:sp>
        <p:nvSpPr>
          <p:cNvPr id="23" name="Text 20"/>
          <p:cNvSpPr/>
          <p:nvPr/>
        </p:nvSpPr>
        <p:spPr>
          <a:xfrm>
            <a:off x="960120" y="5321808"/>
            <a:ext cx="10149840" cy="274320"/>
          </a:xfrm>
          <a:prstGeom prst="rect">
            <a:avLst/>
          </a:prstGeom>
          <a:noFill/>
          <a:ln/>
        </p:spPr>
        <p:txBody>
          <a:bodyPr wrap="square" lIns="0" tIns="0" rIns="0" bIns="0" rtlCol="0" anchor="ctr"/>
          <a:lstStyle/>
          <a:p>
            <a:pPr indent="0" marL="0">
              <a:buNone/>
            </a:pPr>
            <a:r>
              <a:rPr lang="en-US" sz="1100" b="1" spc="200" kern="0" dirty="0">
                <a:solidFill>
                  <a:srgbClr val="8A99BF"/>
                </a:solidFill>
                <a:latin typeface="Calibri" pitchFamily="34" charset="0"/>
                <a:ea typeface="Calibri" pitchFamily="34" charset="-122"/>
                <a:cs typeface="Calibri" pitchFamily="34" charset="-120"/>
              </a:rPr>
              <a:t>SKIP THIS DAY AND</a:t>
            </a:r>
            <a:endParaRPr lang="en-US" sz="1100" dirty="0"/>
          </a:p>
        </p:txBody>
      </p:sp>
      <p:sp>
        <p:nvSpPr>
          <p:cNvPr id="24" name="Text 21"/>
          <p:cNvSpPr/>
          <p:nvPr/>
        </p:nvSpPr>
        <p:spPr>
          <a:xfrm>
            <a:off x="960120" y="5596128"/>
            <a:ext cx="10149840" cy="640080"/>
          </a:xfrm>
          <a:prstGeom prst="rect">
            <a:avLst/>
          </a:prstGeom>
          <a:noFill/>
          <a:ln/>
        </p:spPr>
        <p:txBody>
          <a:bodyPr wrap="square" lIns="0" tIns="0" rIns="0" bIns="0" rtlCol="0" anchor="ctr"/>
          <a:lstStyle/>
          <a:p>
            <a:pPr indent="0" marL="0">
              <a:buNone/>
            </a:pPr>
            <a:r>
              <a:rPr lang="en-US" sz="1500" b="1" dirty="0">
                <a:solidFill>
                  <a:srgbClr val="F4F6FB"/>
                </a:solidFill>
                <a:latin typeface="Calibri" pitchFamily="34" charset="0"/>
                <a:ea typeface="Calibri" pitchFamily="34" charset="-122"/>
                <a:cs typeface="Calibri" pitchFamily="34" charset="-120"/>
              </a:rPr>
              <a:t>Infrastructure nobody can reproduce, nobody can review, and nobody can rebuild after somebody deletes it.</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6FB"/>
        </a:solidFill>
      </p:bgPr>
    </p:bg>
    <p:spTree>
      <p:nvGrpSpPr>
        <p:cNvPr id="1" name=""/>
        <p:cNvGrpSpPr/>
        <p:nvPr/>
      </p:nvGrpSpPr>
      <p:grpSpPr>
        <a:xfrm>
          <a:off x="0" y="0"/>
          <a:ext cx="0" cy="0"/>
          <a:chOff x="0" y="0"/>
          <a:chExt cx="0" cy="0"/>
        </a:xfrm>
      </p:grpSpPr>
      <p:sp>
        <p:nvSpPr>
          <p:cNvPr id="3" name="Shape 0"/>
          <p:cNvSpPr/>
          <p:nvPr/>
        </p:nvSpPr>
        <p:spPr>
          <a:xfrm>
            <a:off x="594360" y="384048"/>
            <a:ext cx="384048" cy="384048"/>
          </a:xfrm>
          <a:prstGeom prst="ellipse">
            <a:avLst/>
          </a:prstGeom>
          <a:solidFill>
            <a:srgbClr val="0755E9"/>
          </a:solidFill>
          <a:ln/>
        </p:spPr>
      </p:sp>
      <p:sp>
        <p:nvSpPr>
          <p:cNvPr id="4" name="Text 1"/>
          <p:cNvSpPr/>
          <p:nvPr/>
        </p:nvSpPr>
        <p:spPr>
          <a:xfrm>
            <a:off x="59436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5" name="Text 2"/>
          <p:cNvSpPr/>
          <p:nvPr/>
        </p:nvSpPr>
        <p:spPr>
          <a:xfrm>
            <a:off x="1097280" y="384048"/>
            <a:ext cx="7772400" cy="384048"/>
          </a:xfrm>
          <a:prstGeom prst="rect">
            <a:avLst/>
          </a:prstGeom>
          <a:noFill/>
          <a:ln/>
        </p:spPr>
        <p:txBody>
          <a:bodyPr wrap="square" lIns="0" tIns="0" rIns="0" bIns="0" rtlCol="0" anchor="ctr"/>
          <a:lstStyle/>
          <a:p>
            <a:pPr indent="0" marL="0">
              <a:buNone/>
            </a:pPr>
            <a:r>
              <a:rPr lang="en-US" sz="1100" b="1" spc="200" kern="0" dirty="0">
                <a:solidFill>
                  <a:srgbClr val="5A6890"/>
                </a:solidFill>
                <a:latin typeface="Calibri" pitchFamily="34" charset="0"/>
                <a:ea typeface="Calibri" pitchFamily="34" charset="-122"/>
                <a:cs typeface="Calibri" pitchFamily="34" charset="-120"/>
              </a:rPr>
              <a:t>THE WEEK</a:t>
            </a:r>
            <a:endParaRPr lang="en-US" sz="1100" dirty="0"/>
          </a:p>
        </p:txBody>
      </p:sp>
      <p:sp>
        <p:nvSpPr>
          <p:cNvPr id="6" name="Text 3"/>
          <p:cNvSpPr/>
          <p:nvPr/>
        </p:nvSpPr>
        <p:spPr>
          <a:xfrm>
            <a:off x="9875520" y="384048"/>
            <a:ext cx="1691640" cy="384048"/>
          </a:xfrm>
          <a:prstGeom prst="rect">
            <a:avLst/>
          </a:prstGeom>
          <a:noFill/>
          <a:ln/>
        </p:spPr>
        <p:txBody>
          <a:bodyPr wrap="square" lIns="0" tIns="0" rIns="0" bIns="0" rtlCol="0" anchor="ctr"/>
          <a:lstStyle/>
          <a:p>
            <a:pPr algn="r" indent="0" marL="0">
              <a:buNone/>
            </a:pPr>
            <a:r>
              <a:rPr lang="en-US" sz="1100" b="1" dirty="0">
                <a:solidFill>
                  <a:srgbClr val="5A6890"/>
                </a:solidFill>
                <a:latin typeface="Calibri" pitchFamily="34" charset="0"/>
                <a:ea typeface="Calibri" pitchFamily="34" charset="-122"/>
                <a:cs typeface="Calibri" pitchFamily="34" charset="-120"/>
              </a:rPr>
              <a:t>Day 3</a:t>
            </a:r>
            <a:endParaRPr lang="en-US" sz="1100" dirty="0"/>
          </a:p>
        </p:txBody>
      </p:sp>
      <p:sp>
        <p:nvSpPr>
          <p:cNvPr id="7" name="Text 4"/>
          <p:cNvSpPr/>
          <p:nvPr/>
        </p:nvSpPr>
        <p:spPr>
          <a:xfrm>
            <a:off x="594360" y="914400"/>
            <a:ext cx="10881360" cy="640080"/>
          </a:xfrm>
          <a:prstGeom prst="rect">
            <a:avLst/>
          </a:prstGeom>
          <a:noFill/>
          <a:ln/>
        </p:spPr>
        <p:txBody>
          <a:bodyPr wrap="square" lIns="0" tIns="0" rIns="0" bIns="0" rtlCol="0" anchor="ctr"/>
          <a:lstStyle/>
          <a:p>
            <a:pPr indent="0" marL="0">
              <a:buNone/>
            </a:pPr>
            <a:r>
              <a:rPr lang="en-US" sz="3200" b="1" dirty="0">
                <a:solidFill>
                  <a:srgbClr val="0A1229"/>
                </a:solidFill>
                <a:latin typeface="Calibri" pitchFamily="34" charset="0"/>
                <a:ea typeface="Calibri" pitchFamily="34" charset="-122"/>
                <a:cs typeface="Calibri" pitchFamily="34" charset="-120"/>
              </a:rPr>
              <a:t>Wednesday - Config Management &amp; Containers</a:t>
            </a:r>
            <a:endParaRPr lang="en-US" sz="3200" dirty="0"/>
          </a:p>
        </p:txBody>
      </p:sp>
      <p:sp>
        <p:nvSpPr>
          <p:cNvPr id="8" name="Text 5"/>
          <p:cNvSpPr/>
          <p:nvPr/>
        </p:nvSpPr>
        <p:spPr>
          <a:xfrm>
            <a:off x="594360" y="1600200"/>
            <a:ext cx="10881360" cy="502920"/>
          </a:xfrm>
          <a:prstGeom prst="rect">
            <a:avLst/>
          </a:prstGeom>
          <a:noFill/>
          <a:ln/>
        </p:spPr>
        <p:txBody>
          <a:bodyPr wrap="square" lIns="0" tIns="0" rIns="0" bIns="0" rtlCol="0" anchor="ctr"/>
          <a:lstStyle/>
          <a:p>
            <a:pPr indent="0" marL="0">
              <a:buNone/>
            </a:pPr>
            <a:r>
              <a:rPr lang="en-US" sz="1600" i="1" dirty="0">
                <a:solidFill>
                  <a:srgbClr val="0755E9"/>
                </a:solidFill>
                <a:latin typeface="Calibri" pitchFamily="34" charset="0"/>
                <a:ea typeface="Calibri" pitchFamily="34" charset="-122"/>
                <a:cs typeface="Calibri" pitchFamily="34" charset="-120"/>
              </a:rPr>
              <a:t>The box exists. Make it useful - and then make the box irrelevant.</a:t>
            </a:r>
            <a:endParaRPr lang="en-US" sz="1600" dirty="0"/>
          </a:p>
        </p:txBody>
      </p:sp>
      <p:sp>
        <p:nvSpPr>
          <p:cNvPr id="9" name="Shape 6"/>
          <p:cNvSpPr/>
          <p:nvPr/>
        </p:nvSpPr>
        <p:spPr>
          <a:xfrm>
            <a:off x="594360" y="2286000"/>
            <a:ext cx="5943600" cy="2606040"/>
          </a:xfrm>
          <a:prstGeom prst="roundRect">
            <a:avLst>
              <a:gd name="adj" fmla="val 2807"/>
            </a:avLst>
          </a:prstGeom>
          <a:solidFill>
            <a:srgbClr val="E4E9F5"/>
          </a:solidFill>
          <a:ln w="12700">
            <a:solidFill>
              <a:srgbClr val="E4E9F5"/>
            </a:solidFill>
            <a:prstDash val="solid"/>
          </a:ln>
        </p:spPr>
      </p:sp>
      <p:sp>
        <p:nvSpPr>
          <p:cNvPr id="10" name="Text 7"/>
          <p:cNvSpPr/>
          <p:nvPr/>
        </p:nvSpPr>
        <p:spPr>
          <a:xfrm>
            <a:off x="886968" y="2450592"/>
            <a:ext cx="5394960" cy="292608"/>
          </a:xfrm>
          <a:prstGeom prst="rect">
            <a:avLst/>
          </a:prstGeom>
          <a:noFill/>
          <a:ln/>
        </p:spPr>
        <p:txBody>
          <a:bodyPr wrap="square" lIns="0" tIns="0" rIns="0" bIns="0" rtlCol="0" anchor="ctr"/>
          <a:lstStyle/>
          <a:p>
            <a:pPr indent="0" marL="0">
              <a:buNone/>
            </a:pPr>
            <a:r>
              <a:rPr lang="en-US" sz="1100" b="1" spc="200" kern="0" dirty="0">
                <a:solidFill>
                  <a:srgbClr val="5A6890"/>
                </a:solidFill>
                <a:latin typeface="Calibri" pitchFamily="34" charset="0"/>
                <a:ea typeface="Calibri" pitchFamily="34" charset="-122"/>
                <a:cs typeface="Calibri" pitchFamily="34" charset="-120"/>
              </a:rPr>
              <a:t>YOU WILL BUILD</a:t>
            </a:r>
            <a:endParaRPr lang="en-US" sz="1100" dirty="0"/>
          </a:p>
        </p:txBody>
      </p:sp>
      <p:sp>
        <p:nvSpPr>
          <p:cNvPr id="11" name="Shape 8"/>
          <p:cNvSpPr/>
          <p:nvPr/>
        </p:nvSpPr>
        <p:spPr>
          <a:xfrm>
            <a:off x="905256" y="2880360"/>
            <a:ext cx="182880" cy="182880"/>
          </a:xfrm>
          <a:prstGeom prst="ellipse">
            <a:avLst/>
          </a:prstGeom>
          <a:solidFill>
            <a:srgbClr val="0755E9"/>
          </a:solidFill>
          <a:ln/>
        </p:spPr>
      </p:sp>
      <p:sp>
        <p:nvSpPr>
          <p:cNvPr id="12" name="Text 9"/>
          <p:cNvSpPr/>
          <p:nvPr/>
        </p:nvSpPr>
        <p:spPr>
          <a:xfrm>
            <a:off x="1216152" y="2788920"/>
            <a:ext cx="5029200" cy="384048"/>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Ansible playbook to configure the VM</a:t>
            </a:r>
            <a:endParaRPr lang="en-US" sz="1300" dirty="0"/>
          </a:p>
        </p:txBody>
      </p:sp>
      <p:sp>
        <p:nvSpPr>
          <p:cNvPr id="13" name="Shape 10"/>
          <p:cNvSpPr/>
          <p:nvPr/>
        </p:nvSpPr>
        <p:spPr>
          <a:xfrm>
            <a:off x="905256" y="3355848"/>
            <a:ext cx="182880" cy="182880"/>
          </a:xfrm>
          <a:prstGeom prst="ellipse">
            <a:avLst/>
          </a:prstGeom>
          <a:solidFill>
            <a:srgbClr val="0755E9"/>
          </a:solidFill>
          <a:ln/>
        </p:spPr>
      </p:sp>
      <p:sp>
        <p:nvSpPr>
          <p:cNvPr id="14" name="Text 11"/>
          <p:cNvSpPr/>
          <p:nvPr/>
        </p:nvSpPr>
        <p:spPr>
          <a:xfrm>
            <a:off x="1216152" y="3264408"/>
            <a:ext cx="5029200" cy="384048"/>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Run it twice. Notice what does not happen.</a:t>
            </a:r>
            <a:endParaRPr lang="en-US" sz="1300" dirty="0"/>
          </a:p>
        </p:txBody>
      </p:sp>
      <p:sp>
        <p:nvSpPr>
          <p:cNvPr id="15" name="Shape 12"/>
          <p:cNvSpPr/>
          <p:nvPr/>
        </p:nvSpPr>
        <p:spPr>
          <a:xfrm>
            <a:off x="905256" y="3831336"/>
            <a:ext cx="182880" cy="182880"/>
          </a:xfrm>
          <a:prstGeom prst="ellipse">
            <a:avLst/>
          </a:prstGeom>
          <a:solidFill>
            <a:srgbClr val="0755E9"/>
          </a:solidFill>
          <a:ln/>
        </p:spPr>
      </p:sp>
      <p:sp>
        <p:nvSpPr>
          <p:cNvPr id="16" name="Text 13"/>
          <p:cNvSpPr/>
          <p:nvPr/>
        </p:nvSpPr>
        <p:spPr>
          <a:xfrm>
            <a:off x="1216152" y="3739896"/>
            <a:ext cx="5029200" cy="384048"/>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Containerise a Daig service from scratch</a:t>
            </a:r>
            <a:endParaRPr lang="en-US" sz="1300" dirty="0"/>
          </a:p>
        </p:txBody>
      </p:sp>
      <p:sp>
        <p:nvSpPr>
          <p:cNvPr id="17" name="Shape 14"/>
          <p:cNvSpPr/>
          <p:nvPr/>
        </p:nvSpPr>
        <p:spPr>
          <a:xfrm>
            <a:off x="905256" y="4306824"/>
            <a:ext cx="182880" cy="182880"/>
          </a:xfrm>
          <a:prstGeom prst="ellipse">
            <a:avLst/>
          </a:prstGeom>
          <a:solidFill>
            <a:srgbClr val="0755E9"/>
          </a:solidFill>
          <a:ln/>
        </p:spPr>
      </p:sp>
      <p:sp>
        <p:nvSpPr>
          <p:cNvPr id="18" name="Text 15"/>
          <p:cNvSpPr/>
          <p:nvPr/>
        </p:nvSpPr>
        <p:spPr>
          <a:xfrm>
            <a:off x="1216152" y="4215384"/>
            <a:ext cx="5029200" cy="384048"/>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docker compose up the whole stack</a:t>
            </a:r>
            <a:endParaRPr lang="en-US" sz="1300" dirty="0"/>
          </a:p>
        </p:txBody>
      </p:sp>
      <p:sp>
        <p:nvSpPr>
          <p:cNvPr id="19" name="Shape 16"/>
          <p:cNvSpPr/>
          <p:nvPr/>
        </p:nvSpPr>
        <p:spPr>
          <a:xfrm>
            <a:off x="6858000" y="2286000"/>
            <a:ext cx="4617720" cy="2606040"/>
          </a:xfrm>
          <a:prstGeom prst="roundRect">
            <a:avLst>
              <a:gd name="adj" fmla="val 2807"/>
            </a:avLst>
          </a:prstGeom>
          <a:solidFill>
            <a:srgbClr val="E4E9F5"/>
          </a:solidFill>
          <a:ln w="12700">
            <a:solidFill>
              <a:srgbClr val="E4E9F5"/>
            </a:solidFill>
            <a:prstDash val="solid"/>
          </a:ln>
        </p:spPr>
      </p:sp>
      <p:sp>
        <p:nvSpPr>
          <p:cNvPr id="20" name="Text 17"/>
          <p:cNvSpPr/>
          <p:nvPr/>
        </p:nvSpPr>
        <p:spPr>
          <a:xfrm>
            <a:off x="7150608" y="2450592"/>
            <a:ext cx="4023360" cy="292608"/>
          </a:xfrm>
          <a:prstGeom prst="rect">
            <a:avLst/>
          </a:prstGeom>
          <a:noFill/>
          <a:ln/>
        </p:spPr>
        <p:txBody>
          <a:bodyPr wrap="square" lIns="0" tIns="0" rIns="0" bIns="0" rtlCol="0" anchor="ctr"/>
          <a:lstStyle/>
          <a:p>
            <a:pPr indent="0" marL="0">
              <a:buNone/>
            </a:pPr>
            <a:r>
              <a:rPr lang="en-US" sz="1100" b="1" spc="200" kern="0" dirty="0">
                <a:solidFill>
                  <a:srgbClr val="EE4001"/>
                </a:solidFill>
                <a:latin typeface="Calibri" pitchFamily="34" charset="0"/>
                <a:ea typeface="Calibri" pitchFamily="34" charset="-122"/>
                <a:cs typeface="Calibri" pitchFamily="34" charset="-120"/>
              </a:rPr>
              <a:t>CHAOS HOUR - 16:00</a:t>
            </a:r>
            <a:endParaRPr lang="en-US" sz="1100" dirty="0"/>
          </a:p>
        </p:txBody>
      </p:sp>
      <p:sp>
        <p:nvSpPr>
          <p:cNvPr id="21" name="Text 18"/>
          <p:cNvSpPr/>
          <p:nvPr/>
        </p:nvSpPr>
        <p:spPr>
          <a:xfrm>
            <a:off x="7150608" y="2834640"/>
            <a:ext cx="4023360" cy="1828800"/>
          </a:xfrm>
          <a:prstGeom prst="rect">
            <a:avLst/>
          </a:prstGeom>
          <a:noFill/>
          <a:ln/>
        </p:spPr>
        <p:txBody>
          <a:bodyPr wrap="square" lIns="0" tIns="0" rIns="0" bIns="0" rtlCol="0" anchor="ctr"/>
          <a:lstStyle/>
          <a:p>
            <a:pPr indent="0" marL="0">
              <a:buNone/>
            </a:pPr>
            <a:r>
              <a:rPr lang="en-US" sz="1400" dirty="0">
                <a:solidFill>
                  <a:srgbClr val="0A1229"/>
                </a:solidFill>
                <a:latin typeface="Calibri" pitchFamily="34" charset="0"/>
                <a:ea typeface="Calibri" pitchFamily="34" charset="-122"/>
                <a:cs typeface="Calibri" pitchFamily="34" charset="-120"/>
              </a:rPr>
              <a:t>Monday's crash loop is back - but now there are three possible causes and you have the vocabulary to name them.</a:t>
            </a:r>
            <a:endParaRPr lang="en-US" sz="1400" dirty="0"/>
          </a:p>
        </p:txBody>
      </p:sp>
      <p:sp>
        <p:nvSpPr>
          <p:cNvPr id="22" name="Shape 19"/>
          <p:cNvSpPr/>
          <p:nvPr/>
        </p:nvSpPr>
        <p:spPr>
          <a:xfrm>
            <a:off x="594360" y="5166360"/>
            <a:ext cx="10881360" cy="1143000"/>
          </a:xfrm>
          <a:prstGeom prst="roundRect">
            <a:avLst>
              <a:gd name="adj" fmla="val 6400"/>
            </a:avLst>
          </a:prstGeom>
          <a:solidFill>
            <a:srgbClr val="0A1229"/>
          </a:solidFill>
          <a:ln w="12700">
            <a:solidFill>
              <a:srgbClr val="0A1229"/>
            </a:solidFill>
            <a:prstDash val="solid"/>
          </a:ln>
        </p:spPr>
      </p:sp>
      <p:sp>
        <p:nvSpPr>
          <p:cNvPr id="23" name="Text 20"/>
          <p:cNvSpPr/>
          <p:nvPr/>
        </p:nvSpPr>
        <p:spPr>
          <a:xfrm>
            <a:off x="960120" y="5321808"/>
            <a:ext cx="10149840" cy="274320"/>
          </a:xfrm>
          <a:prstGeom prst="rect">
            <a:avLst/>
          </a:prstGeom>
          <a:noFill/>
          <a:ln/>
        </p:spPr>
        <p:txBody>
          <a:bodyPr wrap="square" lIns="0" tIns="0" rIns="0" bIns="0" rtlCol="0" anchor="ctr"/>
          <a:lstStyle/>
          <a:p>
            <a:pPr indent="0" marL="0">
              <a:buNone/>
            </a:pPr>
            <a:r>
              <a:rPr lang="en-US" sz="1100" b="1" spc="200" kern="0" dirty="0">
                <a:solidFill>
                  <a:srgbClr val="8A99BF"/>
                </a:solidFill>
                <a:latin typeface="Calibri" pitchFamily="34" charset="0"/>
                <a:ea typeface="Calibri" pitchFamily="34" charset="-122"/>
                <a:cs typeface="Calibri" pitchFamily="34" charset="-120"/>
              </a:rPr>
              <a:t>SKIP THIS DAY AND</a:t>
            </a:r>
            <a:endParaRPr lang="en-US" sz="1100" dirty="0"/>
          </a:p>
        </p:txBody>
      </p:sp>
      <p:sp>
        <p:nvSpPr>
          <p:cNvPr id="24" name="Text 21"/>
          <p:cNvSpPr/>
          <p:nvPr/>
        </p:nvSpPr>
        <p:spPr>
          <a:xfrm>
            <a:off x="960120" y="5596128"/>
            <a:ext cx="10149840" cy="640080"/>
          </a:xfrm>
          <a:prstGeom prst="rect">
            <a:avLst/>
          </a:prstGeom>
          <a:noFill/>
          <a:ln/>
        </p:spPr>
        <p:txBody>
          <a:bodyPr wrap="square" lIns="0" tIns="0" rIns="0" bIns="0" rtlCol="0" anchor="ctr"/>
          <a:lstStyle/>
          <a:p>
            <a:pPr indent="0" marL="0">
              <a:buNone/>
            </a:pPr>
            <a:r>
              <a:rPr lang="en-US" sz="1500" b="1" dirty="0">
                <a:solidFill>
                  <a:srgbClr val="F4F6FB"/>
                </a:solidFill>
                <a:latin typeface="Calibri" pitchFamily="34" charset="0"/>
                <a:ea typeface="Calibri" pitchFamily="34" charset="-122"/>
                <a:cs typeface="Calibri" pitchFamily="34" charset="-120"/>
              </a:rPr>
              <a:t>"Works on my machine", for the rest of your career.</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6FB"/>
        </a:solidFill>
      </p:bgPr>
    </p:bg>
    <p:spTree>
      <p:nvGrpSpPr>
        <p:cNvPr id="1" name=""/>
        <p:cNvGrpSpPr/>
        <p:nvPr/>
      </p:nvGrpSpPr>
      <p:grpSpPr>
        <a:xfrm>
          <a:off x="0" y="0"/>
          <a:ext cx="0" cy="0"/>
          <a:chOff x="0" y="0"/>
          <a:chExt cx="0" cy="0"/>
        </a:xfrm>
      </p:grpSpPr>
      <p:sp>
        <p:nvSpPr>
          <p:cNvPr id="3" name="Shape 0"/>
          <p:cNvSpPr/>
          <p:nvPr/>
        </p:nvSpPr>
        <p:spPr>
          <a:xfrm>
            <a:off x="594360" y="384048"/>
            <a:ext cx="384048" cy="384048"/>
          </a:xfrm>
          <a:prstGeom prst="ellipse">
            <a:avLst/>
          </a:prstGeom>
          <a:solidFill>
            <a:srgbClr val="0755E9"/>
          </a:solidFill>
          <a:ln/>
        </p:spPr>
      </p:sp>
      <p:sp>
        <p:nvSpPr>
          <p:cNvPr id="4" name="Text 1"/>
          <p:cNvSpPr/>
          <p:nvPr/>
        </p:nvSpPr>
        <p:spPr>
          <a:xfrm>
            <a:off x="59436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5" name="Text 2"/>
          <p:cNvSpPr/>
          <p:nvPr/>
        </p:nvSpPr>
        <p:spPr>
          <a:xfrm>
            <a:off x="1097280" y="384048"/>
            <a:ext cx="7772400" cy="384048"/>
          </a:xfrm>
          <a:prstGeom prst="rect">
            <a:avLst/>
          </a:prstGeom>
          <a:noFill/>
          <a:ln/>
        </p:spPr>
        <p:txBody>
          <a:bodyPr wrap="square" lIns="0" tIns="0" rIns="0" bIns="0" rtlCol="0" anchor="ctr"/>
          <a:lstStyle/>
          <a:p>
            <a:pPr indent="0" marL="0">
              <a:buNone/>
            </a:pPr>
            <a:r>
              <a:rPr lang="en-US" sz="1100" b="1" spc="200" kern="0" dirty="0">
                <a:solidFill>
                  <a:srgbClr val="5A6890"/>
                </a:solidFill>
                <a:latin typeface="Calibri" pitchFamily="34" charset="0"/>
                <a:ea typeface="Calibri" pitchFamily="34" charset="-122"/>
                <a:cs typeface="Calibri" pitchFamily="34" charset="-120"/>
              </a:rPr>
              <a:t>THE WEEK</a:t>
            </a:r>
            <a:endParaRPr lang="en-US" sz="1100" dirty="0"/>
          </a:p>
        </p:txBody>
      </p:sp>
      <p:sp>
        <p:nvSpPr>
          <p:cNvPr id="6" name="Text 3"/>
          <p:cNvSpPr/>
          <p:nvPr/>
        </p:nvSpPr>
        <p:spPr>
          <a:xfrm>
            <a:off x="9875520" y="384048"/>
            <a:ext cx="1691640" cy="384048"/>
          </a:xfrm>
          <a:prstGeom prst="rect">
            <a:avLst/>
          </a:prstGeom>
          <a:noFill/>
          <a:ln/>
        </p:spPr>
        <p:txBody>
          <a:bodyPr wrap="square" lIns="0" tIns="0" rIns="0" bIns="0" rtlCol="0" anchor="ctr"/>
          <a:lstStyle/>
          <a:p>
            <a:pPr algn="r" indent="0" marL="0">
              <a:buNone/>
            </a:pPr>
            <a:r>
              <a:rPr lang="en-US" sz="1100" b="1" dirty="0">
                <a:solidFill>
                  <a:srgbClr val="5A6890"/>
                </a:solidFill>
                <a:latin typeface="Calibri" pitchFamily="34" charset="0"/>
                <a:ea typeface="Calibri" pitchFamily="34" charset="-122"/>
                <a:cs typeface="Calibri" pitchFamily="34" charset="-120"/>
              </a:rPr>
              <a:t>Day 4</a:t>
            </a:r>
            <a:endParaRPr lang="en-US" sz="1100" dirty="0"/>
          </a:p>
        </p:txBody>
      </p:sp>
      <p:sp>
        <p:nvSpPr>
          <p:cNvPr id="7" name="Text 4"/>
          <p:cNvSpPr/>
          <p:nvPr/>
        </p:nvSpPr>
        <p:spPr>
          <a:xfrm>
            <a:off x="594360" y="914400"/>
            <a:ext cx="10881360" cy="640080"/>
          </a:xfrm>
          <a:prstGeom prst="rect">
            <a:avLst/>
          </a:prstGeom>
          <a:noFill/>
          <a:ln/>
        </p:spPr>
        <p:txBody>
          <a:bodyPr wrap="square" lIns="0" tIns="0" rIns="0" bIns="0" rtlCol="0" anchor="ctr"/>
          <a:lstStyle/>
          <a:p>
            <a:pPr indent="0" marL="0">
              <a:buNone/>
            </a:pPr>
            <a:r>
              <a:rPr lang="en-US" sz="3200" b="1" dirty="0">
                <a:solidFill>
                  <a:srgbClr val="0A1229"/>
                </a:solidFill>
                <a:latin typeface="Calibri" pitchFamily="34" charset="0"/>
                <a:ea typeface="Calibri" pitchFamily="34" charset="-122"/>
                <a:cs typeface="Calibri" pitchFamily="34" charset="-120"/>
              </a:rPr>
              <a:t>Day 4 - CI/CD &amp; Observability</a:t>
            </a:r>
            <a:endParaRPr lang="en-US" sz="3200" dirty="0"/>
          </a:p>
        </p:txBody>
      </p:sp>
      <p:sp>
        <p:nvSpPr>
          <p:cNvPr id="8" name="Text 5"/>
          <p:cNvSpPr/>
          <p:nvPr/>
        </p:nvSpPr>
        <p:spPr>
          <a:xfrm>
            <a:off x="594360" y="1600200"/>
            <a:ext cx="10881360" cy="502920"/>
          </a:xfrm>
          <a:prstGeom prst="rect">
            <a:avLst/>
          </a:prstGeom>
          <a:noFill/>
          <a:ln/>
        </p:spPr>
        <p:txBody>
          <a:bodyPr wrap="square" lIns="0" tIns="0" rIns="0" bIns="0" rtlCol="0" anchor="ctr"/>
          <a:lstStyle/>
          <a:p>
            <a:pPr indent="0" marL="0">
              <a:buNone/>
            </a:pPr>
            <a:r>
              <a:rPr lang="en-US" sz="1600" i="1" dirty="0">
                <a:solidFill>
                  <a:srgbClr val="0755E9"/>
                </a:solidFill>
                <a:latin typeface="Calibri" pitchFamily="34" charset="0"/>
                <a:ea typeface="Calibri" pitchFamily="34" charset="-122"/>
                <a:cs typeface="Calibri" pitchFamily="34" charset="-120"/>
              </a:rPr>
              <a:t>Ship it without touching it. Then see what you actually shipped.</a:t>
            </a:r>
            <a:endParaRPr lang="en-US" sz="1600" dirty="0"/>
          </a:p>
        </p:txBody>
      </p:sp>
      <p:sp>
        <p:nvSpPr>
          <p:cNvPr id="9" name="Shape 6"/>
          <p:cNvSpPr/>
          <p:nvPr/>
        </p:nvSpPr>
        <p:spPr>
          <a:xfrm>
            <a:off x="594360" y="2286000"/>
            <a:ext cx="5943600" cy="2606040"/>
          </a:xfrm>
          <a:prstGeom prst="roundRect">
            <a:avLst>
              <a:gd name="adj" fmla="val 2807"/>
            </a:avLst>
          </a:prstGeom>
          <a:solidFill>
            <a:srgbClr val="E4E9F5"/>
          </a:solidFill>
          <a:ln w="12700">
            <a:solidFill>
              <a:srgbClr val="E4E9F5"/>
            </a:solidFill>
            <a:prstDash val="solid"/>
          </a:ln>
        </p:spPr>
      </p:sp>
      <p:sp>
        <p:nvSpPr>
          <p:cNvPr id="10" name="Text 7"/>
          <p:cNvSpPr/>
          <p:nvPr/>
        </p:nvSpPr>
        <p:spPr>
          <a:xfrm>
            <a:off x="886968" y="2450592"/>
            <a:ext cx="5394960" cy="292608"/>
          </a:xfrm>
          <a:prstGeom prst="rect">
            <a:avLst/>
          </a:prstGeom>
          <a:noFill/>
          <a:ln/>
        </p:spPr>
        <p:txBody>
          <a:bodyPr wrap="square" lIns="0" tIns="0" rIns="0" bIns="0" rtlCol="0" anchor="ctr"/>
          <a:lstStyle/>
          <a:p>
            <a:pPr indent="0" marL="0">
              <a:buNone/>
            </a:pPr>
            <a:r>
              <a:rPr lang="en-US" sz="1100" b="1" spc="200" kern="0" dirty="0">
                <a:solidFill>
                  <a:srgbClr val="5A6890"/>
                </a:solidFill>
                <a:latin typeface="Calibri" pitchFamily="34" charset="0"/>
                <a:ea typeface="Calibri" pitchFamily="34" charset="-122"/>
                <a:cs typeface="Calibri" pitchFamily="34" charset="-120"/>
              </a:rPr>
              <a:t>YOU WILL BUILD</a:t>
            </a:r>
            <a:endParaRPr lang="en-US" sz="1100" dirty="0"/>
          </a:p>
        </p:txBody>
      </p:sp>
      <p:sp>
        <p:nvSpPr>
          <p:cNvPr id="11" name="Shape 8"/>
          <p:cNvSpPr/>
          <p:nvPr/>
        </p:nvSpPr>
        <p:spPr>
          <a:xfrm>
            <a:off x="905256" y="2880360"/>
            <a:ext cx="182880" cy="182880"/>
          </a:xfrm>
          <a:prstGeom prst="ellipse">
            <a:avLst/>
          </a:prstGeom>
          <a:solidFill>
            <a:srgbClr val="0755E9"/>
          </a:solidFill>
          <a:ln/>
        </p:spPr>
      </p:sp>
      <p:sp>
        <p:nvSpPr>
          <p:cNvPr id="12" name="Text 9"/>
          <p:cNvSpPr/>
          <p:nvPr/>
        </p:nvSpPr>
        <p:spPr>
          <a:xfrm>
            <a:off x="1216152" y="2788920"/>
            <a:ext cx="5029200" cy="384048"/>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A pipeline that tests, builds and deploys on push</a:t>
            </a:r>
            <a:endParaRPr lang="en-US" sz="1300" dirty="0"/>
          </a:p>
        </p:txBody>
      </p:sp>
      <p:sp>
        <p:nvSpPr>
          <p:cNvPr id="13" name="Shape 10"/>
          <p:cNvSpPr/>
          <p:nvPr/>
        </p:nvSpPr>
        <p:spPr>
          <a:xfrm>
            <a:off x="905256" y="3355848"/>
            <a:ext cx="182880" cy="182880"/>
          </a:xfrm>
          <a:prstGeom prst="ellipse">
            <a:avLst/>
          </a:prstGeom>
          <a:solidFill>
            <a:srgbClr val="0755E9"/>
          </a:solidFill>
          <a:ln/>
        </p:spPr>
      </p:sp>
      <p:sp>
        <p:nvSpPr>
          <p:cNvPr id="14" name="Text 11"/>
          <p:cNvSpPr/>
          <p:nvPr/>
        </p:nvSpPr>
        <p:spPr>
          <a:xfrm>
            <a:off x="1216152" y="3264408"/>
            <a:ext cx="5029200" cy="384048"/>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Break the build on purpose. Watch it refuse to deploy.</a:t>
            </a:r>
            <a:endParaRPr lang="en-US" sz="1300" dirty="0"/>
          </a:p>
        </p:txBody>
      </p:sp>
      <p:sp>
        <p:nvSpPr>
          <p:cNvPr id="15" name="Shape 12"/>
          <p:cNvSpPr/>
          <p:nvPr/>
        </p:nvSpPr>
        <p:spPr>
          <a:xfrm>
            <a:off x="905256" y="3831336"/>
            <a:ext cx="182880" cy="182880"/>
          </a:xfrm>
          <a:prstGeom prst="ellipse">
            <a:avLst/>
          </a:prstGeom>
          <a:solidFill>
            <a:srgbClr val="0755E9"/>
          </a:solidFill>
          <a:ln/>
        </p:spPr>
      </p:sp>
      <p:sp>
        <p:nvSpPr>
          <p:cNvPr id="16" name="Text 13"/>
          <p:cNvSpPr/>
          <p:nvPr/>
        </p:nvSpPr>
        <p:spPr>
          <a:xfrm>
            <a:off x="1216152" y="3739896"/>
            <a:ext cx="5029200" cy="384048"/>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Instrument a service with OpenTelemetry</a:t>
            </a:r>
            <a:endParaRPr lang="en-US" sz="1300" dirty="0"/>
          </a:p>
        </p:txBody>
      </p:sp>
      <p:sp>
        <p:nvSpPr>
          <p:cNvPr id="17" name="Shape 14"/>
          <p:cNvSpPr/>
          <p:nvPr/>
        </p:nvSpPr>
        <p:spPr>
          <a:xfrm>
            <a:off x="905256" y="4306824"/>
            <a:ext cx="182880" cy="182880"/>
          </a:xfrm>
          <a:prstGeom prst="ellipse">
            <a:avLst/>
          </a:prstGeom>
          <a:solidFill>
            <a:srgbClr val="0755E9"/>
          </a:solidFill>
          <a:ln/>
        </p:spPr>
      </p:sp>
      <p:sp>
        <p:nvSpPr>
          <p:cNvPr id="18" name="Text 15"/>
          <p:cNvSpPr/>
          <p:nvPr/>
        </p:nvSpPr>
        <p:spPr>
          <a:xfrm>
            <a:off x="1216152" y="4215384"/>
            <a:ext cx="5029200" cy="384048"/>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Find the slow endpoint in a trace. Find the hot function in a profile.</a:t>
            </a:r>
            <a:endParaRPr lang="en-US" sz="1300" dirty="0"/>
          </a:p>
        </p:txBody>
      </p:sp>
      <p:sp>
        <p:nvSpPr>
          <p:cNvPr id="19" name="Shape 16"/>
          <p:cNvSpPr/>
          <p:nvPr/>
        </p:nvSpPr>
        <p:spPr>
          <a:xfrm>
            <a:off x="6858000" y="2286000"/>
            <a:ext cx="4617720" cy="2606040"/>
          </a:xfrm>
          <a:prstGeom prst="roundRect">
            <a:avLst>
              <a:gd name="adj" fmla="val 2807"/>
            </a:avLst>
          </a:prstGeom>
          <a:solidFill>
            <a:srgbClr val="E4E9F5"/>
          </a:solidFill>
          <a:ln w="12700">
            <a:solidFill>
              <a:srgbClr val="E4E9F5"/>
            </a:solidFill>
            <a:prstDash val="solid"/>
          </a:ln>
        </p:spPr>
      </p:sp>
      <p:sp>
        <p:nvSpPr>
          <p:cNvPr id="20" name="Text 17"/>
          <p:cNvSpPr/>
          <p:nvPr/>
        </p:nvSpPr>
        <p:spPr>
          <a:xfrm>
            <a:off x="7150608" y="2450592"/>
            <a:ext cx="4023360" cy="292608"/>
          </a:xfrm>
          <a:prstGeom prst="rect">
            <a:avLst/>
          </a:prstGeom>
          <a:noFill/>
          <a:ln/>
        </p:spPr>
        <p:txBody>
          <a:bodyPr wrap="square" lIns="0" tIns="0" rIns="0" bIns="0" rtlCol="0" anchor="ctr"/>
          <a:lstStyle/>
          <a:p>
            <a:pPr indent="0" marL="0">
              <a:buNone/>
            </a:pPr>
            <a:r>
              <a:rPr lang="en-US" sz="1100" b="1" spc="200" kern="0" dirty="0">
                <a:solidFill>
                  <a:srgbClr val="EE4001"/>
                </a:solidFill>
                <a:latin typeface="Calibri" pitchFamily="34" charset="0"/>
                <a:ea typeface="Calibri" pitchFamily="34" charset="-122"/>
                <a:cs typeface="Calibri" pitchFamily="34" charset="-120"/>
              </a:rPr>
              <a:t>CHAOS HOUR - 16:00</a:t>
            </a:r>
            <a:endParaRPr lang="en-US" sz="1100" dirty="0"/>
          </a:p>
        </p:txBody>
      </p:sp>
      <p:sp>
        <p:nvSpPr>
          <p:cNvPr id="21" name="Text 18"/>
          <p:cNvSpPr/>
          <p:nvPr/>
        </p:nvSpPr>
        <p:spPr>
          <a:xfrm>
            <a:off x="7150608" y="2834640"/>
            <a:ext cx="4023360" cy="1828800"/>
          </a:xfrm>
          <a:prstGeom prst="rect">
            <a:avLst/>
          </a:prstGeom>
          <a:noFill/>
          <a:ln/>
        </p:spPr>
        <p:txBody>
          <a:bodyPr wrap="square" lIns="0" tIns="0" rIns="0" bIns="0" rtlCol="0" anchor="ctr"/>
          <a:lstStyle/>
          <a:p>
            <a:pPr indent="0" marL="0">
              <a:buNone/>
            </a:pPr>
            <a:r>
              <a:rPr lang="en-US" sz="1400" dirty="0">
                <a:solidFill>
                  <a:srgbClr val="0A1229"/>
                </a:solidFill>
                <a:latin typeface="Calibri" pitchFamily="34" charset="0"/>
                <a:ea typeface="Calibri" pitchFamily="34" charset="-122"/>
                <a:cs typeface="Calibri" pitchFamily="34" charset="-120"/>
              </a:rPr>
              <a:t>Daig is slow at iftar. Nobody tells you which service. Find it in the traces.</a:t>
            </a:r>
            <a:endParaRPr lang="en-US" sz="1400" dirty="0"/>
          </a:p>
        </p:txBody>
      </p:sp>
      <p:sp>
        <p:nvSpPr>
          <p:cNvPr id="22" name="Shape 19"/>
          <p:cNvSpPr/>
          <p:nvPr/>
        </p:nvSpPr>
        <p:spPr>
          <a:xfrm>
            <a:off x="594360" y="5166360"/>
            <a:ext cx="10881360" cy="1143000"/>
          </a:xfrm>
          <a:prstGeom prst="roundRect">
            <a:avLst>
              <a:gd name="adj" fmla="val 6400"/>
            </a:avLst>
          </a:prstGeom>
          <a:solidFill>
            <a:srgbClr val="0A1229"/>
          </a:solidFill>
          <a:ln w="12700">
            <a:solidFill>
              <a:srgbClr val="0A1229"/>
            </a:solidFill>
            <a:prstDash val="solid"/>
          </a:ln>
        </p:spPr>
      </p:sp>
      <p:sp>
        <p:nvSpPr>
          <p:cNvPr id="23" name="Text 20"/>
          <p:cNvSpPr/>
          <p:nvPr/>
        </p:nvSpPr>
        <p:spPr>
          <a:xfrm>
            <a:off x="960120" y="5321808"/>
            <a:ext cx="10149840" cy="274320"/>
          </a:xfrm>
          <a:prstGeom prst="rect">
            <a:avLst/>
          </a:prstGeom>
          <a:noFill/>
          <a:ln/>
        </p:spPr>
        <p:txBody>
          <a:bodyPr wrap="square" lIns="0" tIns="0" rIns="0" bIns="0" rtlCol="0" anchor="ctr"/>
          <a:lstStyle/>
          <a:p>
            <a:pPr indent="0" marL="0">
              <a:buNone/>
            </a:pPr>
            <a:r>
              <a:rPr lang="en-US" sz="1100" b="1" spc="200" kern="0" dirty="0">
                <a:solidFill>
                  <a:srgbClr val="8A99BF"/>
                </a:solidFill>
                <a:latin typeface="Calibri" pitchFamily="34" charset="0"/>
                <a:ea typeface="Calibri" pitchFamily="34" charset="-122"/>
                <a:cs typeface="Calibri" pitchFamily="34" charset="-120"/>
              </a:rPr>
              <a:t>SKIP THIS DAY AND</a:t>
            </a:r>
            <a:endParaRPr lang="en-US" sz="1100" dirty="0"/>
          </a:p>
        </p:txBody>
      </p:sp>
      <p:sp>
        <p:nvSpPr>
          <p:cNvPr id="24" name="Text 21"/>
          <p:cNvSpPr/>
          <p:nvPr/>
        </p:nvSpPr>
        <p:spPr>
          <a:xfrm>
            <a:off x="960120" y="5596128"/>
            <a:ext cx="10149840" cy="640080"/>
          </a:xfrm>
          <a:prstGeom prst="rect">
            <a:avLst/>
          </a:prstGeom>
          <a:noFill/>
          <a:ln/>
        </p:spPr>
        <p:txBody>
          <a:bodyPr wrap="square" lIns="0" tIns="0" rIns="0" bIns="0" rtlCol="0" anchor="ctr"/>
          <a:lstStyle/>
          <a:p>
            <a:pPr indent="0" marL="0">
              <a:buNone/>
            </a:pPr>
            <a:r>
              <a:rPr lang="en-US" sz="1500" b="1" dirty="0">
                <a:solidFill>
                  <a:srgbClr val="F4F6FB"/>
                </a:solidFill>
                <a:latin typeface="Calibri" pitchFamily="34" charset="0"/>
                <a:ea typeface="Calibri" pitchFamily="34" charset="-122"/>
                <a:cs typeface="Calibri" pitchFamily="34" charset="-120"/>
              </a:rPr>
              <a:t>You ship blind and you debug by guessing. Both get more expensive every year of your career.</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6FB"/>
        </a:solidFill>
      </p:bgPr>
    </p:bg>
    <p:spTree>
      <p:nvGrpSpPr>
        <p:cNvPr id="1" name=""/>
        <p:cNvGrpSpPr/>
        <p:nvPr/>
      </p:nvGrpSpPr>
      <p:grpSpPr>
        <a:xfrm>
          <a:off x="0" y="0"/>
          <a:ext cx="0" cy="0"/>
          <a:chOff x="0" y="0"/>
          <a:chExt cx="0" cy="0"/>
        </a:xfrm>
      </p:grpSpPr>
      <p:sp>
        <p:nvSpPr>
          <p:cNvPr id="3" name="Shape 0"/>
          <p:cNvSpPr/>
          <p:nvPr/>
        </p:nvSpPr>
        <p:spPr>
          <a:xfrm>
            <a:off x="594360" y="384048"/>
            <a:ext cx="384048" cy="384048"/>
          </a:xfrm>
          <a:prstGeom prst="ellipse">
            <a:avLst/>
          </a:prstGeom>
          <a:solidFill>
            <a:srgbClr val="0755E9"/>
          </a:solidFill>
          <a:ln/>
        </p:spPr>
      </p:sp>
      <p:sp>
        <p:nvSpPr>
          <p:cNvPr id="4" name="Text 1"/>
          <p:cNvSpPr/>
          <p:nvPr/>
        </p:nvSpPr>
        <p:spPr>
          <a:xfrm>
            <a:off x="59436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5" name="Text 2"/>
          <p:cNvSpPr/>
          <p:nvPr/>
        </p:nvSpPr>
        <p:spPr>
          <a:xfrm>
            <a:off x="1097280" y="384048"/>
            <a:ext cx="7772400" cy="384048"/>
          </a:xfrm>
          <a:prstGeom prst="rect">
            <a:avLst/>
          </a:prstGeom>
          <a:noFill/>
          <a:ln/>
        </p:spPr>
        <p:txBody>
          <a:bodyPr wrap="square" lIns="0" tIns="0" rIns="0" bIns="0" rtlCol="0" anchor="ctr"/>
          <a:lstStyle/>
          <a:p>
            <a:pPr indent="0" marL="0">
              <a:buNone/>
            </a:pPr>
            <a:r>
              <a:rPr lang="en-US" sz="1100" b="1" spc="200" kern="0" dirty="0">
                <a:solidFill>
                  <a:srgbClr val="5A6890"/>
                </a:solidFill>
                <a:latin typeface="Calibri" pitchFamily="34" charset="0"/>
                <a:ea typeface="Calibri" pitchFamily="34" charset="-122"/>
                <a:cs typeface="Calibri" pitchFamily="34" charset="-120"/>
              </a:rPr>
              <a:t>THE WEEK</a:t>
            </a:r>
            <a:endParaRPr lang="en-US" sz="1100" dirty="0"/>
          </a:p>
        </p:txBody>
      </p:sp>
      <p:sp>
        <p:nvSpPr>
          <p:cNvPr id="6" name="Text 3"/>
          <p:cNvSpPr/>
          <p:nvPr/>
        </p:nvSpPr>
        <p:spPr>
          <a:xfrm>
            <a:off x="9875520" y="384048"/>
            <a:ext cx="1691640" cy="384048"/>
          </a:xfrm>
          <a:prstGeom prst="rect">
            <a:avLst/>
          </a:prstGeom>
          <a:noFill/>
          <a:ln/>
        </p:spPr>
        <p:txBody>
          <a:bodyPr wrap="square" lIns="0" tIns="0" rIns="0" bIns="0" rtlCol="0" anchor="ctr"/>
          <a:lstStyle/>
          <a:p>
            <a:pPr algn="r" indent="0" marL="0">
              <a:buNone/>
            </a:pPr>
            <a:r>
              <a:rPr lang="en-US" sz="1100" b="1" dirty="0">
                <a:solidFill>
                  <a:srgbClr val="5A6890"/>
                </a:solidFill>
                <a:latin typeface="Calibri" pitchFamily="34" charset="0"/>
                <a:ea typeface="Calibri" pitchFamily="34" charset="-122"/>
                <a:cs typeface="Calibri" pitchFamily="34" charset="-120"/>
              </a:rPr>
              <a:t>Day 5</a:t>
            </a:r>
            <a:endParaRPr lang="en-US" sz="1100" dirty="0"/>
          </a:p>
        </p:txBody>
      </p:sp>
      <p:sp>
        <p:nvSpPr>
          <p:cNvPr id="7" name="Text 4"/>
          <p:cNvSpPr/>
          <p:nvPr/>
        </p:nvSpPr>
        <p:spPr>
          <a:xfrm>
            <a:off x="594360" y="914400"/>
            <a:ext cx="10881360" cy="640080"/>
          </a:xfrm>
          <a:prstGeom prst="rect">
            <a:avLst/>
          </a:prstGeom>
          <a:noFill/>
          <a:ln/>
        </p:spPr>
        <p:txBody>
          <a:bodyPr wrap="square" lIns="0" tIns="0" rIns="0" bIns="0" rtlCol="0" anchor="ctr"/>
          <a:lstStyle/>
          <a:p>
            <a:pPr indent="0" marL="0">
              <a:buNone/>
            </a:pPr>
            <a:r>
              <a:rPr lang="en-US" sz="3200" b="1" dirty="0">
                <a:solidFill>
                  <a:srgbClr val="0A1229"/>
                </a:solidFill>
                <a:latin typeface="Calibri" pitchFamily="34" charset="0"/>
                <a:ea typeface="Calibri" pitchFamily="34" charset="-122"/>
                <a:cs typeface="Calibri" pitchFamily="34" charset="-120"/>
              </a:rPr>
              <a:t>Day 5 - DevSecOps</a:t>
            </a:r>
            <a:endParaRPr lang="en-US" sz="3200" dirty="0"/>
          </a:p>
        </p:txBody>
      </p:sp>
      <p:sp>
        <p:nvSpPr>
          <p:cNvPr id="8" name="Text 5"/>
          <p:cNvSpPr/>
          <p:nvPr/>
        </p:nvSpPr>
        <p:spPr>
          <a:xfrm>
            <a:off x="594360" y="1600200"/>
            <a:ext cx="10881360" cy="502920"/>
          </a:xfrm>
          <a:prstGeom prst="rect">
            <a:avLst/>
          </a:prstGeom>
          <a:noFill/>
          <a:ln/>
        </p:spPr>
        <p:txBody>
          <a:bodyPr wrap="square" lIns="0" tIns="0" rIns="0" bIns="0" rtlCol="0" anchor="ctr"/>
          <a:lstStyle/>
          <a:p>
            <a:pPr indent="0" marL="0">
              <a:buNone/>
            </a:pPr>
            <a:r>
              <a:rPr lang="en-US" sz="1600" i="1" dirty="0">
                <a:solidFill>
                  <a:srgbClr val="0755E9"/>
                </a:solidFill>
                <a:latin typeface="Calibri" pitchFamily="34" charset="0"/>
                <a:ea typeface="Calibri" pitchFamily="34" charset="-122"/>
                <a:cs typeface="Calibri" pitchFamily="34" charset="-120"/>
              </a:rPr>
              <a:t>Six real vulnerabilities are live in Daig right now. Find them before somebody else does.</a:t>
            </a:r>
            <a:endParaRPr lang="en-US" sz="1600" dirty="0"/>
          </a:p>
        </p:txBody>
      </p:sp>
      <p:sp>
        <p:nvSpPr>
          <p:cNvPr id="9" name="Shape 6"/>
          <p:cNvSpPr/>
          <p:nvPr/>
        </p:nvSpPr>
        <p:spPr>
          <a:xfrm>
            <a:off x="594360" y="2286000"/>
            <a:ext cx="5943600" cy="2606040"/>
          </a:xfrm>
          <a:prstGeom prst="roundRect">
            <a:avLst>
              <a:gd name="adj" fmla="val 2807"/>
            </a:avLst>
          </a:prstGeom>
          <a:solidFill>
            <a:srgbClr val="E4E9F5"/>
          </a:solidFill>
          <a:ln w="12700">
            <a:solidFill>
              <a:srgbClr val="E4E9F5"/>
            </a:solidFill>
            <a:prstDash val="solid"/>
          </a:ln>
        </p:spPr>
      </p:sp>
      <p:sp>
        <p:nvSpPr>
          <p:cNvPr id="10" name="Text 7"/>
          <p:cNvSpPr/>
          <p:nvPr/>
        </p:nvSpPr>
        <p:spPr>
          <a:xfrm>
            <a:off x="886968" y="2450592"/>
            <a:ext cx="5394960" cy="292608"/>
          </a:xfrm>
          <a:prstGeom prst="rect">
            <a:avLst/>
          </a:prstGeom>
          <a:noFill/>
          <a:ln/>
        </p:spPr>
        <p:txBody>
          <a:bodyPr wrap="square" lIns="0" tIns="0" rIns="0" bIns="0" rtlCol="0" anchor="ctr"/>
          <a:lstStyle/>
          <a:p>
            <a:pPr indent="0" marL="0">
              <a:buNone/>
            </a:pPr>
            <a:r>
              <a:rPr lang="en-US" sz="1100" b="1" spc="200" kern="0" dirty="0">
                <a:solidFill>
                  <a:srgbClr val="5A6890"/>
                </a:solidFill>
                <a:latin typeface="Calibri" pitchFamily="34" charset="0"/>
                <a:ea typeface="Calibri" pitchFamily="34" charset="-122"/>
                <a:cs typeface="Calibri" pitchFamily="34" charset="-120"/>
              </a:rPr>
              <a:t>YOU WILL BUILD</a:t>
            </a:r>
            <a:endParaRPr lang="en-US" sz="1100" dirty="0"/>
          </a:p>
        </p:txBody>
      </p:sp>
      <p:sp>
        <p:nvSpPr>
          <p:cNvPr id="11" name="Shape 8"/>
          <p:cNvSpPr/>
          <p:nvPr/>
        </p:nvSpPr>
        <p:spPr>
          <a:xfrm>
            <a:off x="905256" y="2880360"/>
            <a:ext cx="182880" cy="182880"/>
          </a:xfrm>
          <a:prstGeom prst="ellipse">
            <a:avLst/>
          </a:prstGeom>
          <a:solidFill>
            <a:srgbClr val="0755E9"/>
          </a:solidFill>
          <a:ln/>
        </p:spPr>
      </p:sp>
      <p:sp>
        <p:nvSpPr>
          <p:cNvPr id="12" name="Text 9"/>
          <p:cNvSpPr/>
          <p:nvPr/>
        </p:nvSpPr>
        <p:spPr>
          <a:xfrm>
            <a:off x="1216152" y="2788920"/>
            <a:ext cx="5029200" cy="384048"/>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Run the full gate chain: secrets, SAST, SCA, IaC, image, DAST</a:t>
            </a:r>
            <a:endParaRPr lang="en-US" sz="1300" dirty="0"/>
          </a:p>
        </p:txBody>
      </p:sp>
      <p:sp>
        <p:nvSpPr>
          <p:cNvPr id="13" name="Shape 10"/>
          <p:cNvSpPr/>
          <p:nvPr/>
        </p:nvSpPr>
        <p:spPr>
          <a:xfrm>
            <a:off x="905256" y="3355848"/>
            <a:ext cx="182880" cy="182880"/>
          </a:xfrm>
          <a:prstGeom prst="ellipse">
            <a:avLst/>
          </a:prstGeom>
          <a:solidFill>
            <a:srgbClr val="0755E9"/>
          </a:solidFill>
          <a:ln/>
        </p:spPr>
      </p:sp>
      <p:sp>
        <p:nvSpPr>
          <p:cNvPr id="14" name="Text 11"/>
          <p:cNvSpPr/>
          <p:nvPr/>
        </p:nvSpPr>
        <p:spPr>
          <a:xfrm>
            <a:off x="1216152" y="3264408"/>
            <a:ext cx="5029200" cy="384048"/>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Triage the findings - which actually matter here?</a:t>
            </a:r>
            <a:endParaRPr lang="en-US" sz="1300" dirty="0"/>
          </a:p>
        </p:txBody>
      </p:sp>
      <p:sp>
        <p:nvSpPr>
          <p:cNvPr id="15" name="Shape 12"/>
          <p:cNvSpPr/>
          <p:nvPr/>
        </p:nvSpPr>
        <p:spPr>
          <a:xfrm>
            <a:off x="905256" y="3831336"/>
            <a:ext cx="182880" cy="182880"/>
          </a:xfrm>
          <a:prstGeom prst="ellipse">
            <a:avLst/>
          </a:prstGeom>
          <a:solidFill>
            <a:srgbClr val="0755E9"/>
          </a:solidFill>
          <a:ln/>
        </p:spPr>
      </p:sp>
      <p:sp>
        <p:nvSpPr>
          <p:cNvPr id="16" name="Text 13"/>
          <p:cNvSpPr/>
          <p:nvPr/>
        </p:nvSpPr>
        <p:spPr>
          <a:xfrm>
            <a:off x="1216152" y="3739896"/>
            <a:ext cx="5029200" cy="384048"/>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Find the one every scanner missed</a:t>
            </a:r>
            <a:endParaRPr lang="en-US" sz="1300" dirty="0"/>
          </a:p>
        </p:txBody>
      </p:sp>
      <p:sp>
        <p:nvSpPr>
          <p:cNvPr id="17" name="Shape 14"/>
          <p:cNvSpPr/>
          <p:nvPr/>
        </p:nvSpPr>
        <p:spPr>
          <a:xfrm>
            <a:off x="905256" y="4306824"/>
            <a:ext cx="182880" cy="182880"/>
          </a:xfrm>
          <a:prstGeom prst="ellipse">
            <a:avLst/>
          </a:prstGeom>
          <a:solidFill>
            <a:srgbClr val="0755E9"/>
          </a:solidFill>
          <a:ln/>
        </p:spPr>
      </p:sp>
      <p:sp>
        <p:nvSpPr>
          <p:cNvPr id="18" name="Text 15"/>
          <p:cNvSpPr/>
          <p:nvPr/>
        </p:nvSpPr>
        <p:spPr>
          <a:xfrm>
            <a:off x="1216152" y="4215384"/>
            <a:ext cx="5029200" cy="384048"/>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Fix three, then write a gate so they cannot come back</a:t>
            </a:r>
            <a:endParaRPr lang="en-US" sz="1300" dirty="0"/>
          </a:p>
        </p:txBody>
      </p:sp>
      <p:sp>
        <p:nvSpPr>
          <p:cNvPr id="19" name="Shape 16"/>
          <p:cNvSpPr/>
          <p:nvPr/>
        </p:nvSpPr>
        <p:spPr>
          <a:xfrm>
            <a:off x="6858000" y="2286000"/>
            <a:ext cx="4617720" cy="2606040"/>
          </a:xfrm>
          <a:prstGeom prst="roundRect">
            <a:avLst>
              <a:gd name="adj" fmla="val 2807"/>
            </a:avLst>
          </a:prstGeom>
          <a:solidFill>
            <a:srgbClr val="E4E9F5"/>
          </a:solidFill>
          <a:ln w="12700">
            <a:solidFill>
              <a:srgbClr val="E4E9F5"/>
            </a:solidFill>
            <a:prstDash val="solid"/>
          </a:ln>
        </p:spPr>
      </p:sp>
      <p:sp>
        <p:nvSpPr>
          <p:cNvPr id="20" name="Text 17"/>
          <p:cNvSpPr/>
          <p:nvPr/>
        </p:nvSpPr>
        <p:spPr>
          <a:xfrm>
            <a:off x="7150608" y="2450592"/>
            <a:ext cx="4023360" cy="292608"/>
          </a:xfrm>
          <a:prstGeom prst="rect">
            <a:avLst/>
          </a:prstGeom>
          <a:noFill/>
          <a:ln/>
        </p:spPr>
        <p:txBody>
          <a:bodyPr wrap="square" lIns="0" tIns="0" rIns="0" bIns="0" rtlCol="0" anchor="ctr"/>
          <a:lstStyle/>
          <a:p>
            <a:pPr indent="0" marL="0">
              <a:buNone/>
            </a:pPr>
            <a:r>
              <a:rPr lang="en-US" sz="1100" b="1" spc="200" kern="0" dirty="0">
                <a:solidFill>
                  <a:srgbClr val="EE4001"/>
                </a:solidFill>
                <a:latin typeface="Calibri" pitchFamily="34" charset="0"/>
                <a:ea typeface="Calibri" pitchFamily="34" charset="-122"/>
                <a:cs typeface="Calibri" pitchFamily="34" charset="-120"/>
              </a:rPr>
              <a:t>CHAOS HOUR - 16:00</a:t>
            </a:r>
            <a:endParaRPr lang="en-US" sz="1100" dirty="0"/>
          </a:p>
        </p:txBody>
      </p:sp>
      <p:sp>
        <p:nvSpPr>
          <p:cNvPr id="21" name="Text 18"/>
          <p:cNvSpPr/>
          <p:nvPr/>
        </p:nvSpPr>
        <p:spPr>
          <a:xfrm>
            <a:off x="7150608" y="2834640"/>
            <a:ext cx="4023360" cy="1828800"/>
          </a:xfrm>
          <a:prstGeom prst="rect">
            <a:avLst/>
          </a:prstGeom>
          <a:noFill/>
          <a:ln/>
        </p:spPr>
        <p:txBody>
          <a:bodyPr wrap="square" lIns="0" tIns="0" rIns="0" bIns="0" rtlCol="0" anchor="ctr"/>
          <a:lstStyle/>
          <a:p>
            <a:pPr indent="0" marL="0">
              <a:buNone/>
            </a:pPr>
            <a:r>
              <a:rPr lang="en-US" sz="1400" dirty="0">
                <a:solidFill>
                  <a:srgbClr val="0A1229"/>
                </a:solidFill>
                <a:latin typeface="Calibri" pitchFamily="34" charset="0"/>
                <a:ea typeface="Calibri" pitchFamily="34" charset="-122"/>
                <a:cs typeface="Calibri" pitchFamily="34" charset="-120"/>
              </a:rPr>
              <a:t>Five of six get flagged automatically. One does not. Find it, and work out why no tool could have.</a:t>
            </a:r>
            <a:endParaRPr lang="en-US" sz="1400" dirty="0"/>
          </a:p>
        </p:txBody>
      </p:sp>
      <p:sp>
        <p:nvSpPr>
          <p:cNvPr id="22" name="Shape 19"/>
          <p:cNvSpPr/>
          <p:nvPr/>
        </p:nvSpPr>
        <p:spPr>
          <a:xfrm>
            <a:off x="594360" y="5166360"/>
            <a:ext cx="10881360" cy="1143000"/>
          </a:xfrm>
          <a:prstGeom prst="roundRect">
            <a:avLst>
              <a:gd name="adj" fmla="val 6400"/>
            </a:avLst>
          </a:prstGeom>
          <a:solidFill>
            <a:srgbClr val="0A1229"/>
          </a:solidFill>
          <a:ln w="12700">
            <a:solidFill>
              <a:srgbClr val="0A1229"/>
            </a:solidFill>
            <a:prstDash val="solid"/>
          </a:ln>
        </p:spPr>
      </p:sp>
      <p:sp>
        <p:nvSpPr>
          <p:cNvPr id="23" name="Text 20"/>
          <p:cNvSpPr/>
          <p:nvPr/>
        </p:nvSpPr>
        <p:spPr>
          <a:xfrm>
            <a:off x="960120" y="5321808"/>
            <a:ext cx="10149840" cy="274320"/>
          </a:xfrm>
          <a:prstGeom prst="rect">
            <a:avLst/>
          </a:prstGeom>
          <a:noFill/>
          <a:ln/>
        </p:spPr>
        <p:txBody>
          <a:bodyPr wrap="square" lIns="0" tIns="0" rIns="0" bIns="0" rtlCol="0" anchor="ctr"/>
          <a:lstStyle/>
          <a:p>
            <a:pPr indent="0" marL="0">
              <a:buNone/>
            </a:pPr>
            <a:r>
              <a:rPr lang="en-US" sz="1100" b="1" spc="200" kern="0" dirty="0">
                <a:solidFill>
                  <a:srgbClr val="8A99BF"/>
                </a:solidFill>
                <a:latin typeface="Calibri" pitchFamily="34" charset="0"/>
                <a:ea typeface="Calibri" pitchFamily="34" charset="-122"/>
                <a:cs typeface="Calibri" pitchFamily="34" charset="-120"/>
              </a:rPr>
              <a:t>SKIP THIS DAY AND</a:t>
            </a:r>
            <a:endParaRPr lang="en-US" sz="1100" dirty="0"/>
          </a:p>
        </p:txBody>
      </p:sp>
      <p:sp>
        <p:nvSpPr>
          <p:cNvPr id="24" name="Text 21"/>
          <p:cNvSpPr/>
          <p:nvPr/>
        </p:nvSpPr>
        <p:spPr>
          <a:xfrm>
            <a:off x="960120" y="5596128"/>
            <a:ext cx="10149840" cy="640080"/>
          </a:xfrm>
          <a:prstGeom prst="rect">
            <a:avLst/>
          </a:prstGeom>
          <a:noFill/>
          <a:ln/>
        </p:spPr>
        <p:txBody>
          <a:bodyPr wrap="square" lIns="0" tIns="0" rIns="0" bIns="0" rtlCol="0" anchor="ctr"/>
          <a:lstStyle/>
          <a:p>
            <a:pPr indent="0" marL="0">
              <a:buNone/>
            </a:pPr>
            <a:r>
              <a:rPr lang="en-US" sz="1500" b="1" dirty="0">
                <a:solidFill>
                  <a:srgbClr val="F4F6FB"/>
                </a:solidFill>
                <a:latin typeface="Calibri" pitchFamily="34" charset="0"/>
                <a:ea typeface="Calibri" pitchFamily="34" charset="-122"/>
                <a:cs typeface="Calibri" pitchFamily="34" charset="-120"/>
              </a:rPr>
              <a:t>You ship other people's vulnerabilities and find out from someone who is not on your side.</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6FB"/>
        </a:solidFill>
      </p:bgPr>
    </p:bg>
    <p:spTree>
      <p:nvGrpSpPr>
        <p:cNvPr id="1" name=""/>
        <p:cNvGrpSpPr/>
        <p:nvPr/>
      </p:nvGrpSpPr>
      <p:grpSpPr>
        <a:xfrm>
          <a:off x="0" y="0"/>
          <a:ext cx="0" cy="0"/>
          <a:chOff x="0" y="0"/>
          <a:chExt cx="0" cy="0"/>
        </a:xfrm>
      </p:grpSpPr>
      <p:sp>
        <p:nvSpPr>
          <p:cNvPr id="3" name="Shape 0"/>
          <p:cNvSpPr/>
          <p:nvPr/>
        </p:nvSpPr>
        <p:spPr>
          <a:xfrm>
            <a:off x="594360" y="384048"/>
            <a:ext cx="384048" cy="384048"/>
          </a:xfrm>
          <a:prstGeom prst="ellipse">
            <a:avLst/>
          </a:prstGeom>
          <a:solidFill>
            <a:srgbClr val="0755E9"/>
          </a:solidFill>
          <a:ln/>
        </p:spPr>
      </p:sp>
      <p:sp>
        <p:nvSpPr>
          <p:cNvPr id="4" name="Text 1"/>
          <p:cNvSpPr/>
          <p:nvPr/>
        </p:nvSpPr>
        <p:spPr>
          <a:xfrm>
            <a:off x="59436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5" name="Text 2"/>
          <p:cNvSpPr/>
          <p:nvPr/>
        </p:nvSpPr>
        <p:spPr>
          <a:xfrm>
            <a:off x="1097280" y="384048"/>
            <a:ext cx="7772400" cy="384048"/>
          </a:xfrm>
          <a:prstGeom prst="rect">
            <a:avLst/>
          </a:prstGeom>
          <a:noFill/>
          <a:ln/>
        </p:spPr>
        <p:txBody>
          <a:bodyPr wrap="square" lIns="0" tIns="0" rIns="0" bIns="0" rtlCol="0" anchor="ctr"/>
          <a:lstStyle/>
          <a:p>
            <a:pPr indent="0" marL="0">
              <a:buNone/>
            </a:pPr>
            <a:r>
              <a:rPr lang="en-US" sz="1100" b="1" spc="200" kern="0" dirty="0">
                <a:solidFill>
                  <a:srgbClr val="5A6890"/>
                </a:solidFill>
                <a:latin typeface="Calibri" pitchFamily="34" charset="0"/>
                <a:ea typeface="Calibri" pitchFamily="34" charset="-122"/>
                <a:cs typeface="Calibri" pitchFamily="34" charset="-120"/>
              </a:rPr>
              <a:t>THE WEEK</a:t>
            </a:r>
            <a:endParaRPr lang="en-US" sz="1100" dirty="0"/>
          </a:p>
        </p:txBody>
      </p:sp>
      <p:sp>
        <p:nvSpPr>
          <p:cNvPr id="6" name="Text 3"/>
          <p:cNvSpPr/>
          <p:nvPr/>
        </p:nvSpPr>
        <p:spPr>
          <a:xfrm>
            <a:off x="9875520" y="384048"/>
            <a:ext cx="1691640" cy="384048"/>
          </a:xfrm>
          <a:prstGeom prst="rect">
            <a:avLst/>
          </a:prstGeom>
          <a:noFill/>
          <a:ln/>
        </p:spPr>
        <p:txBody>
          <a:bodyPr wrap="square" lIns="0" tIns="0" rIns="0" bIns="0" rtlCol="0" anchor="ctr"/>
          <a:lstStyle/>
          <a:p>
            <a:pPr algn="r" indent="0" marL="0">
              <a:buNone/>
            </a:pPr>
            <a:r>
              <a:rPr lang="en-US" sz="1100" b="1" dirty="0">
                <a:solidFill>
                  <a:srgbClr val="5A6890"/>
                </a:solidFill>
                <a:latin typeface="Calibri" pitchFamily="34" charset="0"/>
                <a:ea typeface="Calibri" pitchFamily="34" charset="-122"/>
                <a:cs typeface="Calibri" pitchFamily="34" charset="-120"/>
              </a:rPr>
              <a:t>Day 6</a:t>
            </a:r>
            <a:endParaRPr lang="en-US" sz="1100" dirty="0"/>
          </a:p>
        </p:txBody>
      </p:sp>
      <p:sp>
        <p:nvSpPr>
          <p:cNvPr id="7" name="Text 4"/>
          <p:cNvSpPr/>
          <p:nvPr/>
        </p:nvSpPr>
        <p:spPr>
          <a:xfrm>
            <a:off x="594360" y="914400"/>
            <a:ext cx="10881360" cy="640080"/>
          </a:xfrm>
          <a:prstGeom prst="rect">
            <a:avLst/>
          </a:prstGeom>
          <a:noFill/>
          <a:ln/>
        </p:spPr>
        <p:txBody>
          <a:bodyPr wrap="square" lIns="0" tIns="0" rIns="0" bIns="0" rtlCol="0" anchor="ctr"/>
          <a:lstStyle/>
          <a:p>
            <a:pPr indent="0" marL="0">
              <a:buNone/>
            </a:pPr>
            <a:r>
              <a:rPr lang="en-US" sz="3200" b="1" dirty="0">
                <a:solidFill>
                  <a:srgbClr val="0A1229"/>
                </a:solidFill>
                <a:latin typeface="Calibri" pitchFamily="34" charset="0"/>
                <a:ea typeface="Calibri" pitchFamily="34" charset="-122"/>
                <a:cs typeface="Calibri" pitchFamily="34" charset="-120"/>
              </a:rPr>
              <a:t>Day 6 - Kubernetes &amp; Demo Day</a:t>
            </a:r>
            <a:endParaRPr lang="en-US" sz="3200" dirty="0"/>
          </a:p>
        </p:txBody>
      </p:sp>
      <p:sp>
        <p:nvSpPr>
          <p:cNvPr id="8" name="Text 5"/>
          <p:cNvSpPr/>
          <p:nvPr/>
        </p:nvSpPr>
        <p:spPr>
          <a:xfrm>
            <a:off x="594360" y="1600200"/>
            <a:ext cx="10881360" cy="502920"/>
          </a:xfrm>
          <a:prstGeom prst="rect">
            <a:avLst/>
          </a:prstGeom>
          <a:noFill/>
          <a:ln/>
        </p:spPr>
        <p:txBody>
          <a:bodyPr wrap="square" lIns="0" tIns="0" rIns="0" bIns="0" rtlCol="0" anchor="ctr"/>
          <a:lstStyle/>
          <a:p>
            <a:pPr indent="0" marL="0">
              <a:buNone/>
            </a:pPr>
            <a:r>
              <a:rPr lang="en-US" sz="1600" i="1" dirty="0">
                <a:solidFill>
                  <a:srgbClr val="0755E9"/>
                </a:solidFill>
                <a:latin typeface="Calibri" pitchFamily="34" charset="0"/>
                <a:ea typeface="Calibri" pitchFamily="34" charset="-122"/>
                <a:cs typeface="Calibri" pitchFamily="34" charset="-120"/>
              </a:rPr>
              <a:t>One container is easy. Forty that find each other, restart themselves and survive a node dying - that is orchestration.</a:t>
            </a:r>
            <a:endParaRPr lang="en-US" sz="1600" dirty="0"/>
          </a:p>
        </p:txBody>
      </p:sp>
      <p:sp>
        <p:nvSpPr>
          <p:cNvPr id="9" name="Shape 6"/>
          <p:cNvSpPr/>
          <p:nvPr/>
        </p:nvSpPr>
        <p:spPr>
          <a:xfrm>
            <a:off x="594360" y="2286000"/>
            <a:ext cx="5943600" cy="2606040"/>
          </a:xfrm>
          <a:prstGeom prst="roundRect">
            <a:avLst>
              <a:gd name="adj" fmla="val 2807"/>
            </a:avLst>
          </a:prstGeom>
          <a:solidFill>
            <a:srgbClr val="E4E9F5"/>
          </a:solidFill>
          <a:ln w="12700">
            <a:solidFill>
              <a:srgbClr val="E4E9F5"/>
            </a:solidFill>
            <a:prstDash val="solid"/>
          </a:ln>
        </p:spPr>
      </p:sp>
      <p:sp>
        <p:nvSpPr>
          <p:cNvPr id="10" name="Text 7"/>
          <p:cNvSpPr/>
          <p:nvPr/>
        </p:nvSpPr>
        <p:spPr>
          <a:xfrm>
            <a:off x="886968" y="2450592"/>
            <a:ext cx="5394960" cy="292608"/>
          </a:xfrm>
          <a:prstGeom prst="rect">
            <a:avLst/>
          </a:prstGeom>
          <a:noFill/>
          <a:ln/>
        </p:spPr>
        <p:txBody>
          <a:bodyPr wrap="square" lIns="0" tIns="0" rIns="0" bIns="0" rtlCol="0" anchor="ctr"/>
          <a:lstStyle/>
          <a:p>
            <a:pPr indent="0" marL="0">
              <a:buNone/>
            </a:pPr>
            <a:r>
              <a:rPr lang="en-US" sz="1100" b="1" spc="200" kern="0" dirty="0">
                <a:solidFill>
                  <a:srgbClr val="5A6890"/>
                </a:solidFill>
                <a:latin typeface="Calibri" pitchFamily="34" charset="0"/>
                <a:ea typeface="Calibri" pitchFamily="34" charset="-122"/>
                <a:cs typeface="Calibri" pitchFamily="34" charset="-120"/>
              </a:rPr>
              <a:t>YOU WILL BUILD</a:t>
            </a:r>
            <a:endParaRPr lang="en-US" sz="1100" dirty="0"/>
          </a:p>
        </p:txBody>
      </p:sp>
      <p:sp>
        <p:nvSpPr>
          <p:cNvPr id="11" name="Shape 8"/>
          <p:cNvSpPr/>
          <p:nvPr/>
        </p:nvSpPr>
        <p:spPr>
          <a:xfrm>
            <a:off x="905256" y="2880360"/>
            <a:ext cx="182880" cy="182880"/>
          </a:xfrm>
          <a:prstGeom prst="ellipse">
            <a:avLst/>
          </a:prstGeom>
          <a:solidFill>
            <a:srgbClr val="0755E9"/>
          </a:solidFill>
          <a:ln/>
        </p:spPr>
      </p:sp>
      <p:sp>
        <p:nvSpPr>
          <p:cNvPr id="12" name="Text 9"/>
          <p:cNvSpPr/>
          <p:nvPr/>
        </p:nvSpPr>
        <p:spPr>
          <a:xfrm>
            <a:off x="1216152" y="2788920"/>
            <a:ext cx="5029200" cy="384048"/>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Deploy Daig to a cluster: pods, deployments, services</a:t>
            </a:r>
            <a:endParaRPr lang="en-US" sz="1300" dirty="0"/>
          </a:p>
        </p:txBody>
      </p:sp>
      <p:sp>
        <p:nvSpPr>
          <p:cNvPr id="13" name="Shape 10"/>
          <p:cNvSpPr/>
          <p:nvPr/>
        </p:nvSpPr>
        <p:spPr>
          <a:xfrm>
            <a:off x="905256" y="3355848"/>
            <a:ext cx="182880" cy="182880"/>
          </a:xfrm>
          <a:prstGeom prst="ellipse">
            <a:avLst/>
          </a:prstGeom>
          <a:solidFill>
            <a:srgbClr val="0755E9"/>
          </a:solidFill>
          <a:ln/>
        </p:spPr>
      </p:sp>
      <p:sp>
        <p:nvSpPr>
          <p:cNvPr id="14" name="Text 11"/>
          <p:cNvSpPr/>
          <p:nvPr/>
        </p:nvSpPr>
        <p:spPr>
          <a:xfrm>
            <a:off x="1216152" y="3264408"/>
            <a:ext cx="5029200" cy="384048"/>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Scale it up. Then delete a pod and watch it return.</a:t>
            </a:r>
            <a:endParaRPr lang="en-US" sz="1300" dirty="0"/>
          </a:p>
        </p:txBody>
      </p:sp>
      <p:sp>
        <p:nvSpPr>
          <p:cNvPr id="15" name="Shape 12"/>
          <p:cNvSpPr/>
          <p:nvPr/>
        </p:nvSpPr>
        <p:spPr>
          <a:xfrm>
            <a:off x="905256" y="3831336"/>
            <a:ext cx="182880" cy="182880"/>
          </a:xfrm>
          <a:prstGeom prst="ellipse">
            <a:avLst/>
          </a:prstGeom>
          <a:solidFill>
            <a:srgbClr val="0755E9"/>
          </a:solidFill>
          <a:ln/>
        </p:spPr>
      </p:sp>
      <p:sp>
        <p:nvSpPr>
          <p:cNvPr id="16" name="Text 13"/>
          <p:cNvSpPr/>
          <p:nvPr/>
        </p:nvSpPr>
        <p:spPr>
          <a:xfrm>
            <a:off x="1216152" y="3739896"/>
            <a:ext cx="5029200" cy="384048"/>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Roll out an update. Then roll it back.</a:t>
            </a:r>
            <a:endParaRPr lang="en-US" sz="1300" dirty="0"/>
          </a:p>
        </p:txBody>
      </p:sp>
      <p:sp>
        <p:nvSpPr>
          <p:cNvPr id="17" name="Shape 14"/>
          <p:cNvSpPr/>
          <p:nvPr/>
        </p:nvSpPr>
        <p:spPr>
          <a:xfrm>
            <a:off x="905256" y="4306824"/>
            <a:ext cx="182880" cy="182880"/>
          </a:xfrm>
          <a:prstGeom prst="ellipse">
            <a:avLst/>
          </a:prstGeom>
          <a:solidFill>
            <a:srgbClr val="0755E9"/>
          </a:solidFill>
          <a:ln/>
        </p:spPr>
      </p:sp>
      <p:sp>
        <p:nvSpPr>
          <p:cNvPr id="18" name="Text 15"/>
          <p:cNvSpPr/>
          <p:nvPr/>
        </p:nvSpPr>
        <p:spPr>
          <a:xfrm>
            <a:off x="1216152" y="4215384"/>
            <a:ext cx="5029200" cy="384048"/>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Afternoon: Demo Day</a:t>
            </a:r>
            <a:endParaRPr lang="en-US" sz="1300" dirty="0"/>
          </a:p>
        </p:txBody>
      </p:sp>
      <p:sp>
        <p:nvSpPr>
          <p:cNvPr id="19" name="Shape 16"/>
          <p:cNvSpPr/>
          <p:nvPr/>
        </p:nvSpPr>
        <p:spPr>
          <a:xfrm>
            <a:off x="6858000" y="2286000"/>
            <a:ext cx="4617720" cy="2606040"/>
          </a:xfrm>
          <a:prstGeom prst="roundRect">
            <a:avLst>
              <a:gd name="adj" fmla="val 2807"/>
            </a:avLst>
          </a:prstGeom>
          <a:solidFill>
            <a:srgbClr val="E4E9F5"/>
          </a:solidFill>
          <a:ln w="12700">
            <a:solidFill>
              <a:srgbClr val="E4E9F5"/>
            </a:solidFill>
            <a:prstDash val="solid"/>
          </a:ln>
        </p:spPr>
      </p:sp>
      <p:sp>
        <p:nvSpPr>
          <p:cNvPr id="20" name="Text 17"/>
          <p:cNvSpPr/>
          <p:nvPr/>
        </p:nvSpPr>
        <p:spPr>
          <a:xfrm>
            <a:off x="7150608" y="2450592"/>
            <a:ext cx="4023360" cy="292608"/>
          </a:xfrm>
          <a:prstGeom prst="rect">
            <a:avLst/>
          </a:prstGeom>
          <a:noFill/>
          <a:ln/>
        </p:spPr>
        <p:txBody>
          <a:bodyPr wrap="square" lIns="0" tIns="0" rIns="0" bIns="0" rtlCol="0" anchor="ctr"/>
          <a:lstStyle/>
          <a:p>
            <a:pPr indent="0" marL="0">
              <a:buNone/>
            </a:pPr>
            <a:r>
              <a:rPr lang="en-US" sz="1100" b="1" spc="200" kern="0" dirty="0">
                <a:solidFill>
                  <a:srgbClr val="EE4001"/>
                </a:solidFill>
                <a:latin typeface="Calibri" pitchFamily="34" charset="0"/>
                <a:ea typeface="Calibri" pitchFamily="34" charset="-122"/>
                <a:cs typeface="Calibri" pitchFamily="34" charset="-120"/>
              </a:rPr>
              <a:t>CHAOS HOUR - 16:00</a:t>
            </a:r>
            <a:endParaRPr lang="en-US" sz="1100" dirty="0"/>
          </a:p>
        </p:txBody>
      </p:sp>
      <p:sp>
        <p:nvSpPr>
          <p:cNvPr id="21" name="Text 18"/>
          <p:cNvSpPr/>
          <p:nvPr/>
        </p:nvSpPr>
        <p:spPr>
          <a:xfrm>
            <a:off x="7150608" y="2834640"/>
            <a:ext cx="4023360" cy="1828800"/>
          </a:xfrm>
          <a:prstGeom prst="rect">
            <a:avLst/>
          </a:prstGeom>
          <a:noFill/>
          <a:ln/>
        </p:spPr>
        <p:txBody>
          <a:bodyPr wrap="square" lIns="0" tIns="0" rIns="0" bIns="0" rtlCol="0" anchor="ctr"/>
          <a:lstStyle/>
          <a:p>
            <a:pPr indent="0" marL="0">
              <a:buNone/>
            </a:pPr>
            <a:r>
              <a:rPr lang="en-US" sz="1400" dirty="0">
                <a:solidFill>
                  <a:srgbClr val="0A1229"/>
                </a:solidFill>
                <a:latin typeface="Calibri" pitchFamily="34" charset="0"/>
                <a:ea typeface="Calibri" pitchFamily="34" charset="-122"/>
                <a:cs typeface="Calibri" pitchFamily="34" charset="-120"/>
              </a:rPr>
              <a:t>Demo Day. I break your deployment in front of the room. You have ten minutes and a microphone.</a:t>
            </a:r>
            <a:endParaRPr lang="en-US" sz="1400" dirty="0"/>
          </a:p>
        </p:txBody>
      </p:sp>
      <p:sp>
        <p:nvSpPr>
          <p:cNvPr id="22" name="Shape 19"/>
          <p:cNvSpPr/>
          <p:nvPr/>
        </p:nvSpPr>
        <p:spPr>
          <a:xfrm>
            <a:off x="594360" y="5166360"/>
            <a:ext cx="10881360" cy="1143000"/>
          </a:xfrm>
          <a:prstGeom prst="roundRect">
            <a:avLst>
              <a:gd name="adj" fmla="val 6400"/>
            </a:avLst>
          </a:prstGeom>
          <a:solidFill>
            <a:srgbClr val="0A1229"/>
          </a:solidFill>
          <a:ln w="12700">
            <a:solidFill>
              <a:srgbClr val="0A1229"/>
            </a:solidFill>
            <a:prstDash val="solid"/>
          </a:ln>
        </p:spPr>
      </p:sp>
      <p:sp>
        <p:nvSpPr>
          <p:cNvPr id="23" name="Text 20"/>
          <p:cNvSpPr/>
          <p:nvPr/>
        </p:nvSpPr>
        <p:spPr>
          <a:xfrm>
            <a:off x="960120" y="5321808"/>
            <a:ext cx="10149840" cy="274320"/>
          </a:xfrm>
          <a:prstGeom prst="rect">
            <a:avLst/>
          </a:prstGeom>
          <a:noFill/>
          <a:ln/>
        </p:spPr>
        <p:txBody>
          <a:bodyPr wrap="square" lIns="0" tIns="0" rIns="0" bIns="0" rtlCol="0" anchor="ctr"/>
          <a:lstStyle/>
          <a:p>
            <a:pPr indent="0" marL="0">
              <a:buNone/>
            </a:pPr>
            <a:r>
              <a:rPr lang="en-US" sz="1100" b="1" spc="200" kern="0" dirty="0">
                <a:solidFill>
                  <a:srgbClr val="8A99BF"/>
                </a:solidFill>
                <a:latin typeface="Calibri" pitchFamily="34" charset="0"/>
                <a:ea typeface="Calibri" pitchFamily="34" charset="-122"/>
                <a:cs typeface="Calibri" pitchFamily="34" charset="-120"/>
              </a:rPr>
              <a:t>SKIP THIS DAY AND</a:t>
            </a:r>
            <a:endParaRPr lang="en-US" sz="1100" dirty="0"/>
          </a:p>
        </p:txBody>
      </p:sp>
      <p:sp>
        <p:nvSpPr>
          <p:cNvPr id="24" name="Text 21"/>
          <p:cNvSpPr/>
          <p:nvPr/>
        </p:nvSpPr>
        <p:spPr>
          <a:xfrm>
            <a:off x="960120" y="5596128"/>
            <a:ext cx="10149840" cy="640080"/>
          </a:xfrm>
          <a:prstGeom prst="rect">
            <a:avLst/>
          </a:prstGeom>
          <a:noFill/>
          <a:ln/>
        </p:spPr>
        <p:txBody>
          <a:bodyPr wrap="square" lIns="0" tIns="0" rIns="0" bIns="0" rtlCol="0" anchor="ctr"/>
          <a:lstStyle/>
          <a:p>
            <a:pPr indent="0" marL="0">
              <a:buNone/>
            </a:pPr>
            <a:r>
              <a:rPr lang="en-US" sz="1500" b="1" dirty="0">
                <a:solidFill>
                  <a:srgbClr val="F4F6FB"/>
                </a:solidFill>
                <a:latin typeface="Calibri" pitchFamily="34" charset="0"/>
                <a:ea typeface="Calibri" pitchFamily="34" charset="-122"/>
                <a:cs typeface="Calibri" pitchFamily="34" charset="-120"/>
              </a:rPr>
              <a:t>You can run software. You cannot run software at scale - which is most of what the job is.</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9"/>
        </a:solidFill>
      </p:bgPr>
    </p:bg>
    <p:spTree>
      <p:nvGrpSpPr>
        <p:cNvPr id="1" name=""/>
        <p:cNvGrpSpPr/>
        <p:nvPr/>
      </p:nvGrpSpPr>
      <p:grpSpPr>
        <a:xfrm>
          <a:off x="0" y="0"/>
          <a:ext cx="0" cy="0"/>
          <a:chOff x="0" y="0"/>
          <a:chExt cx="0" cy="0"/>
        </a:xfrm>
      </p:grpSpPr>
      <p:sp>
        <p:nvSpPr>
          <p:cNvPr id="3" name="Shape 0"/>
          <p:cNvSpPr/>
          <p:nvPr/>
        </p:nvSpPr>
        <p:spPr>
          <a:xfrm>
            <a:off x="594360" y="384048"/>
            <a:ext cx="384048" cy="384048"/>
          </a:xfrm>
          <a:prstGeom prst="ellipse">
            <a:avLst/>
          </a:prstGeom>
          <a:solidFill>
            <a:srgbClr val="0755E9"/>
          </a:solidFill>
          <a:ln/>
        </p:spPr>
      </p:sp>
      <p:sp>
        <p:nvSpPr>
          <p:cNvPr id="4" name="Text 1"/>
          <p:cNvSpPr/>
          <p:nvPr/>
        </p:nvSpPr>
        <p:spPr>
          <a:xfrm>
            <a:off x="59436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5" name="Text 2"/>
          <p:cNvSpPr/>
          <p:nvPr/>
        </p:nvSpPr>
        <p:spPr>
          <a:xfrm>
            <a:off x="1097280" y="384048"/>
            <a:ext cx="7772400" cy="384048"/>
          </a:xfrm>
          <a:prstGeom prst="rect">
            <a:avLst/>
          </a:prstGeom>
          <a:noFill/>
          <a:ln/>
        </p:spPr>
        <p:txBody>
          <a:bodyPr wrap="square" lIns="0" tIns="0" rIns="0" bIns="0" rtlCol="0" anchor="ctr"/>
          <a:lstStyle/>
          <a:p>
            <a:pPr indent="0" marL="0">
              <a:buNone/>
            </a:pPr>
            <a:r>
              <a:rPr lang="en-US" sz="1100" b="1" spc="200" kern="0" dirty="0">
                <a:solidFill>
                  <a:srgbClr val="8A99BF"/>
                </a:solidFill>
                <a:latin typeface="Calibri" pitchFamily="34" charset="0"/>
                <a:ea typeface="Calibri" pitchFamily="34" charset="-122"/>
                <a:cs typeface="Calibri" pitchFamily="34" charset="-120"/>
              </a:rPr>
              <a:t>THE LAST AFTERNOON</a:t>
            </a:r>
            <a:endParaRPr lang="en-US" sz="1100" dirty="0"/>
          </a:p>
        </p:txBody>
      </p:sp>
      <p:sp>
        <p:nvSpPr>
          <p:cNvPr id="6" name="Text 3"/>
          <p:cNvSpPr/>
          <p:nvPr/>
        </p:nvSpPr>
        <p:spPr>
          <a:xfrm>
            <a:off x="594360" y="960120"/>
            <a:ext cx="10881360" cy="914400"/>
          </a:xfrm>
          <a:prstGeom prst="rect">
            <a:avLst/>
          </a:prstGeom>
          <a:noFill/>
          <a:ln/>
        </p:spPr>
        <p:txBody>
          <a:bodyPr wrap="square" lIns="0" tIns="0" rIns="0" bIns="0" rtlCol="0" anchor="t"/>
          <a:lstStyle/>
          <a:p>
            <a:pPr indent="0" marL="0">
              <a:buNone/>
            </a:pPr>
            <a:r>
              <a:rPr lang="en-US" sz="3600" b="1" dirty="0">
                <a:solidFill>
                  <a:srgbClr val="F4F6FB"/>
                </a:solidFill>
                <a:latin typeface="Calibri" pitchFamily="34" charset="0"/>
                <a:ea typeface="Calibri" pitchFamily="34" charset="-122"/>
                <a:cs typeface="Calibri" pitchFamily="34" charset="-120"/>
              </a:rPr>
              <a:t>Demo Day</a:t>
            </a:r>
            <a:endParaRPr lang="en-US" sz="3600" dirty="0"/>
          </a:p>
        </p:txBody>
      </p:sp>
      <p:sp>
        <p:nvSpPr>
          <p:cNvPr id="7" name="Text 4"/>
          <p:cNvSpPr/>
          <p:nvPr/>
        </p:nvSpPr>
        <p:spPr>
          <a:xfrm>
            <a:off x="594360" y="1783080"/>
            <a:ext cx="10881360" cy="457200"/>
          </a:xfrm>
          <a:prstGeom prst="rect">
            <a:avLst/>
          </a:prstGeom>
          <a:noFill/>
          <a:ln/>
        </p:spPr>
        <p:txBody>
          <a:bodyPr wrap="square" lIns="0" tIns="0" rIns="0" bIns="0" rtlCol="0" anchor="ctr"/>
          <a:lstStyle/>
          <a:p>
            <a:pPr indent="0" marL="0">
              <a:buNone/>
            </a:pPr>
            <a:r>
              <a:rPr lang="en-US" sz="1800" dirty="0">
                <a:solidFill>
                  <a:srgbClr val="EE4001"/>
                </a:solidFill>
                <a:latin typeface="Calibri" pitchFamily="34" charset="0"/>
                <a:ea typeface="Calibri" pitchFamily="34" charset="-122"/>
                <a:cs typeface="Calibri" pitchFamily="34" charset="-120"/>
              </a:rPr>
              <a:t>Last afternoon. You own a Daig deployment. I break it in front of the room. Ten minutes and a microphone.</a:t>
            </a:r>
            <a:endParaRPr lang="en-US" sz="1800" dirty="0"/>
          </a:p>
        </p:txBody>
      </p:sp>
      <p:sp>
        <p:nvSpPr>
          <p:cNvPr id="8" name="Shape 5"/>
          <p:cNvSpPr/>
          <p:nvPr/>
        </p:nvSpPr>
        <p:spPr>
          <a:xfrm>
            <a:off x="594360" y="2423160"/>
            <a:ext cx="10881360" cy="749808"/>
          </a:xfrm>
          <a:prstGeom prst="roundRect">
            <a:avLst>
              <a:gd name="adj" fmla="val 9756"/>
            </a:avLst>
          </a:prstGeom>
          <a:solidFill>
            <a:srgbClr val="17224A"/>
          </a:solidFill>
          <a:ln w="12700">
            <a:solidFill>
              <a:srgbClr val="17224A"/>
            </a:solidFill>
            <a:prstDash val="solid"/>
          </a:ln>
        </p:spPr>
      </p:sp>
      <p:sp>
        <p:nvSpPr>
          <p:cNvPr id="9" name="Text 6"/>
          <p:cNvSpPr/>
          <p:nvPr/>
        </p:nvSpPr>
        <p:spPr>
          <a:xfrm>
            <a:off x="914400" y="2423160"/>
            <a:ext cx="1005840" cy="749808"/>
          </a:xfrm>
          <a:prstGeom prst="rect">
            <a:avLst/>
          </a:prstGeom>
          <a:noFill/>
          <a:ln/>
        </p:spPr>
        <p:txBody>
          <a:bodyPr wrap="square" lIns="0" tIns="0" rIns="0" bIns="0" rtlCol="0" anchor="ctr"/>
          <a:lstStyle/>
          <a:p>
            <a:pPr indent="0" marL="0">
              <a:buNone/>
            </a:pPr>
            <a:r>
              <a:rPr lang="en-US" sz="2000" b="1" dirty="0">
                <a:solidFill>
                  <a:srgbClr val="EE4001"/>
                </a:solidFill>
                <a:latin typeface="Calibri" pitchFamily="34" charset="0"/>
                <a:ea typeface="Calibri" pitchFamily="34" charset="-122"/>
                <a:cs typeface="Calibri" pitchFamily="34" charset="-120"/>
              </a:rPr>
              <a:t>40%</a:t>
            </a:r>
            <a:endParaRPr lang="en-US" sz="2000" dirty="0"/>
          </a:p>
        </p:txBody>
      </p:sp>
      <p:sp>
        <p:nvSpPr>
          <p:cNvPr id="10" name="Text 7"/>
          <p:cNvSpPr/>
          <p:nvPr/>
        </p:nvSpPr>
        <p:spPr>
          <a:xfrm>
            <a:off x="2057400" y="2423160"/>
            <a:ext cx="2103120" cy="749808"/>
          </a:xfrm>
          <a:prstGeom prst="rect">
            <a:avLst/>
          </a:prstGeom>
          <a:noFill/>
          <a:ln/>
        </p:spPr>
        <p:txBody>
          <a:bodyPr wrap="square" lIns="0" tIns="0" rIns="0" bIns="0" rtlCol="0" anchor="ctr"/>
          <a:lstStyle/>
          <a:p>
            <a:pPr indent="0" marL="0">
              <a:buNone/>
            </a:pPr>
            <a:r>
              <a:rPr lang="en-US" sz="1600" b="1" dirty="0">
                <a:solidFill>
                  <a:srgbClr val="F4F6FB"/>
                </a:solidFill>
                <a:latin typeface="Calibri" pitchFamily="34" charset="0"/>
                <a:ea typeface="Calibri" pitchFamily="34" charset="-122"/>
                <a:cs typeface="Calibri" pitchFamily="34" charset="-120"/>
              </a:rPr>
              <a:t>Diagnosis</a:t>
            </a:r>
            <a:endParaRPr lang="en-US" sz="1600" dirty="0"/>
          </a:p>
        </p:txBody>
      </p:sp>
      <p:sp>
        <p:nvSpPr>
          <p:cNvPr id="11" name="Text 8"/>
          <p:cNvSpPr/>
          <p:nvPr/>
        </p:nvSpPr>
        <p:spPr>
          <a:xfrm>
            <a:off x="4343400" y="2423160"/>
            <a:ext cx="6766560" cy="749808"/>
          </a:xfrm>
          <a:prstGeom prst="rect">
            <a:avLst/>
          </a:prstGeom>
          <a:noFill/>
          <a:ln/>
        </p:spPr>
        <p:txBody>
          <a:bodyPr wrap="square" lIns="0" tIns="0" rIns="0" bIns="0" rtlCol="0" anchor="ctr"/>
          <a:lstStyle/>
          <a:p>
            <a:pPr indent="0" marL="0">
              <a:buNone/>
            </a:pPr>
            <a:r>
              <a:rPr lang="en-US" sz="1300" dirty="0">
                <a:solidFill>
                  <a:srgbClr val="8A99BF"/>
                </a:solidFill>
                <a:latin typeface="Calibri" pitchFamily="34" charset="0"/>
                <a:ea typeface="Calibri" pitchFamily="34" charset="-122"/>
                <a:cs typeface="Calibri" pitchFamily="34" charset="-120"/>
              </a:rPr>
              <a:t>Did you read logs, metrics and traces - or restart things and hope?</a:t>
            </a:r>
            <a:endParaRPr lang="en-US" sz="1300" dirty="0"/>
          </a:p>
        </p:txBody>
      </p:sp>
      <p:sp>
        <p:nvSpPr>
          <p:cNvPr id="12" name="Shape 9"/>
          <p:cNvSpPr/>
          <p:nvPr/>
        </p:nvSpPr>
        <p:spPr>
          <a:xfrm>
            <a:off x="594360" y="3291840"/>
            <a:ext cx="10881360" cy="749808"/>
          </a:xfrm>
          <a:prstGeom prst="roundRect">
            <a:avLst>
              <a:gd name="adj" fmla="val 9756"/>
            </a:avLst>
          </a:prstGeom>
          <a:solidFill>
            <a:srgbClr val="17224A"/>
          </a:solidFill>
          <a:ln w="12700">
            <a:solidFill>
              <a:srgbClr val="17224A"/>
            </a:solidFill>
            <a:prstDash val="solid"/>
          </a:ln>
        </p:spPr>
      </p:sp>
      <p:sp>
        <p:nvSpPr>
          <p:cNvPr id="13" name="Text 10"/>
          <p:cNvSpPr/>
          <p:nvPr/>
        </p:nvSpPr>
        <p:spPr>
          <a:xfrm>
            <a:off x="914400" y="3291840"/>
            <a:ext cx="1005840" cy="749808"/>
          </a:xfrm>
          <a:prstGeom prst="rect">
            <a:avLst/>
          </a:prstGeom>
          <a:noFill/>
          <a:ln/>
        </p:spPr>
        <p:txBody>
          <a:bodyPr wrap="square" lIns="0" tIns="0" rIns="0" bIns="0" rtlCol="0" anchor="ctr"/>
          <a:lstStyle/>
          <a:p>
            <a:pPr indent="0" marL="0">
              <a:buNone/>
            </a:pPr>
            <a:r>
              <a:rPr lang="en-US" sz="2000" b="1" dirty="0">
                <a:solidFill>
                  <a:srgbClr val="5B8CF0"/>
                </a:solidFill>
                <a:latin typeface="Calibri" pitchFamily="34" charset="0"/>
                <a:ea typeface="Calibri" pitchFamily="34" charset="-122"/>
                <a:cs typeface="Calibri" pitchFamily="34" charset="-120"/>
              </a:rPr>
              <a:t>30%</a:t>
            </a:r>
            <a:endParaRPr lang="en-US" sz="2000" dirty="0"/>
          </a:p>
        </p:txBody>
      </p:sp>
      <p:sp>
        <p:nvSpPr>
          <p:cNvPr id="14" name="Text 11"/>
          <p:cNvSpPr/>
          <p:nvPr/>
        </p:nvSpPr>
        <p:spPr>
          <a:xfrm>
            <a:off x="2057400" y="3291840"/>
            <a:ext cx="2103120" cy="749808"/>
          </a:xfrm>
          <a:prstGeom prst="rect">
            <a:avLst/>
          </a:prstGeom>
          <a:noFill/>
          <a:ln/>
        </p:spPr>
        <p:txBody>
          <a:bodyPr wrap="square" lIns="0" tIns="0" rIns="0" bIns="0" rtlCol="0" anchor="ctr"/>
          <a:lstStyle/>
          <a:p>
            <a:pPr indent="0" marL="0">
              <a:buNone/>
            </a:pPr>
            <a:r>
              <a:rPr lang="en-US" sz="1600" b="1" dirty="0">
                <a:solidFill>
                  <a:srgbClr val="F4F6FB"/>
                </a:solidFill>
                <a:latin typeface="Calibri" pitchFamily="34" charset="0"/>
                <a:ea typeface="Calibri" pitchFamily="34" charset="-122"/>
                <a:cs typeface="Calibri" pitchFamily="34" charset="-120"/>
              </a:rPr>
              <a:t>The fix</a:t>
            </a:r>
            <a:endParaRPr lang="en-US" sz="1600" dirty="0"/>
          </a:p>
        </p:txBody>
      </p:sp>
      <p:sp>
        <p:nvSpPr>
          <p:cNvPr id="15" name="Text 12"/>
          <p:cNvSpPr/>
          <p:nvPr/>
        </p:nvSpPr>
        <p:spPr>
          <a:xfrm>
            <a:off x="4343400" y="3291840"/>
            <a:ext cx="6766560" cy="749808"/>
          </a:xfrm>
          <a:prstGeom prst="rect">
            <a:avLst/>
          </a:prstGeom>
          <a:noFill/>
          <a:ln/>
        </p:spPr>
        <p:txBody>
          <a:bodyPr wrap="square" lIns="0" tIns="0" rIns="0" bIns="0" rtlCol="0" anchor="ctr"/>
          <a:lstStyle/>
          <a:p>
            <a:pPr indent="0" marL="0">
              <a:buNone/>
            </a:pPr>
            <a:r>
              <a:rPr lang="en-US" sz="1300" dirty="0">
                <a:solidFill>
                  <a:srgbClr val="8A99BF"/>
                </a:solidFill>
                <a:latin typeface="Calibri" pitchFamily="34" charset="0"/>
                <a:ea typeface="Calibri" pitchFamily="34" charset="-122"/>
                <a:cs typeface="Calibri" pitchFamily="34" charset="-120"/>
              </a:rPr>
              <a:t>Does it work, and did you fix it at the right layer?</a:t>
            </a:r>
            <a:endParaRPr lang="en-US" sz="1300" dirty="0"/>
          </a:p>
        </p:txBody>
      </p:sp>
      <p:sp>
        <p:nvSpPr>
          <p:cNvPr id="16" name="Shape 13"/>
          <p:cNvSpPr/>
          <p:nvPr/>
        </p:nvSpPr>
        <p:spPr>
          <a:xfrm>
            <a:off x="594360" y="4160520"/>
            <a:ext cx="10881360" cy="749808"/>
          </a:xfrm>
          <a:prstGeom prst="roundRect">
            <a:avLst>
              <a:gd name="adj" fmla="val 9756"/>
            </a:avLst>
          </a:prstGeom>
          <a:solidFill>
            <a:srgbClr val="17224A"/>
          </a:solidFill>
          <a:ln w="12700">
            <a:solidFill>
              <a:srgbClr val="17224A"/>
            </a:solidFill>
            <a:prstDash val="solid"/>
          </a:ln>
        </p:spPr>
      </p:sp>
      <p:sp>
        <p:nvSpPr>
          <p:cNvPr id="17" name="Text 14"/>
          <p:cNvSpPr/>
          <p:nvPr/>
        </p:nvSpPr>
        <p:spPr>
          <a:xfrm>
            <a:off x="914400" y="4160520"/>
            <a:ext cx="1005840" cy="749808"/>
          </a:xfrm>
          <a:prstGeom prst="rect">
            <a:avLst/>
          </a:prstGeom>
          <a:noFill/>
          <a:ln/>
        </p:spPr>
        <p:txBody>
          <a:bodyPr wrap="square" lIns="0" tIns="0" rIns="0" bIns="0" rtlCol="0" anchor="ctr"/>
          <a:lstStyle/>
          <a:p>
            <a:pPr indent="0" marL="0">
              <a:buNone/>
            </a:pPr>
            <a:r>
              <a:rPr lang="en-US" sz="2000" b="1" dirty="0">
                <a:solidFill>
                  <a:srgbClr val="5B8CF0"/>
                </a:solidFill>
                <a:latin typeface="Calibri" pitchFamily="34" charset="0"/>
                <a:ea typeface="Calibri" pitchFamily="34" charset="-122"/>
                <a:cs typeface="Calibri" pitchFamily="34" charset="-120"/>
              </a:rPr>
              <a:t>20%</a:t>
            </a:r>
            <a:endParaRPr lang="en-US" sz="2000" dirty="0"/>
          </a:p>
        </p:txBody>
      </p:sp>
      <p:sp>
        <p:nvSpPr>
          <p:cNvPr id="18" name="Text 15"/>
          <p:cNvSpPr/>
          <p:nvPr/>
        </p:nvSpPr>
        <p:spPr>
          <a:xfrm>
            <a:off x="2057400" y="4160520"/>
            <a:ext cx="2103120" cy="749808"/>
          </a:xfrm>
          <a:prstGeom prst="rect">
            <a:avLst/>
          </a:prstGeom>
          <a:noFill/>
          <a:ln/>
        </p:spPr>
        <p:txBody>
          <a:bodyPr wrap="square" lIns="0" tIns="0" rIns="0" bIns="0" rtlCol="0" anchor="ctr"/>
          <a:lstStyle/>
          <a:p>
            <a:pPr indent="0" marL="0">
              <a:buNone/>
            </a:pPr>
            <a:r>
              <a:rPr lang="en-US" sz="1600" b="1" dirty="0">
                <a:solidFill>
                  <a:srgbClr val="F4F6FB"/>
                </a:solidFill>
                <a:latin typeface="Calibri" pitchFamily="34" charset="0"/>
                <a:ea typeface="Calibri" pitchFamily="34" charset="-122"/>
                <a:cs typeface="Calibri" pitchFamily="34" charset="-120"/>
              </a:rPr>
              <a:t>Explanation</a:t>
            </a:r>
            <a:endParaRPr lang="en-US" sz="1600" dirty="0"/>
          </a:p>
        </p:txBody>
      </p:sp>
      <p:sp>
        <p:nvSpPr>
          <p:cNvPr id="19" name="Text 16"/>
          <p:cNvSpPr/>
          <p:nvPr/>
        </p:nvSpPr>
        <p:spPr>
          <a:xfrm>
            <a:off x="4343400" y="4160520"/>
            <a:ext cx="6766560" cy="749808"/>
          </a:xfrm>
          <a:prstGeom prst="rect">
            <a:avLst/>
          </a:prstGeom>
          <a:noFill/>
          <a:ln/>
        </p:spPr>
        <p:txBody>
          <a:bodyPr wrap="square" lIns="0" tIns="0" rIns="0" bIns="0" rtlCol="0" anchor="ctr"/>
          <a:lstStyle/>
          <a:p>
            <a:pPr indent="0" marL="0">
              <a:buNone/>
            </a:pPr>
            <a:r>
              <a:rPr lang="en-US" sz="1300" dirty="0">
                <a:solidFill>
                  <a:srgbClr val="8A99BF"/>
                </a:solidFill>
                <a:latin typeface="Calibri" pitchFamily="34" charset="0"/>
                <a:ea typeface="Calibri" pitchFamily="34" charset="-122"/>
                <a:cs typeface="Calibri" pitchFamily="34" charset="-120"/>
              </a:rPr>
              <a:t>Can you explain it to someone non-technical? That is the senior skill.</a:t>
            </a:r>
            <a:endParaRPr lang="en-US" sz="1300" dirty="0"/>
          </a:p>
        </p:txBody>
      </p:sp>
      <p:sp>
        <p:nvSpPr>
          <p:cNvPr id="20" name="Shape 17"/>
          <p:cNvSpPr/>
          <p:nvPr/>
        </p:nvSpPr>
        <p:spPr>
          <a:xfrm>
            <a:off x="594360" y="5029200"/>
            <a:ext cx="10881360" cy="749808"/>
          </a:xfrm>
          <a:prstGeom prst="roundRect">
            <a:avLst>
              <a:gd name="adj" fmla="val 9756"/>
            </a:avLst>
          </a:prstGeom>
          <a:solidFill>
            <a:srgbClr val="17224A"/>
          </a:solidFill>
          <a:ln w="12700">
            <a:solidFill>
              <a:srgbClr val="17224A"/>
            </a:solidFill>
            <a:prstDash val="solid"/>
          </a:ln>
        </p:spPr>
      </p:sp>
      <p:sp>
        <p:nvSpPr>
          <p:cNvPr id="21" name="Text 18"/>
          <p:cNvSpPr/>
          <p:nvPr/>
        </p:nvSpPr>
        <p:spPr>
          <a:xfrm>
            <a:off x="914400" y="5029200"/>
            <a:ext cx="1005840" cy="749808"/>
          </a:xfrm>
          <a:prstGeom prst="rect">
            <a:avLst/>
          </a:prstGeom>
          <a:noFill/>
          <a:ln/>
        </p:spPr>
        <p:txBody>
          <a:bodyPr wrap="square" lIns="0" tIns="0" rIns="0" bIns="0" rtlCol="0" anchor="ctr"/>
          <a:lstStyle/>
          <a:p>
            <a:pPr indent="0" marL="0">
              <a:buNone/>
            </a:pPr>
            <a:r>
              <a:rPr lang="en-US" sz="2000" b="1" dirty="0">
                <a:solidFill>
                  <a:srgbClr val="5B8CF0"/>
                </a:solidFill>
                <a:latin typeface="Calibri" pitchFamily="34" charset="0"/>
                <a:ea typeface="Calibri" pitchFamily="34" charset="-122"/>
                <a:cs typeface="Calibri" pitchFamily="34" charset="-120"/>
              </a:rPr>
              <a:t>10%</a:t>
            </a:r>
            <a:endParaRPr lang="en-US" sz="2000" dirty="0"/>
          </a:p>
        </p:txBody>
      </p:sp>
      <p:sp>
        <p:nvSpPr>
          <p:cNvPr id="22" name="Text 19"/>
          <p:cNvSpPr/>
          <p:nvPr/>
        </p:nvSpPr>
        <p:spPr>
          <a:xfrm>
            <a:off x="2057400" y="5029200"/>
            <a:ext cx="2103120" cy="749808"/>
          </a:xfrm>
          <a:prstGeom prst="rect">
            <a:avLst/>
          </a:prstGeom>
          <a:noFill/>
          <a:ln/>
        </p:spPr>
        <p:txBody>
          <a:bodyPr wrap="square" lIns="0" tIns="0" rIns="0" bIns="0" rtlCol="0" anchor="ctr"/>
          <a:lstStyle/>
          <a:p>
            <a:pPr indent="0" marL="0">
              <a:buNone/>
            </a:pPr>
            <a:r>
              <a:rPr lang="en-US" sz="1600" b="1" dirty="0">
                <a:solidFill>
                  <a:srgbClr val="F4F6FB"/>
                </a:solidFill>
                <a:latin typeface="Calibri" pitchFamily="34" charset="0"/>
                <a:ea typeface="Calibri" pitchFamily="34" charset="-122"/>
                <a:cs typeface="Calibri" pitchFamily="34" charset="-120"/>
              </a:rPr>
              <a:t>Composure</a:t>
            </a:r>
            <a:endParaRPr lang="en-US" sz="1600" dirty="0"/>
          </a:p>
        </p:txBody>
      </p:sp>
      <p:sp>
        <p:nvSpPr>
          <p:cNvPr id="23" name="Text 20"/>
          <p:cNvSpPr/>
          <p:nvPr/>
        </p:nvSpPr>
        <p:spPr>
          <a:xfrm>
            <a:off x="4343400" y="5029200"/>
            <a:ext cx="6766560" cy="749808"/>
          </a:xfrm>
          <a:prstGeom prst="rect">
            <a:avLst/>
          </a:prstGeom>
          <a:noFill/>
          <a:ln/>
        </p:spPr>
        <p:txBody>
          <a:bodyPr wrap="square" lIns="0" tIns="0" rIns="0" bIns="0" rtlCol="0" anchor="ctr"/>
          <a:lstStyle/>
          <a:p>
            <a:pPr indent="0" marL="0">
              <a:buNone/>
            </a:pPr>
            <a:r>
              <a:rPr lang="en-US" sz="1300" dirty="0">
                <a:solidFill>
                  <a:srgbClr val="8A99BF"/>
                </a:solidFill>
                <a:latin typeface="Calibri" pitchFamily="34" charset="0"/>
                <a:ea typeface="Calibri" pitchFamily="34" charset="-122"/>
                <a:cs typeface="Calibri" pitchFamily="34" charset="-120"/>
              </a:rPr>
              <a:t>What you do when your first hypothesis turns out to be wrong.</a:t>
            </a:r>
            <a:endParaRPr lang="en-US" sz="1300" dirty="0"/>
          </a:p>
        </p:txBody>
      </p:sp>
      <p:sp>
        <p:nvSpPr>
          <p:cNvPr id="24" name="Text 21"/>
          <p:cNvSpPr/>
          <p:nvPr/>
        </p:nvSpPr>
        <p:spPr>
          <a:xfrm>
            <a:off x="594360" y="5989320"/>
            <a:ext cx="10881360" cy="411480"/>
          </a:xfrm>
          <a:prstGeom prst="rect">
            <a:avLst/>
          </a:prstGeom>
          <a:noFill/>
          <a:ln/>
        </p:spPr>
        <p:txBody>
          <a:bodyPr wrap="square" lIns="0" tIns="0" rIns="0" bIns="0" rtlCol="0" anchor="ctr"/>
          <a:lstStyle/>
          <a:p>
            <a:pPr indent="0" marL="0">
              <a:buNone/>
            </a:pPr>
            <a:r>
              <a:rPr lang="en-US" sz="1500" b="1" dirty="0">
                <a:solidFill>
                  <a:srgbClr val="F4F6FB"/>
                </a:solidFill>
                <a:latin typeface="Calibri" pitchFamily="34" charset="0"/>
                <a:ea typeface="Calibri" pitchFamily="34" charset="-122"/>
                <a:cs typeface="Calibri" pitchFamily="34" charset="-120"/>
              </a:rPr>
              <a:t>Diagnosis outweighs the fix deliberately. A well-reasoned failure scores above a lucky guess.</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9"/>
        </a:solidFill>
      </p:bgPr>
    </p:bg>
    <p:spTree>
      <p:nvGrpSpPr>
        <p:cNvPr id="1" name=""/>
        <p:cNvGrpSpPr/>
        <p:nvPr/>
      </p:nvGrpSpPr>
      <p:grpSpPr>
        <a:xfrm>
          <a:off x="0" y="0"/>
          <a:ext cx="0" cy="0"/>
          <a:chOff x="0" y="0"/>
          <a:chExt cx="0" cy="0"/>
        </a:xfrm>
      </p:grpSpPr>
      <p:sp>
        <p:nvSpPr>
          <p:cNvPr id="3" name="Shape 0"/>
          <p:cNvSpPr/>
          <p:nvPr/>
        </p:nvSpPr>
        <p:spPr>
          <a:xfrm>
            <a:off x="9052560" y="-1188720"/>
            <a:ext cx="4754880" cy="4754880"/>
          </a:xfrm>
          <a:prstGeom prst="ellipse">
            <a:avLst/>
          </a:prstGeom>
          <a:solidFill>
            <a:srgbClr val="0755E9"/>
          </a:solidFill>
          <a:ln/>
        </p:spPr>
      </p:sp>
      <p:sp>
        <p:nvSpPr>
          <p:cNvPr id="4" name="Shape 1"/>
          <p:cNvSpPr/>
          <p:nvPr/>
        </p:nvSpPr>
        <p:spPr>
          <a:xfrm>
            <a:off x="10881360" y="4937760"/>
            <a:ext cx="2011680" cy="2011680"/>
          </a:xfrm>
          <a:prstGeom prst="ellipse">
            <a:avLst/>
          </a:prstGeom>
          <a:solidFill>
            <a:srgbClr val="EE4001"/>
          </a:solidFill>
          <a:ln/>
        </p:spPr>
      </p:sp>
      <p:sp>
        <p:nvSpPr>
          <p:cNvPr id="5" name="Text 2"/>
          <p:cNvSpPr/>
          <p:nvPr/>
        </p:nvSpPr>
        <p:spPr>
          <a:xfrm>
            <a:off x="594360" y="2103120"/>
            <a:ext cx="8046720" cy="1737360"/>
          </a:xfrm>
          <a:prstGeom prst="rect">
            <a:avLst/>
          </a:prstGeom>
          <a:noFill/>
          <a:ln/>
        </p:spPr>
        <p:txBody>
          <a:bodyPr wrap="square" lIns="0" tIns="0" rIns="0" bIns="0" rtlCol="0" anchor="ctr"/>
          <a:lstStyle/>
          <a:p>
            <a:pPr indent="0" marL="0">
              <a:lnSpc>
                <a:spcPts val="4600"/>
              </a:lnSpc>
              <a:buNone/>
            </a:pPr>
            <a:r>
              <a:rPr lang="en-US" sz="4000" b="1" dirty="0">
                <a:solidFill>
                  <a:srgbClr val="F4F6FB"/>
                </a:solidFill>
                <a:latin typeface="Calibri" pitchFamily="34" charset="0"/>
                <a:ea typeface="Calibri" pitchFamily="34" charset="-122"/>
                <a:cs typeface="Calibri" pitchFamily="34" charset="-120"/>
              </a:rPr>
              <a:t>Scope aap main hai,</a:t>
            </a:r>
            <a:endParaRPr lang="en-US" sz="4000" dirty="0"/>
          </a:p>
          <a:p>
            <a:pPr indent="0" marL="0">
              <a:lnSpc>
                <a:spcPts val="4600"/>
              </a:lnSpc>
              <a:buNone/>
            </a:pPr>
            <a:r>
              <a:rPr lang="en-US" sz="4000" b="1" dirty="0">
                <a:solidFill>
                  <a:srgbClr val="F4F6FB"/>
                </a:solidFill>
                <a:latin typeface="Calibri" pitchFamily="34" charset="0"/>
                <a:ea typeface="Calibri" pitchFamily="34" charset="-122"/>
                <a:cs typeface="Calibri" pitchFamily="34" charset="-120"/>
              </a:rPr>
              <a:t>field mein nahi.</a:t>
            </a:r>
            <a:endParaRPr lang="en-US" sz="4000" dirty="0"/>
          </a:p>
        </p:txBody>
      </p:sp>
      <p:sp>
        <p:nvSpPr>
          <p:cNvPr id="6" name="Text 3"/>
          <p:cNvSpPr/>
          <p:nvPr/>
        </p:nvSpPr>
        <p:spPr>
          <a:xfrm>
            <a:off x="594360" y="4023360"/>
            <a:ext cx="8046720" cy="914400"/>
          </a:xfrm>
          <a:prstGeom prst="rect">
            <a:avLst/>
          </a:prstGeom>
          <a:noFill/>
          <a:ln/>
        </p:spPr>
        <p:txBody>
          <a:bodyPr wrap="square" lIns="0" tIns="0" rIns="0" bIns="0" rtlCol="0" anchor="ctr"/>
          <a:lstStyle/>
          <a:p>
            <a:pPr indent="0" marL="0">
              <a:buNone/>
            </a:pPr>
            <a:r>
              <a:rPr lang="en-US" sz="1800" dirty="0">
                <a:solidFill>
                  <a:srgbClr val="8A99BF"/>
                </a:solidFill>
                <a:latin typeface="Calibri" pitchFamily="34" charset="0"/>
                <a:ea typeface="Calibri" pitchFamily="34" charset="-122"/>
                <a:cs typeface="Calibri" pitchFamily="34" charset="-120"/>
              </a:rPr>
              <a:t>Six days. A system that will genuinely break.</a:t>
            </a:r>
            <a:endParaRPr lang="en-US" sz="1800" dirty="0"/>
          </a:p>
          <a:p>
            <a:pPr indent="0" marL="0">
              <a:buNone/>
            </a:pPr>
            <a:r>
              <a:rPr lang="en-US" sz="1800" dirty="0">
                <a:solidFill>
                  <a:srgbClr val="8A99BF"/>
                </a:solidFill>
                <a:latin typeface="Calibri" pitchFamily="34" charset="0"/>
                <a:ea typeface="Calibri" pitchFamily="34" charset="-122"/>
                <a:cs typeface="Calibri" pitchFamily="34" charset="-120"/>
              </a:rPr>
              <a:t>And anyone here will answer any question you ask.</a:t>
            </a:r>
            <a:endParaRPr lang="en-US" sz="1800" dirty="0"/>
          </a:p>
        </p:txBody>
      </p:sp>
      <p:sp>
        <p:nvSpPr>
          <p:cNvPr id="7" name="Text 4"/>
          <p:cNvSpPr/>
          <p:nvPr/>
        </p:nvSpPr>
        <p:spPr>
          <a:xfrm>
            <a:off x="594360" y="5212080"/>
            <a:ext cx="8046720" cy="457200"/>
          </a:xfrm>
          <a:prstGeom prst="rect">
            <a:avLst/>
          </a:prstGeom>
          <a:noFill/>
          <a:ln/>
        </p:spPr>
        <p:txBody>
          <a:bodyPr wrap="square" lIns="0" tIns="0" rIns="0" bIns="0" rtlCol="0" anchor="ctr"/>
          <a:lstStyle/>
          <a:p>
            <a:pPr indent="0" marL="0">
              <a:buNone/>
            </a:pPr>
            <a:r>
              <a:rPr lang="en-US" sz="1600" b="1" dirty="0">
                <a:solidFill>
                  <a:srgbClr val="5B8CF0"/>
                </a:solidFill>
                <a:latin typeface="Calibri" pitchFamily="34" charset="0"/>
                <a:ea typeface="Calibri" pitchFamily="34" charset="-122"/>
                <a:cs typeface="Calibri" pitchFamily="34" charset="-120"/>
              </a:rPr>
              <a:t>See you Day 1, 09:00. Bring a laptop with Docker on it.</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6FB"/>
        </a:solidFill>
      </p:bgPr>
    </p:bg>
    <p:spTree>
      <p:nvGrpSpPr>
        <p:cNvPr id="1" name=""/>
        <p:cNvGrpSpPr/>
        <p:nvPr/>
      </p:nvGrpSpPr>
      <p:grpSpPr>
        <a:xfrm>
          <a:off x="0" y="0"/>
          <a:ext cx="0" cy="0"/>
          <a:chOff x="0" y="0"/>
          <a:chExt cx="0" cy="0"/>
        </a:xfrm>
      </p:grpSpPr>
      <p:sp>
        <p:nvSpPr>
          <p:cNvPr id="3" name="Shape 0"/>
          <p:cNvSpPr/>
          <p:nvPr/>
        </p:nvSpPr>
        <p:spPr>
          <a:xfrm>
            <a:off x="594360" y="384048"/>
            <a:ext cx="384048" cy="384048"/>
          </a:xfrm>
          <a:prstGeom prst="ellipse">
            <a:avLst/>
          </a:prstGeom>
          <a:solidFill>
            <a:srgbClr val="0755E9"/>
          </a:solidFill>
          <a:ln/>
        </p:spPr>
      </p:sp>
      <p:sp>
        <p:nvSpPr>
          <p:cNvPr id="4" name="Text 1"/>
          <p:cNvSpPr/>
          <p:nvPr/>
        </p:nvSpPr>
        <p:spPr>
          <a:xfrm>
            <a:off x="59436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5" name="Text 2"/>
          <p:cNvSpPr/>
          <p:nvPr/>
        </p:nvSpPr>
        <p:spPr>
          <a:xfrm>
            <a:off x="1097280" y="384048"/>
            <a:ext cx="7772400" cy="384048"/>
          </a:xfrm>
          <a:prstGeom prst="rect">
            <a:avLst/>
          </a:prstGeom>
          <a:noFill/>
          <a:ln/>
        </p:spPr>
        <p:txBody>
          <a:bodyPr wrap="square" lIns="0" tIns="0" rIns="0" bIns="0" rtlCol="0" anchor="ctr"/>
          <a:lstStyle/>
          <a:p>
            <a:pPr indent="0" marL="0">
              <a:buNone/>
            </a:pPr>
            <a:r>
              <a:rPr lang="en-US" sz="1100" b="1" spc="200" kern="0" dirty="0">
                <a:solidFill>
                  <a:srgbClr val="5A6890"/>
                </a:solidFill>
                <a:latin typeface="Calibri" pitchFamily="34" charset="0"/>
                <a:ea typeface="Calibri" pitchFamily="34" charset="-122"/>
                <a:cs typeface="Calibri" pitchFamily="34" charset="-120"/>
              </a:rPr>
              <a:t>BEFORE MONDAY</a:t>
            </a:r>
            <a:endParaRPr lang="en-US" sz="1100" dirty="0"/>
          </a:p>
        </p:txBody>
      </p:sp>
      <p:sp>
        <p:nvSpPr>
          <p:cNvPr id="6" name="Text 3"/>
          <p:cNvSpPr/>
          <p:nvPr/>
        </p:nvSpPr>
        <p:spPr>
          <a:xfrm>
            <a:off x="594360" y="960120"/>
            <a:ext cx="10881360" cy="914400"/>
          </a:xfrm>
          <a:prstGeom prst="rect">
            <a:avLst/>
          </a:prstGeom>
          <a:noFill/>
          <a:ln/>
        </p:spPr>
        <p:txBody>
          <a:bodyPr wrap="square" lIns="0" tIns="0" rIns="0" bIns="0" rtlCol="0" anchor="t"/>
          <a:lstStyle/>
          <a:p>
            <a:pPr indent="0" marL="0">
              <a:buNone/>
            </a:pPr>
            <a:r>
              <a:rPr lang="en-US" sz="3600" b="1" dirty="0">
                <a:solidFill>
                  <a:srgbClr val="0A1229"/>
                </a:solidFill>
                <a:latin typeface="Calibri" pitchFamily="34" charset="0"/>
                <a:ea typeface="Calibri" pitchFamily="34" charset="-122"/>
                <a:cs typeface="Calibri" pitchFamily="34" charset="-120"/>
              </a:rPr>
              <a:t>Before Monday morning</a:t>
            </a:r>
            <a:endParaRPr lang="en-US" sz="3600" dirty="0"/>
          </a:p>
        </p:txBody>
      </p:sp>
      <p:sp>
        <p:nvSpPr>
          <p:cNvPr id="7" name="Shape 4"/>
          <p:cNvSpPr/>
          <p:nvPr/>
        </p:nvSpPr>
        <p:spPr>
          <a:xfrm>
            <a:off x="594360" y="1965960"/>
            <a:ext cx="10881360" cy="868680"/>
          </a:xfrm>
          <a:prstGeom prst="roundRect">
            <a:avLst>
              <a:gd name="adj" fmla="val 8421"/>
            </a:avLst>
          </a:prstGeom>
          <a:solidFill>
            <a:srgbClr val="E4E9F5"/>
          </a:solidFill>
          <a:ln w="12700">
            <a:solidFill>
              <a:srgbClr val="E4E9F5"/>
            </a:solidFill>
            <a:prstDash val="solid"/>
          </a:ln>
        </p:spPr>
      </p:sp>
      <p:sp>
        <p:nvSpPr>
          <p:cNvPr id="8" name="Shape 5"/>
          <p:cNvSpPr/>
          <p:nvPr/>
        </p:nvSpPr>
        <p:spPr>
          <a:xfrm>
            <a:off x="868680" y="2240280"/>
            <a:ext cx="329184" cy="329184"/>
          </a:xfrm>
          <a:prstGeom prst="ellipse">
            <a:avLst/>
          </a:prstGeom>
          <a:solidFill>
            <a:srgbClr val="EE4001"/>
          </a:solidFill>
          <a:ln/>
        </p:spPr>
      </p:sp>
      <p:sp>
        <p:nvSpPr>
          <p:cNvPr id="9" name="Text 6"/>
          <p:cNvSpPr/>
          <p:nvPr/>
        </p:nvSpPr>
        <p:spPr>
          <a:xfrm>
            <a:off x="868680" y="22402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7"/>
          <p:cNvSpPr/>
          <p:nvPr/>
        </p:nvSpPr>
        <p:spPr>
          <a:xfrm>
            <a:off x="1371600" y="1965960"/>
            <a:ext cx="3566160" cy="868680"/>
          </a:xfrm>
          <a:prstGeom prst="rect">
            <a:avLst/>
          </a:prstGeom>
          <a:noFill/>
          <a:ln/>
        </p:spPr>
        <p:txBody>
          <a:bodyPr wrap="square" lIns="0" tIns="0" rIns="0" bIns="0" rtlCol="0" anchor="ctr"/>
          <a:lstStyle/>
          <a:p>
            <a:pPr indent="0" marL="0">
              <a:buNone/>
            </a:pPr>
            <a:r>
              <a:rPr lang="en-US" sz="1500" b="1" dirty="0">
                <a:solidFill>
                  <a:srgbClr val="0A1229"/>
                </a:solidFill>
                <a:latin typeface="Calibri" pitchFamily="34" charset="0"/>
                <a:ea typeface="Calibri" pitchFamily="34" charset="-122"/>
                <a:cs typeface="Calibri" pitchFamily="34" charset="-120"/>
              </a:rPr>
              <a:t>Install Docker Desktop</a:t>
            </a:r>
            <a:endParaRPr lang="en-US" sz="1500" dirty="0"/>
          </a:p>
        </p:txBody>
      </p:sp>
      <p:sp>
        <p:nvSpPr>
          <p:cNvPr id="11" name="Text 8"/>
          <p:cNvSpPr/>
          <p:nvPr/>
        </p:nvSpPr>
        <p:spPr>
          <a:xfrm>
            <a:off x="5074920" y="1965960"/>
            <a:ext cx="6126480" cy="868680"/>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Then run: docker run hello-world. If that works, you are ready.</a:t>
            </a:r>
            <a:endParaRPr lang="en-US" sz="1300" dirty="0"/>
          </a:p>
        </p:txBody>
      </p:sp>
      <p:sp>
        <p:nvSpPr>
          <p:cNvPr id="12" name="Shape 9"/>
          <p:cNvSpPr/>
          <p:nvPr/>
        </p:nvSpPr>
        <p:spPr>
          <a:xfrm>
            <a:off x="594360" y="2971800"/>
            <a:ext cx="10881360" cy="868680"/>
          </a:xfrm>
          <a:prstGeom prst="roundRect">
            <a:avLst>
              <a:gd name="adj" fmla="val 8421"/>
            </a:avLst>
          </a:prstGeom>
          <a:solidFill>
            <a:srgbClr val="E4E9F5"/>
          </a:solidFill>
          <a:ln w="12700">
            <a:solidFill>
              <a:srgbClr val="E4E9F5"/>
            </a:solidFill>
            <a:prstDash val="solid"/>
          </a:ln>
        </p:spPr>
      </p:sp>
      <p:sp>
        <p:nvSpPr>
          <p:cNvPr id="13" name="Shape 10"/>
          <p:cNvSpPr/>
          <p:nvPr/>
        </p:nvSpPr>
        <p:spPr>
          <a:xfrm>
            <a:off x="868680" y="3246120"/>
            <a:ext cx="329184" cy="329184"/>
          </a:xfrm>
          <a:prstGeom prst="ellipse">
            <a:avLst/>
          </a:prstGeom>
          <a:solidFill>
            <a:srgbClr val="0755E9"/>
          </a:solidFill>
          <a:ln/>
        </p:spPr>
      </p:sp>
      <p:sp>
        <p:nvSpPr>
          <p:cNvPr id="14" name="Text 11"/>
          <p:cNvSpPr/>
          <p:nvPr/>
        </p:nvSpPr>
        <p:spPr>
          <a:xfrm>
            <a:off x="868680" y="32461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2"/>
          <p:cNvSpPr/>
          <p:nvPr/>
        </p:nvSpPr>
        <p:spPr>
          <a:xfrm>
            <a:off x="1371600" y="2971800"/>
            <a:ext cx="3566160" cy="868680"/>
          </a:xfrm>
          <a:prstGeom prst="rect">
            <a:avLst/>
          </a:prstGeom>
          <a:noFill/>
          <a:ln/>
        </p:spPr>
        <p:txBody>
          <a:bodyPr wrap="square" lIns="0" tIns="0" rIns="0" bIns="0" rtlCol="0" anchor="ctr"/>
          <a:lstStyle/>
          <a:p>
            <a:pPr indent="0" marL="0">
              <a:buNone/>
            </a:pPr>
            <a:r>
              <a:rPr lang="en-US" sz="1500" b="1" dirty="0">
                <a:solidFill>
                  <a:srgbClr val="0A1229"/>
                </a:solidFill>
                <a:latin typeface="Calibri" pitchFamily="34" charset="0"/>
                <a:ea typeface="Calibri" pitchFamily="34" charset="-122"/>
                <a:cs typeface="Calibri" pitchFamily="34" charset="-120"/>
              </a:rPr>
              <a:t>Bring the laptop you will use all week</a:t>
            </a:r>
            <a:endParaRPr lang="en-US" sz="1500" dirty="0"/>
          </a:p>
        </p:txBody>
      </p:sp>
      <p:sp>
        <p:nvSpPr>
          <p:cNvPr id="16" name="Text 13"/>
          <p:cNvSpPr/>
          <p:nvPr/>
        </p:nvSpPr>
        <p:spPr>
          <a:xfrm>
            <a:off x="5074920" y="2971800"/>
            <a:ext cx="6126480" cy="868680"/>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With admin rights on it. This matters more than you think.</a:t>
            </a:r>
            <a:endParaRPr lang="en-US" sz="1300" dirty="0"/>
          </a:p>
        </p:txBody>
      </p:sp>
      <p:sp>
        <p:nvSpPr>
          <p:cNvPr id="17" name="Shape 14"/>
          <p:cNvSpPr/>
          <p:nvPr/>
        </p:nvSpPr>
        <p:spPr>
          <a:xfrm>
            <a:off x="594360" y="3977640"/>
            <a:ext cx="10881360" cy="868680"/>
          </a:xfrm>
          <a:prstGeom prst="roundRect">
            <a:avLst>
              <a:gd name="adj" fmla="val 8421"/>
            </a:avLst>
          </a:prstGeom>
          <a:solidFill>
            <a:srgbClr val="E4E9F5"/>
          </a:solidFill>
          <a:ln w="12700">
            <a:solidFill>
              <a:srgbClr val="E4E9F5"/>
            </a:solidFill>
            <a:prstDash val="solid"/>
          </a:ln>
        </p:spPr>
      </p:sp>
      <p:sp>
        <p:nvSpPr>
          <p:cNvPr id="18" name="Shape 15"/>
          <p:cNvSpPr/>
          <p:nvPr/>
        </p:nvSpPr>
        <p:spPr>
          <a:xfrm>
            <a:off x="868680" y="4251960"/>
            <a:ext cx="329184" cy="329184"/>
          </a:xfrm>
          <a:prstGeom prst="ellipse">
            <a:avLst/>
          </a:prstGeom>
          <a:solidFill>
            <a:srgbClr val="0755E9"/>
          </a:solidFill>
          <a:ln/>
        </p:spPr>
      </p:sp>
      <p:sp>
        <p:nvSpPr>
          <p:cNvPr id="19" name="Text 16"/>
          <p:cNvSpPr/>
          <p:nvPr/>
        </p:nvSpPr>
        <p:spPr>
          <a:xfrm>
            <a:off x="868680" y="425196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7"/>
          <p:cNvSpPr/>
          <p:nvPr/>
        </p:nvSpPr>
        <p:spPr>
          <a:xfrm>
            <a:off x="1371600" y="3977640"/>
            <a:ext cx="3566160" cy="868680"/>
          </a:xfrm>
          <a:prstGeom prst="rect">
            <a:avLst/>
          </a:prstGeom>
          <a:noFill/>
          <a:ln/>
        </p:spPr>
        <p:txBody>
          <a:bodyPr wrap="square" lIns="0" tIns="0" rIns="0" bIns="0" rtlCol="0" anchor="ctr"/>
          <a:lstStyle/>
          <a:p>
            <a:pPr indent="0" marL="0">
              <a:buNone/>
            </a:pPr>
            <a:r>
              <a:rPr lang="en-US" sz="1500" b="1" dirty="0">
                <a:solidFill>
                  <a:srgbClr val="0A1229"/>
                </a:solidFill>
                <a:latin typeface="Calibri" pitchFamily="34" charset="0"/>
                <a:ea typeface="Calibri" pitchFamily="34" charset="-122"/>
                <a:cs typeface="Calibri" pitchFamily="34" charset="-120"/>
              </a:rPr>
              <a:t>No prep reading required</a:t>
            </a:r>
            <a:endParaRPr lang="en-US" sz="1500" dirty="0"/>
          </a:p>
        </p:txBody>
      </p:sp>
      <p:sp>
        <p:nvSpPr>
          <p:cNvPr id="21" name="Text 18"/>
          <p:cNvSpPr/>
          <p:nvPr/>
        </p:nvSpPr>
        <p:spPr>
          <a:xfrm>
            <a:off x="5074920" y="3977640"/>
            <a:ext cx="6126480" cy="868680"/>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Deliberately. Come with questions instead.</a:t>
            </a:r>
            <a:endParaRPr lang="en-US" sz="1300" dirty="0"/>
          </a:p>
        </p:txBody>
      </p:sp>
      <p:sp>
        <p:nvSpPr>
          <p:cNvPr id="22" name="Shape 19"/>
          <p:cNvSpPr/>
          <p:nvPr/>
        </p:nvSpPr>
        <p:spPr>
          <a:xfrm>
            <a:off x="594360" y="4983480"/>
            <a:ext cx="10881360" cy="868680"/>
          </a:xfrm>
          <a:prstGeom prst="roundRect">
            <a:avLst>
              <a:gd name="adj" fmla="val 8421"/>
            </a:avLst>
          </a:prstGeom>
          <a:solidFill>
            <a:srgbClr val="E4E9F5"/>
          </a:solidFill>
          <a:ln w="12700">
            <a:solidFill>
              <a:srgbClr val="E4E9F5"/>
            </a:solidFill>
            <a:prstDash val="solid"/>
          </a:ln>
        </p:spPr>
      </p:sp>
      <p:sp>
        <p:nvSpPr>
          <p:cNvPr id="23" name="Shape 20"/>
          <p:cNvSpPr/>
          <p:nvPr/>
        </p:nvSpPr>
        <p:spPr>
          <a:xfrm>
            <a:off x="868680" y="5257800"/>
            <a:ext cx="329184" cy="329184"/>
          </a:xfrm>
          <a:prstGeom prst="ellipse">
            <a:avLst/>
          </a:prstGeom>
          <a:solidFill>
            <a:srgbClr val="0755E9"/>
          </a:solidFill>
          <a:ln/>
        </p:spPr>
      </p:sp>
      <p:sp>
        <p:nvSpPr>
          <p:cNvPr id="24" name="Text 21"/>
          <p:cNvSpPr/>
          <p:nvPr/>
        </p:nvSpPr>
        <p:spPr>
          <a:xfrm>
            <a:off x="868680" y="525780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2"/>
          <p:cNvSpPr/>
          <p:nvPr/>
        </p:nvSpPr>
        <p:spPr>
          <a:xfrm>
            <a:off x="1371600" y="4983480"/>
            <a:ext cx="3566160" cy="868680"/>
          </a:xfrm>
          <a:prstGeom prst="rect">
            <a:avLst/>
          </a:prstGeom>
          <a:noFill/>
          <a:ln/>
        </p:spPr>
        <p:txBody>
          <a:bodyPr wrap="square" lIns="0" tIns="0" rIns="0" bIns="0" rtlCol="0" anchor="ctr"/>
          <a:lstStyle/>
          <a:p>
            <a:pPr indent="0" marL="0">
              <a:buNone/>
            </a:pPr>
            <a:r>
              <a:rPr lang="en-US" sz="1500" b="1" dirty="0">
                <a:solidFill>
                  <a:srgbClr val="0A1229"/>
                </a:solidFill>
                <a:latin typeface="Calibri" pitchFamily="34" charset="0"/>
                <a:ea typeface="Calibri" pitchFamily="34" charset="-122"/>
                <a:cs typeface="Calibri" pitchFamily="34" charset="-120"/>
              </a:rPr>
              <a:t>Contact</a:t>
            </a:r>
            <a:endParaRPr lang="en-US" sz="1500" dirty="0"/>
          </a:p>
        </p:txBody>
      </p:sp>
      <p:sp>
        <p:nvSpPr>
          <p:cNvPr id="26" name="Text 23"/>
          <p:cNvSpPr/>
          <p:nvPr/>
        </p:nvSpPr>
        <p:spPr>
          <a:xfrm>
            <a:off x="5074920" y="4983480"/>
            <a:ext cx="6126480" cy="868680"/>
          </a:xfrm>
          <a:prstGeom prst="rect">
            <a:avLst/>
          </a:prstGeom>
          <a:noFill/>
          <a:ln/>
        </p:spPr>
        <p:txBody>
          <a:bodyPr wrap="square" lIns="0" tIns="0" rIns="0" bIns="0" rtlCol="0" anchor="ctr"/>
          <a:lstStyle/>
          <a:p>
            <a:pPr indent="0" marL="0">
              <a:buNone/>
            </a:pPr>
            <a:r>
              <a:rPr lang="en-US" sz="1300" dirty="0">
                <a:solidFill>
                  <a:srgbClr val="0A1229"/>
                </a:solidFill>
                <a:latin typeface="Calibri" pitchFamily="34" charset="0"/>
                <a:ea typeface="Calibri" pitchFamily="34" charset="-122"/>
                <a:cs typeface="Calibri" pitchFamily="34" charset="-120"/>
              </a:rPr>
              <a:t>adeel.arshad@tkxel.com - ask me anything, including on Sunday.</a:t>
            </a:r>
            <a:endParaRPr lang="en-US" sz="1300" dirty="0"/>
          </a:p>
        </p:txBody>
      </p:sp>
      <p:sp>
        <p:nvSpPr>
          <p:cNvPr id="27" name="Text 24"/>
          <p:cNvSpPr/>
          <p:nvPr/>
        </p:nvSpPr>
        <p:spPr>
          <a:xfrm>
            <a:off x="594360" y="6217920"/>
            <a:ext cx="10881360" cy="320040"/>
          </a:xfrm>
          <a:prstGeom prst="rect">
            <a:avLst/>
          </a:prstGeom>
          <a:noFill/>
          <a:ln/>
        </p:spPr>
        <p:txBody>
          <a:bodyPr wrap="square" lIns="0" tIns="0" rIns="0" bIns="0" rtlCol="0" anchor="ctr"/>
          <a:lstStyle/>
          <a:p>
            <a:pPr indent="0" marL="0">
              <a:buNone/>
            </a:pPr>
            <a:r>
              <a:rPr lang="en-US" sz="1200" dirty="0">
                <a:solidFill>
                  <a:srgbClr val="5A6890"/>
                </a:solidFill>
                <a:latin typeface="Calibri" pitchFamily="34" charset="0"/>
                <a:ea typeface="Calibri" pitchFamily="34" charset="-122"/>
                <a:cs typeface="Calibri" pitchFamily="34" charset="-120"/>
              </a:rPr>
              <a:t>tkxel  |  DevOps Intern Rotation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DevOps @ tkxel - Intern Rotation 2026</dc:title>
  <dc:subject>PptxGenJS Presentation</dc:subject>
  <dc:creator>Adeel Arshad</dc:creator>
  <cp:lastModifiedBy>Adeel Arshad</cp:lastModifiedBy>
  <cp:revision>1</cp:revision>
  <dcterms:created xsi:type="dcterms:W3CDTF">2026-08-03T14:26:14Z</dcterms:created>
  <dcterms:modified xsi:type="dcterms:W3CDTF">2026-08-03T14:26:14Z</dcterms:modified>
</cp:coreProperties>
</file>