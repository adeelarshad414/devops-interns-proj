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is the foundation + the hands-on track. The goal: by the end, interns can run the stack, break it, diagnose from real signals, fix at the right layer, and gate the fix so it cannot regress.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everything to the iftar spike. It makes “capacity”, “SLO”, and “back-pressure” concrete. Ask the room: what happens to your favourite food app 40 minutes before iftar?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the loop verbally every day. “What’s the symptom? Which signal? Which layer? What gate did you leave?” The gate question is the senior-vs-mid tell.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request path live if you can. Emphasise: NetworkPolicy / security groups / internal networks actually REFUSE cross-tier calls — the diagram is enforced,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rotation. Print the acceptance checklist; interns tick a phase only when the evidence is in their submission/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gets green on make smoke before anything else. The exit-78 exercise teaches “fail loud, fail closed” on minute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map. Every following slide is one of these boxes: the concept, the commands, and what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docker history to make layers real. The broken-target build is the exit-78 teaching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condition: service_healthy over bare depends_on — start order ≠ ready. Interns learn this the hard way when web 502s on boot.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rollback demo is the CrowdStrike lesson: set a bad image, watch the rollout stall, then undo. The platform refused to complete a broken deploy — no outage.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“Concepts identical, only the nouns change” across the three clouds. Destroy at the end of every day — managed Postgres is the line item people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break services/orders/test on a branch, open a PR, watch build + integration refuse. Then fix, watch green, merge. That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Triage, don’t just make it green. The IDOR vuln is the one no scanner finds — that’s why code review still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Day-4 latency chaos and walk the pivot live: p95 over SLO → trace shows dispatch N+1 → profile shows kitchen’s hot loop. No single pillar sees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know the revert before you break anything. Faults mutate throwaway daig-chaos-* containers, not the primary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days if you must, but DevSecOps needs its own day. Day 6 demo: each intern presents one incident they diagnosed and the gate they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“how did you know?” over lucky guesses. A fix without a gate is incomplete. Full rubric + checkpoint questions in ASSIGNMENT.md / SOLUTION.md.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off. First task after this deck: everyone gets make smoke green and runs the exit-78 exercise. Questions welcome all week — but try to break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12315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LEARNING PLATFORM · MIT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Intern Bootcamp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it. Diagnose it. Ship it safely.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foundation &amp; track for  Cloud · DevOps · SRE · DevSecOps · Platform Engineering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1B2B4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4672584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133856" y="45262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app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39696" y="4526280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1B2B4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4672584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45262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56432" y="4526280"/>
            <a:ext cx="1958645" cy="402336"/>
          </a:xfrm>
          <a:prstGeom prst="roundRect">
            <a:avLst>
              <a:gd name="adj" fmla="val 50000"/>
            </a:avLst>
          </a:prstGeom>
          <a:solidFill>
            <a:srgbClr val="1B2B4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467258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3767328" y="4526280"/>
            <a:ext cx="15928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×3 clouds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9669" y="4526280"/>
            <a:ext cx="2048256" cy="402336"/>
          </a:xfrm>
          <a:prstGeom prst="roundRect">
            <a:avLst>
              <a:gd name="adj" fmla="val 50000"/>
            </a:avLst>
          </a:prstGeom>
          <a:solidFill>
            <a:srgbClr val="1B2B4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25973" y="467258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890565" y="45262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SLOs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92517" y="4526280"/>
            <a:ext cx="1779422" cy="402336"/>
          </a:xfrm>
          <a:prstGeom prst="roundRect">
            <a:avLst>
              <a:gd name="adj" fmla="val 50000"/>
            </a:avLst>
          </a:prstGeom>
          <a:solidFill>
            <a:srgbClr val="1B2B48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8821" y="4672584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8103413" y="4526280"/>
            <a:ext cx="14136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DevSecOps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44068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0C18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559612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5440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kickoff  ·  6-day rotation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learn by breaking things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“learn DevOps” by watching. Then the first 2 a.m. incident hits — and none of it transfers.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teach you to copy commands — not to diagnose a failure.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never allowed to break production.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read real signals: logs, metrics, traces, profiles.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knowledge doesn’t survive contact with a real incident.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DAIG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instrumented platform that is broken on purpose.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fault has a symptom, a signal, and a one-command revert.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practice the loop until it’s muscle memory.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DRIVING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iftar spike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minutes before sunset in Ramadan, an entire country orders dinner in the same second.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3657600"/>
            <a:ext cx="4663440" cy="1280160"/>
          </a:xfrm>
          <a:prstGeom prst="roundRect">
            <a:avLst>
              <a:gd name="adj" fmla="val 4286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990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325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659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994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3328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663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1997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332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666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001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335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86700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80045" y="4745736"/>
            <a:ext cx="93345" cy="-1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73390" y="4745735"/>
            <a:ext cx="93345" cy="-5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6735" y="4745730"/>
            <a:ext cx="93345" cy="-2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0080" y="4745709"/>
            <a:ext cx="93345" cy="-8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3425" y="4745622"/>
            <a:ext cx="93345" cy="-309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46770" y="4745313"/>
            <a:ext cx="93345" cy="-991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40115" y="4744322"/>
            <a:ext cx="93345" cy="-283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33460" y="4741489"/>
            <a:ext cx="93345" cy="-7209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6805" y="4734280"/>
            <a:ext cx="93345" cy="-16307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0150" y="4717973"/>
            <a:ext cx="93345" cy="-3268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3495" y="4685290"/>
            <a:ext cx="93345" cy="-5778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06840" y="4627508"/>
            <a:ext cx="93345" cy="-89517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00185" y="4537991"/>
            <a:ext cx="93345" cy="-120199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93530" y="4417792"/>
            <a:ext cx="93345" cy="-13713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6875" y="4280656"/>
            <a:ext cx="93345" cy="-12745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80220" y="4153202"/>
            <a:ext cx="93345" cy="-85664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73565" y="4067538"/>
            <a:ext cx="93345" cy="-19163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66910" y="4048376"/>
            <a:ext cx="93345" cy="53167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60255" y="4101543"/>
            <a:ext cx="93345" cy="109589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53600" y="4211132"/>
            <a:ext cx="93345" cy="13603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46945" y="4347164"/>
            <a:ext cx="93345" cy="13161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40290" y="4478780"/>
            <a:ext cx="93345" cy="106325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33635" y="4585105"/>
            <a:ext cx="93345" cy="738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26980" y="4658905"/>
            <a:ext cx="93345" cy="44663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20325" y="4703568"/>
            <a:ext cx="93345" cy="23771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13670" y="4727339"/>
            <a:ext cx="93345" cy="1118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07015" y="4738525"/>
            <a:ext cx="93345" cy="467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00360" y="4743197"/>
            <a:ext cx="93345" cy="1736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93705" y="4744933"/>
            <a:ext cx="93345" cy="575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87050" y="4745508"/>
            <a:ext cx="93345" cy="17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80395" y="4745678"/>
            <a:ext cx="93345" cy="45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873740" y="4745723"/>
            <a:ext cx="93345" cy="11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67085" y="4745733"/>
            <a:ext cx="93345" cy="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60430" y="4745735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53775" y="4745736"/>
            <a:ext cx="93345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problem drives every lesson: scaling, latency, back-pressure, SLOs, incident diagnosis.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— repeated at every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this same five-step loop each phase, one layer deeper: Linux → containers → k8s → pipelines → security.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578608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2569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069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 · make obs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23744" y="31546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2578608"/>
            <a:ext cx="640080" cy="64008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2569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34640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52928" y="4069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fault, hidden cause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18304" y="31546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14416" y="2578608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5614416" y="2569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4069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logs·metrics·traces·profiles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12864" y="31546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32320" y="228600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08976" y="2578608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808976" y="2569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223760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at the right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42048" y="4069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where it’s easiest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07424" y="31546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326880" y="228600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03536" y="2578608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10003536" y="2569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418320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36608" y="40690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rule · policy · alert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138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is the one everyone skips — and the one that matters.  </a:t>
            </a:r>
            <a:pPr indent="0" marL="0">
              <a:buNone/>
            </a:pPr>
            <a:r>
              <a:rPr lang="en-US" sz="14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without a gate regresses within two sprints. Every bug you close leaves behind a test, a rule, a policy, or an alert.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daig — the system you operate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food-delivery platform: instrumented end-to-end, with every boundary enforced, not documented.</a:t>
            </a:r>
            <a:endParaRPr lang="en-US" sz="1500" dirty="0"/>
          </a:p>
        </p:txBody>
      </p:sp>
      <p:pic>
        <p:nvPicPr>
          <p:cNvPr id="4" name="Image 0" descr="/private/tmp/claude-414836676/-Users-adeel-arshad-Documents-Work-Projects/25895303-fa5f-4989-912a-04fdb3b585aa/scratchpad/liart/png/02-solution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5691" y="1600200"/>
            <a:ext cx="6610137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browser request → web → orders → kitchen → dispatch → Postgres/Redis, watched by four observability pillars, with secrets from a vault.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 — a 7-phase capstone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the loop at a new layer. You leave evidence + a gate at every step.</a:t>
            </a:r>
            <a:endParaRPr lang="en-US" sz="1500" dirty="0"/>
          </a:p>
        </p:txBody>
      </p:sp>
      <p:pic>
        <p:nvPicPr>
          <p:cNvPr id="4" name="Image 0" descr="/private/tmp/claude-414836676/-Users-adeel-arshad-Documents-Work-Projects/25895303-fa5f-4989-912a-04fdb3b585aa/scratchpad/liart/png/03-learning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746" y="1645920"/>
            <a:ext cx="8814029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them in order — each builds on the last. Full brief in ASSIGNMENT.md; worked answers (instructor-held) in SOLUTION.md.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— get your hands dirty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to a running, verified stack. No cloud account needed.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name="adj" fmla="val 187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(or Docker Engine) + `make`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(via nvm — the repo pins it in .nvmrc)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and a terminal you’re comfortable in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rights on your laptop (containers need it)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937760" cy="1517904"/>
          </a:xfrm>
          <a:prstGeom prst="roundRect">
            <a:avLst>
              <a:gd name="adj" fmla="val 3614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453128"/>
            <a:ext cx="46085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devops-interns-proj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hooks   # install the pre-commit gate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 &amp;&amp; make seed &amp;&amp; make smoke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03520" cy="4389120"/>
          </a:xfrm>
          <a:prstGeom prst="roundRect">
            <a:avLst>
              <a:gd name="adj" fmla="val 187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4754880" cy="1554480"/>
          </a:xfrm>
          <a:prstGeom prst="roundRect">
            <a:avLst>
              <a:gd name="adj" fmla="val 3529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350008"/>
            <a:ext cx="44256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2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tier answers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smoke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2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place a real order end-to-end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./scripts/integration-order.sh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EXIT-78 EXERCISE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4343400"/>
            <a:ext cx="4754880" cy="1371600"/>
          </a:xfrm>
          <a:prstGeom prst="roundRect">
            <a:avLst>
              <a:gd name="adj" fmla="val 4000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4453128"/>
            <a:ext cx="44256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broken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tkxel/daig-orders:broken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2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reads: “Missing DATABASE_URL”, exits 78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5715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failure the way the platform intends — a named missing variable, not a stack trace.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areas, one system. Each has concepts, a cheatsheet, and something to break — all in TRAINING.md.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11096"/>
            <a:ext cx="310896" cy="3108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&amp; the runtime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2219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· exit codes · systemd · sockets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1416" y="191109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Docker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10328" y="22219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multi-stage · non-root · healthchecks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91109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31936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&amp; the 3 tiers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31936" y="22219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health-gated startup · overlays · volumes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52928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07238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scale · self-heal · roll back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0248" y="2852928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1416" y="3072384"/>
            <a:ext cx="310896" cy="3108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0328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— Terraform &amp; Ansible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910328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providers · idempotency · 3 clouds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91856" y="2852928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3072384"/>
            <a:ext cx="310896" cy="3108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8193024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31936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31936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→ gate → ship, or refuse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014216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4233672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&amp; Secrets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188720" y="4544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gates · SBOM · signing · Vault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70248" y="4014216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71416" y="4233672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4471416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10328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SRE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4910328" y="4544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RED/USE · SLOs · burn-rate · the pivot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991856" y="4014216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93024" y="4233672"/>
            <a:ext cx="310896" cy="3108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6" name="Text 44"/>
          <p:cNvSpPr/>
          <p:nvPr/>
        </p:nvSpPr>
        <p:spPr>
          <a:xfrm>
            <a:off x="8193024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31936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631936" y="4544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 · blast radius · revert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Docker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an immutable, layered filesystem. The craft: small, reproducible, non-root, observable.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→ a lean runtime image = smaller attack surface.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build from a lockfile (npm ci), never npm install.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a non-root USER, dropped caps, a HEALTHCHECK.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In-repo: services/*/Dockerfile — plus a “broken” target that exits 78.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DIRTY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03704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313432"/>
            <a:ext cx="4425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-f services/orders/Dockerfile -t x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-p 3001:3001 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&lt;ctr&gt;   ·   docker history 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593592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0C18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59359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it:  </a:t>
            </a:r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HEALTHCHECK + non-root USER; Trivy scans the image in CI.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449824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move: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digest, not :latest — and never build with npm install.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&amp; the three tiers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multi-container topology for one host — dev, CI, and small deployments.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Health-gated startup: depends_on + condition: service_healthy.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Overlays: one base file + feature files (obs, security, vault).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 for state; resource limits so nothing starves the host.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In-repo: docker-compose.yml + 4 overlays, wired to the Makefile.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DIRTY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03704"/>
            <a:ext cx="4754880" cy="1499616"/>
          </a:xfrm>
          <a:prstGeom prst="roundRect">
            <a:avLst>
              <a:gd name="adj" fmla="val 3659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313432"/>
            <a:ext cx="4425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          # the 3 tiers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obs         # + Prometheus/Grafana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ps · make logs · make psql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down / nuke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904488"/>
            <a:ext cx="4754880" cy="740664"/>
          </a:xfrm>
          <a:prstGeom prst="roundRect">
            <a:avLst>
              <a:gd name="adj" fmla="val 7407"/>
            </a:avLst>
          </a:prstGeom>
          <a:solidFill>
            <a:srgbClr val="0C18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904488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it:  </a:t>
            </a:r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without running: `docker compose config -q` in CI.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449824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move: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healthy, not started — and put a resource limit on every service.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deploy · scale · self-heal · roll back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control loop. Its most valuable behaviour: refusing a bad deploy.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Probes: liveness (restart) never touches the DB; readiness does.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owns replicas — never set both, or the autoscaler thrashes.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rollout STALLS: new pods never go Ready, old ones keep serving.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In-repo: k8s/base — NetworkPolicy, PDBs, PSA, StatefulSet data tier.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DIRTY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03704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313432"/>
            <a:ext cx="4425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-k k8s/base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daig get pods -w · get hpa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-n daig rollout undo deploy/orders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593592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0C18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59359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it:  </a:t>
            </a:r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NetworkPolicy + a PodDisruptionBudget per workload.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449824"/>
            <a:ext cx="292608" cy="2926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move: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platform refuse a bad deploy — never override the stall.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— Terraform &amp; Ansible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infrastructure as reviewable, repeatable, destroyable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declarative; diff desired vs state; pin providers.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before every apply — plan is the review, apply is the merge.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Ansible: idempotent — run twice, the second run is all “ok”.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In-repo: infra/{aws,gcp,azure} — deliberately parallel; ansible/ roles.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DIRTY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03704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313432"/>
            <a:ext cx="44256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-chdir=infra/aws init -backend=false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-chdir=infra/aws validate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-i .../hosts.yml site.yml  # run 2×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593592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0C18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59359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it:  </a:t>
            </a:r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+ locking before two people touch the same infra.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449824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move: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before the apply; destroy the stack at end of day.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the pipeline that refuses to ship broken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most valuable behaviour is saying no. Actions SHA-pinned; OIDC, no long-lived keys.</a:t>
            </a:r>
            <a:endParaRPr lang="en-US" sz="1500" dirty="0"/>
          </a:p>
        </p:txBody>
      </p:sp>
      <p:pic>
        <p:nvPicPr>
          <p:cNvPr id="4" name="Image 0" descr="/private/tmp/claude-414836676/-Users-adeel-arshad-Documents-Work-Projects/25895303-fa5f-4989-912a-04fdb3b585aa/scratchpad/liart/png/04-cicd-devsecops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561" y="1600200"/>
            <a:ext cx="7368399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(prove) → progressive CD (canary → rollout → 1-step rollback) → 7 DevSecOps gates. Break a test → the build refuses to ship.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&amp; Secrets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gates in the pipeline, cheapest-and-fastest first — plus secrets that fail closed.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gates: secrets → SAST → SCA → IaC → image → SBOM+sign → DAST.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on high+ severity, not every low finding — or the gate gets ignored.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Vault/OpenBao: AppRole, least-privilege policies, dynamic short-TTL creds.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secrets.js exits 78 rather than silently falling back to env vars.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DIRTY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03704"/>
            <a:ext cx="4754880" cy="1499616"/>
          </a:xfrm>
          <a:prstGeom prst="roundRect">
            <a:avLst>
              <a:gd name="adj" fmla="val 3659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313432"/>
            <a:ext cx="4425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scan        # full toolchain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insecure-on # enable planted vulns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./chaos/day6-security.sh verify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vault-up &amp;&amp; make vault-app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904488"/>
            <a:ext cx="4754880" cy="740664"/>
          </a:xfrm>
          <a:prstGeom prst="roundRect">
            <a:avLst>
              <a:gd name="adj" fmla="val 7407"/>
            </a:avLst>
          </a:prstGeom>
          <a:solidFill>
            <a:srgbClr val="0C18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904488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it:  </a:t>
            </a:r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images (cosign) + keep the SBOM; write the deny policy down.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449824"/>
            <a:ext cx="292608" cy="29260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move: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finding, then leave the rule that catches it next time.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SRE — four pillars, one request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answers a different question. The skill is the pivot between them.</a:t>
            </a:r>
            <a:endParaRPr lang="en-US" sz="1500" dirty="0"/>
          </a:p>
        </p:txBody>
      </p:sp>
      <p:pic>
        <p:nvPicPr>
          <p:cNvPr id="4" name="Image 0" descr="/private/tmp/claude-414836676/-Users-adeel-arshad-Documents-Work-Projects/25895303-fa5f-4989-912a-04fdb3b585aa/scratchpad/liart/png/05-observability-piv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57" y="1645920"/>
            <a:ext cx="9286606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(is it wrong?) → Trace (where?) → Log (what?) → Profile (which line?).  Alert on symptoms, page on multi-window burn rate.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 — break it safely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one fault, with a bounded blast radius and a one-command revert. Find weakness before it finds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steady-state hypothesis: p95 &lt; 1s, errors &lt; 0.1%.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ONE fault; observe whether steady state holds.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lights up, your observability has a gap — that’s a finding too.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In-repo: chaos/day1…day6 — each a clear symptom + a fix/revert.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HANDS DIRTY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2203704"/>
            <a:ext cx="4754880" cy="1499616"/>
          </a:xfrm>
          <a:prstGeom prst="roundRect">
            <a:avLst>
              <a:gd name="adj" fmla="val 3659"/>
            </a:avLst>
          </a:prstGeom>
          <a:solidFill>
            <a:srgbClr val="0C1830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2313432"/>
            <a:ext cx="4425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./chaos/day1-network.sh break   ·   … fix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./chaos/day3-crashloop.sh break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./chaos/day4-latency.sh break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./chaos/day6-security.sh break · verify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3904488"/>
            <a:ext cx="4754880" cy="740664"/>
          </a:xfrm>
          <a:prstGeom prst="roundRect">
            <a:avLst>
              <a:gd name="adj" fmla="val 7407"/>
            </a:avLst>
          </a:prstGeom>
          <a:solidFill>
            <a:srgbClr val="0C183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904488"/>
            <a:ext cx="4480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it:  </a:t>
            </a:r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the alert/policy that catches this fault next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449824"/>
            <a:ext cx="292608" cy="29260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move: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revert before you break — if nothing alerts, that is the bug.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6-day rotation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cadence. Each day = one pass around the loop at a new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68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568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Git · Containers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stack · read exit-78 · first 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737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1416" y="19568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19568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9704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· the cloud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9704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 · idempotency · one cloud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737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9568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9568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1312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→ Kubernetes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1312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· deploy · scale · self-heal · rollback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270248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270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828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Observability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5422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refuses · trace the latency spike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0248" y="405079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1416" y="4270248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4270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9704" y="4828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· Secrets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9704" y="5422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gates · fix a vuln · Vault dynamic creds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91856" y="405079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4270248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1" name="Text 29"/>
          <p:cNvSpPr/>
          <p:nvPr/>
        </p:nvSpPr>
        <p:spPr>
          <a:xfrm>
            <a:off x="8193024" y="42702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11312" y="4828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· Demo day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11312" y="5422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· diagnose · gate · present the fix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you’re assessed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over assertion. Capture proof for every task in a submission/ folder.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47672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8928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350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actually resolves the symptom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1416" y="1947672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4855464" y="18928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9704" y="2350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from signals, not guesswork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91856" y="169164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1947672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577072" y="18928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1312" y="2350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where it belongs, not where it’s easy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502152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3447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 test / rule / policy / alert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70248" y="32461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71416" y="3502152"/>
            <a:ext cx="274320" cy="2743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3447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9704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is in submission/ and legible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91856" y="32461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3024" y="3502152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8577072" y="3447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11312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WHY — answers the checkpoint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2B48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321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“make it green” without understanding it. daig is broken on purpose — the point is the diagnosis and the gate, not a clean terminal.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 · DevOps Intern Bootcamp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6455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8229600" cy="8229600"/>
          </a:xfrm>
          <a:prstGeom prst="ellipse">
            <a:avLst/>
          </a:prstGeom>
          <a:solidFill>
            <a:srgbClr val="12315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MAP FOR THE WEEK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it. Diagnose it.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safely.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7498080" cy="621792"/>
          </a:xfrm>
          <a:prstGeom prst="roundRect">
            <a:avLst>
              <a:gd name="adj" fmla="val 147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3054096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8803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88036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handbook — concepts, cheatsheets, guidelines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7498080" cy="621792"/>
          </a:xfrm>
          <a:prstGeom prst="roundRect">
            <a:avLst>
              <a:gd name="adj" fmla="val 147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803904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6301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ASSIGNMENT.md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63016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7-phase capstone + acceptance checklist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79976"/>
            <a:ext cx="7498080" cy="621792"/>
          </a:xfrm>
          <a:prstGeom prst="roundRect">
            <a:avLst>
              <a:gd name="adj" fmla="val 147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4553712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43799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37997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answers (instructor-held)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29784"/>
            <a:ext cx="7498080" cy="621792"/>
          </a:xfrm>
          <a:prstGeom prst="roundRect">
            <a:avLst>
              <a:gd name="adj" fmla="val 14706"/>
            </a:avLst>
          </a:prstGeom>
          <a:solidFill>
            <a:srgbClr val="16233C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5303520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51297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roadmap.sh/devops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512978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what-to-learn map — daig is the do-it companion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0" y="2880360"/>
            <a:ext cx="2926080" cy="3063240"/>
          </a:xfrm>
          <a:prstGeom prst="roundRect">
            <a:avLst>
              <a:gd name="adj" fmla="val 3125"/>
            </a:avLst>
          </a:prstGeom>
          <a:solidFill>
            <a:srgbClr val="1B2B48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31546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mess.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69680" y="4206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it. Run it.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it. Fix it.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0" y="53492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C18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runs on a laptop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github.com/adeelarshad414/devops-interns-proj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daig — DevOps Intern Bootcamp</dc:title>
  <dc:subject>PptxGenJS Presentation</dc:subject>
  <dc:creator>Adeel Arshad</dc:creator>
  <cp:lastModifiedBy>Adeel Arshad</cp:lastModifiedBy>
  <cp:revision>1</cp:revision>
  <dcterms:created xsi:type="dcterms:W3CDTF">2026-08-17T12:09:54Z</dcterms:created>
  <dcterms:modified xsi:type="dcterms:W3CDTF">2026-08-17T12:09:54Z</dcterms:modified>
</cp:coreProperties>
</file>